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7" r:id="rId3"/>
    <p:sldId id="283" r:id="rId4"/>
    <p:sldId id="262" r:id="rId5"/>
    <p:sldId id="265" r:id="rId6"/>
    <p:sldId id="268" r:id="rId7"/>
    <p:sldId id="266" r:id="rId8"/>
    <p:sldId id="281" r:id="rId9"/>
    <p:sldId id="282"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0B94C-AFB2-4AAD-B190-7903733E7993}"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03F9C9-4E6B-4E62-94EF-6C606D63962D}" type="slidenum">
              <a:rPr lang="en-IN" smtClean="0"/>
              <a:t>‹#›</a:t>
            </a:fld>
            <a:endParaRPr lang="en-IN"/>
          </a:p>
        </p:txBody>
      </p:sp>
    </p:spTree>
    <p:extLst>
      <p:ext uri="{BB962C8B-B14F-4D97-AF65-F5344CB8AC3E}">
        <p14:creationId xmlns:p14="http://schemas.microsoft.com/office/powerpoint/2010/main" val="2008284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D888CEC-A057-42AC-ADFE-024B0B50FC1A}" type="slidenum">
              <a:rPr lang="en-IN" smtClean="0"/>
              <a:t>19</a:t>
            </a:fld>
            <a:endParaRPr lang="en-IN" dirty="0"/>
          </a:p>
        </p:txBody>
      </p:sp>
    </p:spTree>
    <p:extLst>
      <p:ext uri="{BB962C8B-B14F-4D97-AF65-F5344CB8AC3E}">
        <p14:creationId xmlns:p14="http://schemas.microsoft.com/office/powerpoint/2010/main" val="3914178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AD8D-6FA5-812A-6D8A-57277F7D73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187FCA-EA98-01BC-B813-363AFEED70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137C42-90E2-7664-9F24-CE8BBB36BC5F}"/>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5" name="Footer Placeholder 4">
            <a:extLst>
              <a:ext uri="{FF2B5EF4-FFF2-40B4-BE49-F238E27FC236}">
                <a16:creationId xmlns:a16="http://schemas.microsoft.com/office/drawing/2014/main" id="{DF5C3CD8-DBD2-A570-5000-72054871AF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BCC99D-5666-C670-66CD-BC62001868AF}"/>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3659326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08F84-CF2B-A78E-F70C-9A7D17F14D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44FB9B-65C2-7077-3890-B3FF28B9BE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5AB12E-1221-A463-5416-11F6D9B47280}"/>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5" name="Footer Placeholder 4">
            <a:extLst>
              <a:ext uri="{FF2B5EF4-FFF2-40B4-BE49-F238E27FC236}">
                <a16:creationId xmlns:a16="http://schemas.microsoft.com/office/drawing/2014/main" id="{D149D7FE-E19D-4AD4-931F-1B957C7C17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BFD25E-978E-54B8-6B22-F284AFE5F72E}"/>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354359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4714F-7B03-9FD6-3FD9-AB664CE2EA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57C21C-0283-90CB-543C-087F739E11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0972F4-E522-0F74-8F5C-C18423C6BCE1}"/>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5" name="Footer Placeholder 4">
            <a:extLst>
              <a:ext uri="{FF2B5EF4-FFF2-40B4-BE49-F238E27FC236}">
                <a16:creationId xmlns:a16="http://schemas.microsoft.com/office/drawing/2014/main" id="{EE7629A1-4C14-1C4A-E0FB-96E5EAA219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44EFE3-14AF-4833-9011-F3FB3D376B1D}"/>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255026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1ACBA-B300-58D8-33EC-6090AD530B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B2B74D-5853-C123-161F-362014455E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85A049-27D7-8512-221D-4AA47F6A46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2F4859-53D4-785A-C30C-AD45C5E8A10E}"/>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6" name="Footer Placeholder 5">
            <a:extLst>
              <a:ext uri="{FF2B5EF4-FFF2-40B4-BE49-F238E27FC236}">
                <a16:creationId xmlns:a16="http://schemas.microsoft.com/office/drawing/2014/main" id="{586F3C2A-7355-4299-C113-0ABAAAC478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6BA625-5B4C-2FEA-5670-EFD4566D7BC6}"/>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1187146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33397-CBA3-5EA4-4B4A-B951BF558F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02EA0D-5659-7A7D-41B2-A57FA3A85A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EC4A3-62AA-7182-E483-E7CF97A020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EE1CEA-B3A8-F8A3-3A54-EFF3F0E25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D97481-B09C-BEA1-CBFD-25CB4D19C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14AB38-1975-AA6E-5B81-DFF5F867C205}"/>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8" name="Footer Placeholder 7">
            <a:extLst>
              <a:ext uri="{FF2B5EF4-FFF2-40B4-BE49-F238E27FC236}">
                <a16:creationId xmlns:a16="http://schemas.microsoft.com/office/drawing/2014/main" id="{3B3FBDEA-27B5-F93C-E965-C37E544E56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636B399-B38D-E317-490A-0EA874AF5D15}"/>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93424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F5852-7D6F-5818-FC2D-9B715735DD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AF5341-1893-BFDD-1564-B5FB49A3EF99}"/>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4" name="Footer Placeholder 3">
            <a:extLst>
              <a:ext uri="{FF2B5EF4-FFF2-40B4-BE49-F238E27FC236}">
                <a16:creationId xmlns:a16="http://schemas.microsoft.com/office/drawing/2014/main" id="{B18258C5-A54B-47A5-DA24-3449FC4CC9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0D0473-BB27-1C2F-F873-8382FB3BD70B}"/>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1183314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6DC872-0C4C-1871-68BA-FB4731F844CF}"/>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3" name="Footer Placeholder 2">
            <a:extLst>
              <a:ext uri="{FF2B5EF4-FFF2-40B4-BE49-F238E27FC236}">
                <a16:creationId xmlns:a16="http://schemas.microsoft.com/office/drawing/2014/main" id="{5B405C5E-3E9C-9FC6-393E-25CEF5FDCD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5BB772-3136-A56A-FE8F-7F0DF3E500FE}"/>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1932178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FD4B-34D3-F650-AD1C-31A01CF23E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07F1A5-DE4C-9308-A2CC-ECF62F237D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721610-6515-5BAB-EBB3-84D418424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14BE08-D9A6-C503-C953-2BFD17807D2F}"/>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6" name="Footer Placeholder 5">
            <a:extLst>
              <a:ext uri="{FF2B5EF4-FFF2-40B4-BE49-F238E27FC236}">
                <a16:creationId xmlns:a16="http://schemas.microsoft.com/office/drawing/2014/main" id="{02B7565C-1EA1-B2BA-AE07-CC73DC5F8A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DA3DF8-E1DD-D5AA-C61F-D3020C086507}"/>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3560407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7241-E31D-F496-1BD0-3CBC6DEAF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88550A-98FD-2655-06C0-33DF7568CC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21643C-B65B-61AD-11D3-F038FEB681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6C319A-34CC-7361-8864-C5FD7B8D8FF5}"/>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6" name="Footer Placeholder 5">
            <a:extLst>
              <a:ext uri="{FF2B5EF4-FFF2-40B4-BE49-F238E27FC236}">
                <a16:creationId xmlns:a16="http://schemas.microsoft.com/office/drawing/2014/main" id="{85F9E0AD-0CFE-A195-611F-EEC6038C9C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F69CB2-DC44-2FAC-698C-59D6DE9D53C5}"/>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205810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47EC9-3529-459F-3952-8C3555EF16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0A7801-D252-CF76-C1BE-64684965D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F9D4D9-7FA1-A50E-8C33-251D92C87549}"/>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5" name="Footer Placeholder 4">
            <a:extLst>
              <a:ext uri="{FF2B5EF4-FFF2-40B4-BE49-F238E27FC236}">
                <a16:creationId xmlns:a16="http://schemas.microsoft.com/office/drawing/2014/main" id="{B30D4992-E05A-F305-0F90-AB9488E991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585D6D-141C-435B-FB33-5E1CF68432D2}"/>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1996189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B829E4-21F6-4A55-4D8E-7F32AC019D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32D751-826B-9FBD-BE29-75F543E67D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B47F3A-E578-756E-2F50-8D6C19C2ABD5}"/>
              </a:ext>
            </a:extLst>
          </p:cNvPr>
          <p:cNvSpPr>
            <a:spLocks noGrp="1"/>
          </p:cNvSpPr>
          <p:nvPr>
            <p:ph type="dt" sz="half" idx="10"/>
          </p:nvPr>
        </p:nvSpPr>
        <p:spPr/>
        <p:txBody>
          <a:bodyPr/>
          <a:lstStyle/>
          <a:p>
            <a:fld id="{4A1130D7-289C-485F-9970-C8CA12DE4CE6}" type="datetimeFigureOut">
              <a:rPr lang="en-IN" smtClean="0"/>
              <a:t>18-08-2026</a:t>
            </a:fld>
            <a:endParaRPr lang="en-IN"/>
          </a:p>
        </p:txBody>
      </p:sp>
      <p:sp>
        <p:nvSpPr>
          <p:cNvPr id="5" name="Footer Placeholder 4">
            <a:extLst>
              <a:ext uri="{FF2B5EF4-FFF2-40B4-BE49-F238E27FC236}">
                <a16:creationId xmlns:a16="http://schemas.microsoft.com/office/drawing/2014/main" id="{D7CC6284-0373-183D-7E40-74B1E798D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1E68E8-9FD0-E6F0-3F52-C563E5AB8258}"/>
              </a:ext>
            </a:extLst>
          </p:cNvPr>
          <p:cNvSpPr>
            <a:spLocks noGrp="1"/>
          </p:cNvSpPr>
          <p:nvPr>
            <p:ph type="sldNum" sz="quarter" idx="12"/>
          </p:nvPr>
        </p:nvSpPr>
        <p:spPr/>
        <p:txBody>
          <a:bodyPr/>
          <a:lstStyle/>
          <a:p>
            <a:fld id="{0198B793-55C2-4B27-8165-B9F7159680AA}" type="slidenum">
              <a:rPr lang="en-IN" smtClean="0"/>
              <a:t>‹#›</a:t>
            </a:fld>
            <a:endParaRPr lang="en-IN"/>
          </a:p>
        </p:txBody>
      </p:sp>
    </p:spTree>
    <p:extLst>
      <p:ext uri="{BB962C8B-B14F-4D97-AF65-F5344CB8AC3E}">
        <p14:creationId xmlns:p14="http://schemas.microsoft.com/office/powerpoint/2010/main" val="2118565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7A0568-A7EE-03A5-5748-5D879F997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48587E-8ACC-2201-4F78-B7BB8B97B0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0D8D06-28AC-72CA-3F79-1D6FF6DC13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1130D7-289C-485F-9970-C8CA12DE4CE6}" type="datetimeFigureOut">
              <a:rPr lang="en-IN" smtClean="0"/>
              <a:t>18-08-2026</a:t>
            </a:fld>
            <a:endParaRPr lang="en-IN"/>
          </a:p>
        </p:txBody>
      </p:sp>
      <p:sp>
        <p:nvSpPr>
          <p:cNvPr id="5" name="Footer Placeholder 4">
            <a:extLst>
              <a:ext uri="{FF2B5EF4-FFF2-40B4-BE49-F238E27FC236}">
                <a16:creationId xmlns:a16="http://schemas.microsoft.com/office/drawing/2014/main" id="{6B8DD5B6-2B02-260A-A6C2-A35596103E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035071-687F-D0A6-E698-ED1E2D8AD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98B793-55C2-4B27-8165-B9F7159680AA}" type="slidenum">
              <a:rPr lang="en-IN" smtClean="0"/>
              <a:t>‹#›</a:t>
            </a:fld>
            <a:endParaRPr lang="en-IN"/>
          </a:p>
        </p:txBody>
      </p:sp>
    </p:spTree>
    <p:extLst>
      <p:ext uri="{BB962C8B-B14F-4D97-AF65-F5344CB8AC3E}">
        <p14:creationId xmlns:p14="http://schemas.microsoft.com/office/powerpoint/2010/main" val="349298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ca://s/?q=LLM_in_Jupyter_Notebook" TargetMode="External"/><Relationship Id="rId3" Type="http://schemas.openxmlformats.org/officeDocument/2006/relationships/hyperlink" Target="ca://s/?q=Local_LLM_architecture" TargetMode="External"/><Relationship Id="rId7" Type="http://schemas.openxmlformats.org/officeDocument/2006/relationships/hyperlink" Target="ca://s/?q=Vendor_specific_AI_runtime"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ca://s/?q=TensorRT_LLM" TargetMode="External"/><Relationship Id="rId5" Type="http://schemas.openxmlformats.org/officeDocument/2006/relationships/hyperlink" Target="ca://s/?q=vLLM_inference_engine" TargetMode="External"/><Relationship Id="rId4" Type="http://schemas.openxmlformats.org/officeDocument/2006/relationships/hyperlink" Target="ca://s/?q=LLM_API_architecture" TargetMode="External"/><Relationship Id="rId9" Type="http://schemas.openxmlformats.org/officeDocument/2006/relationships/hyperlink" Target="ca://s/?q=LLM_source_code_integrati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55DB-73A3-36D5-C49D-81B653AB27D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568A6B9-8A3C-142E-A94B-69C21543419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46985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BCDBC88-0563-FAFA-D792-3B199D726C28}"/>
              </a:ext>
            </a:extLst>
          </p:cNvPr>
          <p:cNvPicPr>
            <a:picLocks noChangeAspect="1"/>
          </p:cNvPicPr>
          <p:nvPr/>
        </p:nvPicPr>
        <p:blipFill>
          <a:blip r:embed="rId2"/>
          <a:stretch>
            <a:fillRect/>
          </a:stretch>
        </p:blipFill>
        <p:spPr>
          <a:xfrm>
            <a:off x="8658812" y="736600"/>
            <a:ext cx="3355388" cy="5626100"/>
          </a:xfrm>
          <a:prstGeom prst="rect">
            <a:avLst/>
          </a:prstGeom>
        </p:spPr>
      </p:pic>
      <p:graphicFrame>
        <p:nvGraphicFramePr>
          <p:cNvPr id="4" name="Table 3">
            <a:extLst>
              <a:ext uri="{FF2B5EF4-FFF2-40B4-BE49-F238E27FC236}">
                <a16:creationId xmlns:a16="http://schemas.microsoft.com/office/drawing/2014/main" id="{FE6989C9-4213-9718-A7FC-1BF94C9B0EE6}"/>
              </a:ext>
            </a:extLst>
          </p:cNvPr>
          <p:cNvGraphicFramePr>
            <a:graphicFrameLocks noGrp="1"/>
          </p:cNvGraphicFramePr>
          <p:nvPr/>
        </p:nvGraphicFramePr>
        <p:xfrm>
          <a:off x="0" y="0"/>
          <a:ext cx="8507760" cy="6531136"/>
        </p:xfrm>
        <a:graphic>
          <a:graphicData uri="http://schemas.openxmlformats.org/drawingml/2006/table">
            <a:tbl>
              <a:tblPr/>
              <a:tblGrid>
                <a:gridCol w="1655545">
                  <a:extLst>
                    <a:ext uri="{9D8B030D-6E8A-4147-A177-3AD203B41FA5}">
                      <a16:colId xmlns:a16="http://schemas.microsoft.com/office/drawing/2014/main" val="1185943049"/>
                    </a:ext>
                  </a:extLst>
                </a:gridCol>
                <a:gridCol w="1747559">
                  <a:extLst>
                    <a:ext uri="{9D8B030D-6E8A-4147-A177-3AD203B41FA5}">
                      <a16:colId xmlns:a16="http://schemas.microsoft.com/office/drawing/2014/main" val="1199783065"/>
                    </a:ext>
                  </a:extLst>
                </a:gridCol>
                <a:gridCol w="1701552">
                  <a:extLst>
                    <a:ext uri="{9D8B030D-6E8A-4147-A177-3AD203B41FA5}">
                      <a16:colId xmlns:a16="http://schemas.microsoft.com/office/drawing/2014/main" val="3568686696"/>
                    </a:ext>
                  </a:extLst>
                </a:gridCol>
                <a:gridCol w="1701552">
                  <a:extLst>
                    <a:ext uri="{9D8B030D-6E8A-4147-A177-3AD203B41FA5}">
                      <a16:colId xmlns:a16="http://schemas.microsoft.com/office/drawing/2014/main" val="1599623533"/>
                    </a:ext>
                  </a:extLst>
                </a:gridCol>
                <a:gridCol w="1701552">
                  <a:extLst>
                    <a:ext uri="{9D8B030D-6E8A-4147-A177-3AD203B41FA5}">
                      <a16:colId xmlns:a16="http://schemas.microsoft.com/office/drawing/2014/main" val="2252521152"/>
                    </a:ext>
                  </a:extLst>
                </a:gridCol>
              </a:tblGrid>
              <a:tr h="287819">
                <a:tc>
                  <a:txBody>
                    <a:bodyPr/>
                    <a:lstStyle/>
                    <a:p>
                      <a:pPr>
                        <a:buNone/>
                      </a:pPr>
                      <a:r>
                        <a:rPr lang="en-IN" sz="1600"/>
                        <a:t>Component</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Role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When to Use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User Mode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Notes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2282999"/>
                  </a:ext>
                </a:extLst>
              </a:tr>
              <a:tr h="722442">
                <a:tc>
                  <a:txBody>
                    <a:bodyPr/>
                    <a:lstStyle/>
                    <a:p>
                      <a:pPr>
                        <a:buNone/>
                      </a:pPr>
                      <a:r>
                        <a:rPr lang="en-IN" sz="1600" b="1">
                          <a:hlinkClick r:id="rId3"/>
                        </a:rPr>
                        <a:t>Local LLM</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Runs on CPU/RAM or a single GPU locally</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Offline, privacy‑sensitive, small models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Single user</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Ideal for experimentation or edge AI</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697502"/>
                  </a:ext>
                </a:extLst>
              </a:tr>
              <a:tr h="505130">
                <a:tc>
                  <a:txBody>
                    <a:bodyPr/>
                    <a:lstStyle/>
                    <a:p>
                      <a:pPr>
                        <a:buNone/>
                      </a:pPr>
                      <a:r>
                        <a:rPr lang="en-IN" sz="1600" b="1">
                          <a:hlinkClick r:id="rId4"/>
                        </a:rPr>
                        <a:t>LLM API</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Hosted model via REST/gRPC</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600"/>
                        <a:t>SaaS, enterprise apps, multi‑tenant</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Multi‑user</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Scalable, managed by provider</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8669831"/>
                  </a:ext>
                </a:extLst>
              </a:tr>
              <a:tr h="1157064">
                <a:tc>
                  <a:txBody>
                    <a:bodyPr/>
                    <a:lstStyle/>
                    <a:p>
                      <a:pPr>
                        <a:buNone/>
                      </a:pPr>
                      <a:r>
                        <a:rPr lang="en-IN" sz="1600" b="1">
                          <a:highlight>
                            <a:srgbClr val="FFFF00"/>
                          </a:highlight>
                          <a:hlinkClick r:id="rId5"/>
                        </a:rPr>
                        <a:t>vLLM</a:t>
                      </a:r>
                      <a:endParaRPr lang="en-IN" sz="1600">
                        <a:highlight>
                          <a:srgbClr val="FFFF00"/>
                        </a:highlight>
                      </a:endParaRP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highlight>
                            <a:srgbClr val="FFFF00"/>
                          </a:highlight>
                        </a:rPr>
                        <a:t>Open‑source high‑performance inference engine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highlight>
                            <a:srgbClr val="FFFF00"/>
                          </a:highlight>
                        </a:rPr>
                        <a:t>When you need </a:t>
                      </a:r>
                      <a:r>
                        <a:rPr lang="en-US" sz="1600" b="1" dirty="0">
                          <a:highlight>
                            <a:srgbClr val="FFFF00"/>
                          </a:highlight>
                        </a:rPr>
                        <a:t>fast, cost‑efficient serving</a:t>
                      </a:r>
                      <a:r>
                        <a:rPr lang="en-US" sz="1600" dirty="0">
                          <a:highlight>
                            <a:srgbClr val="FFFF00"/>
                          </a:highlight>
                        </a:rPr>
                        <a:t> on GPUs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highlight>
                            <a:srgbClr val="FFFF00"/>
                          </a:highlight>
                        </a:rPr>
                        <a:t>Multi‑user / batch</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Uses </a:t>
                      </a:r>
                      <a:r>
                        <a:rPr lang="en-US" sz="1600" b="1" dirty="0" err="1"/>
                        <a:t>PagedAttention</a:t>
                      </a:r>
                      <a:r>
                        <a:rPr lang="en-US" sz="1600" dirty="0"/>
                        <a:t> and dynamic batching for high throughput</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387215"/>
                  </a:ext>
                </a:extLst>
              </a:tr>
              <a:tr h="939753">
                <a:tc>
                  <a:txBody>
                    <a:bodyPr/>
                    <a:lstStyle/>
                    <a:p>
                      <a:pPr>
                        <a:buNone/>
                      </a:pPr>
                      <a:r>
                        <a:rPr lang="en-IN" sz="1600" b="1" dirty="0" err="1">
                          <a:highlight>
                            <a:srgbClr val="FFFF00"/>
                          </a:highlight>
                          <a:hlinkClick r:id="rId6"/>
                        </a:rPr>
                        <a:t>TensorRT</a:t>
                      </a:r>
                      <a:r>
                        <a:rPr lang="en-IN" sz="1600" b="1" dirty="0">
                          <a:highlight>
                            <a:srgbClr val="FFFF00"/>
                          </a:highlight>
                          <a:hlinkClick r:id="rId6"/>
                        </a:rPr>
                        <a:t>‑LLM</a:t>
                      </a:r>
                      <a:endParaRPr lang="en-IN" sz="1600" dirty="0">
                        <a:highlight>
                          <a:srgbClr val="FFFF00"/>
                        </a:highlight>
                      </a:endParaRP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highlight>
                            <a:srgbClr val="FFFF00"/>
                          </a:highlight>
                        </a:rPr>
                        <a:t>NVIDIA‑optimized runtime for LLMs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highlight>
                            <a:srgbClr val="FFFF00"/>
                          </a:highlight>
                        </a:rPr>
                        <a:t>When you need </a:t>
                      </a:r>
                      <a:r>
                        <a:rPr lang="en-US" sz="1600" b="1" dirty="0">
                          <a:highlight>
                            <a:srgbClr val="FFFF00"/>
                          </a:highlight>
                        </a:rPr>
                        <a:t>maximum GPU performance</a:t>
                      </a:r>
                      <a:r>
                        <a:rPr lang="en-US" sz="1600" dirty="0">
                          <a:highlight>
                            <a:srgbClr val="FFFF00"/>
                          </a:highlight>
                        </a:rPr>
                        <a:t> and low latency</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highlight>
                            <a:srgbClr val="FFFF00"/>
                          </a:highlight>
                        </a:rPr>
                        <a:t>Multi‑user / real‑time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highlight>
                            <a:srgbClr val="FFFF00"/>
                          </a:highlight>
                        </a:rPr>
                        <a:t>Vendor‑specific, tightly integrated with CUDA</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8475276"/>
                  </a:ext>
                </a:extLst>
              </a:tr>
              <a:tr h="939753">
                <a:tc>
                  <a:txBody>
                    <a:bodyPr/>
                    <a:lstStyle/>
                    <a:p>
                      <a:pPr>
                        <a:buNone/>
                      </a:pPr>
                      <a:r>
                        <a:rPr lang="en-IN" sz="1600" b="1">
                          <a:hlinkClick r:id="rId7"/>
                        </a:rPr>
                        <a:t>Vendor Runtime</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Proprietary cloud runtime (AWS Inferentia, Azure ML)</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Cloud‑specific optimization</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Multi‑user</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Tied to vendor ecosystem</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879408"/>
                  </a:ext>
                </a:extLst>
              </a:tr>
              <a:tr h="505130">
                <a:tc>
                  <a:txBody>
                    <a:bodyPr/>
                    <a:lstStyle/>
                    <a:p>
                      <a:pPr>
                        <a:buNone/>
                      </a:pPr>
                      <a:r>
                        <a:rPr lang="en-IN" sz="1600" b="1">
                          <a:hlinkClick r:id="rId8"/>
                        </a:rPr>
                        <a:t>Jupyter Notebook</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Interactive dev environment</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Research, fine‑tuning, testing</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Single user</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Ideal for data scientists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5236838"/>
                  </a:ext>
                </a:extLst>
              </a:tr>
              <a:tr h="939753">
                <a:tc>
                  <a:txBody>
                    <a:bodyPr/>
                    <a:lstStyle/>
                    <a:p>
                      <a:pPr>
                        <a:buNone/>
                      </a:pPr>
                      <a:r>
                        <a:rPr lang="en-IN" sz="1600" b="1">
                          <a:hlinkClick r:id="rId9"/>
                        </a:rPr>
                        <a:t>Source Engine</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Custom orchestration layer (Python, </a:t>
                      </a:r>
                      <a:r>
                        <a:rPr lang="en-US" sz="1600" dirty="0" err="1"/>
                        <a:t>LangChain</a:t>
                      </a:r>
                      <a:r>
                        <a:rPr lang="en-US" sz="1600" dirty="0"/>
                        <a:t>, </a:t>
                      </a:r>
                      <a:r>
                        <a:rPr lang="en-US" sz="1600" dirty="0" err="1"/>
                        <a:t>FastAPI</a:t>
                      </a:r>
                      <a:r>
                        <a:rPr lang="en-US" sz="1600" dirty="0"/>
                        <a:t>)</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Integrating LLMs with business logic</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Depends on architecture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Used for agentic AI and orchestration</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794872"/>
                  </a:ext>
                </a:extLst>
              </a:tr>
            </a:tbl>
          </a:graphicData>
        </a:graphic>
      </p:graphicFrame>
    </p:spTree>
    <p:extLst>
      <p:ext uri="{BB962C8B-B14F-4D97-AF65-F5344CB8AC3E}">
        <p14:creationId xmlns:p14="http://schemas.microsoft.com/office/powerpoint/2010/main" val="2384375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506A-0458-592D-1E1D-18A4256CA653}"/>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ACEB356-C306-6339-40FF-DFF488D2C612}"/>
              </a:ext>
            </a:extLst>
          </p:cNvPr>
          <p:cNvGraphicFramePr>
            <a:graphicFrameLocks noGrp="1"/>
          </p:cNvGraphicFramePr>
          <p:nvPr>
            <p:ph idx="1"/>
          </p:nvPr>
        </p:nvGraphicFramePr>
        <p:xfrm>
          <a:off x="838200" y="2309654"/>
          <a:ext cx="10515600" cy="3383280"/>
        </p:xfrm>
        <a:graphic>
          <a:graphicData uri="http://schemas.openxmlformats.org/drawingml/2006/table">
            <a:tbl>
              <a:tblPr/>
              <a:tblGrid>
                <a:gridCol w="3505200">
                  <a:extLst>
                    <a:ext uri="{9D8B030D-6E8A-4147-A177-3AD203B41FA5}">
                      <a16:colId xmlns:a16="http://schemas.microsoft.com/office/drawing/2014/main" val="2126716641"/>
                    </a:ext>
                  </a:extLst>
                </a:gridCol>
                <a:gridCol w="3505200">
                  <a:extLst>
                    <a:ext uri="{9D8B030D-6E8A-4147-A177-3AD203B41FA5}">
                      <a16:colId xmlns:a16="http://schemas.microsoft.com/office/drawing/2014/main" val="2435819962"/>
                    </a:ext>
                  </a:extLst>
                </a:gridCol>
                <a:gridCol w="3505200">
                  <a:extLst>
                    <a:ext uri="{9D8B030D-6E8A-4147-A177-3AD203B41FA5}">
                      <a16:colId xmlns:a16="http://schemas.microsoft.com/office/drawing/2014/main" val="465399533"/>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b="1"/>
                        <a:t>vLLM</a:t>
                      </a:r>
                      <a:endParaRPr lang="en-IN"/>
                    </a:p>
                  </a:txBody>
                  <a:tcPr anchor="ctr">
                    <a:lnL>
                      <a:noFill/>
                    </a:lnL>
                    <a:lnR>
                      <a:noFill/>
                    </a:lnR>
                    <a:lnT>
                      <a:noFill/>
                    </a:lnT>
                    <a:lnB>
                      <a:noFill/>
                    </a:lnB>
                    <a:noFill/>
                  </a:tcPr>
                </a:tc>
                <a:tc>
                  <a:txBody>
                    <a:bodyPr/>
                    <a:lstStyle/>
                    <a:p>
                      <a:pPr>
                        <a:buNone/>
                      </a:pPr>
                      <a:r>
                        <a:rPr lang="en-IN" b="1"/>
                        <a:t>TensorRT‑LLM</a:t>
                      </a:r>
                      <a:endParaRPr lang="en-IN"/>
                    </a:p>
                  </a:txBody>
                  <a:tcPr anchor="ctr">
                    <a:lnL>
                      <a:noFill/>
                    </a:lnL>
                    <a:lnR>
                      <a:noFill/>
                    </a:lnR>
                    <a:lnT>
                      <a:noFill/>
                    </a:lnT>
                    <a:lnB>
                      <a:noFill/>
                    </a:lnB>
                    <a:noFill/>
                  </a:tcPr>
                </a:tc>
                <a:extLst>
                  <a:ext uri="{0D108BD9-81ED-4DB2-BD59-A6C34878D82A}">
                    <a16:rowId xmlns:a16="http://schemas.microsoft.com/office/drawing/2014/main" val="3455689121"/>
                  </a:ext>
                </a:extLst>
              </a:tr>
              <a:tr h="0">
                <a:tc>
                  <a:txBody>
                    <a:bodyPr/>
                    <a:lstStyle/>
                    <a:p>
                      <a:pPr>
                        <a:buNone/>
                      </a:pPr>
                      <a:r>
                        <a:rPr lang="en-IN" b="1"/>
                        <a:t>Developer</a:t>
                      </a:r>
                      <a:endParaRPr lang="en-IN"/>
                    </a:p>
                  </a:txBody>
                  <a:tcPr anchor="ctr">
                    <a:lnL>
                      <a:noFill/>
                    </a:lnL>
                    <a:lnR>
                      <a:noFill/>
                    </a:lnR>
                    <a:lnT>
                      <a:noFill/>
                    </a:lnT>
                    <a:lnB>
                      <a:noFill/>
                    </a:lnB>
                    <a:noFill/>
                  </a:tcPr>
                </a:tc>
                <a:tc>
                  <a:txBody>
                    <a:bodyPr/>
                    <a:lstStyle/>
                    <a:p>
                      <a:pPr>
                        <a:buNone/>
                      </a:pPr>
                      <a:r>
                        <a:rPr lang="en-IN"/>
                        <a:t>Open‑source (UC Berkeley)</a:t>
                      </a:r>
                    </a:p>
                  </a:txBody>
                  <a:tcPr anchor="ctr">
                    <a:lnL>
                      <a:noFill/>
                    </a:lnL>
                    <a:lnR>
                      <a:noFill/>
                    </a:lnR>
                    <a:lnT>
                      <a:noFill/>
                    </a:lnT>
                    <a:lnB>
                      <a:noFill/>
                    </a:lnB>
                    <a:noFill/>
                  </a:tcPr>
                </a:tc>
                <a:tc>
                  <a:txBody>
                    <a:bodyPr/>
                    <a:lstStyle/>
                    <a:p>
                      <a:pPr>
                        <a:buNone/>
                      </a:pPr>
                      <a:r>
                        <a:rPr lang="en-IN"/>
                        <a:t>NVIDIA</a:t>
                      </a:r>
                    </a:p>
                  </a:txBody>
                  <a:tcPr anchor="ctr">
                    <a:lnL>
                      <a:noFill/>
                    </a:lnL>
                    <a:lnR>
                      <a:noFill/>
                    </a:lnR>
                    <a:lnT>
                      <a:noFill/>
                    </a:lnT>
                    <a:lnB>
                      <a:noFill/>
                    </a:lnB>
                    <a:noFill/>
                  </a:tcPr>
                </a:tc>
                <a:extLst>
                  <a:ext uri="{0D108BD9-81ED-4DB2-BD59-A6C34878D82A}">
                    <a16:rowId xmlns:a16="http://schemas.microsoft.com/office/drawing/2014/main" val="3789110098"/>
                  </a:ext>
                </a:extLst>
              </a:tr>
              <a:tr h="0">
                <a:tc>
                  <a:txBody>
                    <a:bodyPr/>
                    <a:lstStyle/>
                    <a:p>
                      <a:pPr>
                        <a:buNone/>
                      </a:pPr>
                      <a:r>
                        <a:rPr lang="en-IN" b="1"/>
                        <a:t>Focus</a:t>
                      </a:r>
                      <a:endParaRPr lang="en-IN"/>
                    </a:p>
                  </a:txBody>
                  <a:tcPr anchor="ctr">
                    <a:lnL>
                      <a:noFill/>
                    </a:lnL>
                    <a:lnR>
                      <a:noFill/>
                    </a:lnR>
                    <a:lnT>
                      <a:noFill/>
                    </a:lnT>
                    <a:lnB>
                      <a:noFill/>
                    </a:lnB>
                    <a:noFill/>
                  </a:tcPr>
                </a:tc>
                <a:tc>
                  <a:txBody>
                    <a:bodyPr/>
                    <a:lstStyle/>
                    <a:p>
                      <a:pPr>
                        <a:buNone/>
                      </a:pPr>
                      <a:r>
                        <a:rPr lang="en-IN"/>
                        <a:t>Efficient memory management &amp; batching</a:t>
                      </a:r>
                    </a:p>
                  </a:txBody>
                  <a:tcPr anchor="ctr">
                    <a:lnL>
                      <a:noFill/>
                    </a:lnL>
                    <a:lnR>
                      <a:noFill/>
                    </a:lnR>
                    <a:lnT>
                      <a:noFill/>
                    </a:lnT>
                    <a:lnB>
                      <a:noFill/>
                    </a:lnB>
                    <a:noFill/>
                  </a:tcPr>
                </a:tc>
                <a:tc>
                  <a:txBody>
                    <a:bodyPr/>
                    <a:lstStyle/>
                    <a:p>
                      <a:pPr>
                        <a:buNone/>
                      </a:pPr>
                      <a:r>
                        <a:rPr lang="en-IN"/>
                        <a:t>GPU‑level optimization</a:t>
                      </a:r>
                    </a:p>
                  </a:txBody>
                  <a:tcPr anchor="ctr">
                    <a:lnL>
                      <a:noFill/>
                    </a:lnL>
                    <a:lnR>
                      <a:noFill/>
                    </a:lnR>
                    <a:lnT>
                      <a:noFill/>
                    </a:lnT>
                    <a:lnB>
                      <a:noFill/>
                    </a:lnB>
                    <a:noFill/>
                  </a:tcPr>
                </a:tc>
                <a:extLst>
                  <a:ext uri="{0D108BD9-81ED-4DB2-BD59-A6C34878D82A}">
                    <a16:rowId xmlns:a16="http://schemas.microsoft.com/office/drawing/2014/main" val="1165160412"/>
                  </a:ext>
                </a:extLst>
              </a:tr>
              <a:tr h="0">
                <a:tc>
                  <a:txBody>
                    <a:bodyPr/>
                    <a:lstStyle/>
                    <a:p>
                      <a:pPr>
                        <a:buNone/>
                      </a:pPr>
                      <a:r>
                        <a:rPr lang="en-IN" b="1"/>
                        <a:t>Best For</a:t>
                      </a:r>
                      <a:endParaRPr lang="en-IN"/>
                    </a:p>
                  </a:txBody>
                  <a:tcPr anchor="ctr">
                    <a:lnL>
                      <a:noFill/>
                    </a:lnL>
                    <a:lnR>
                      <a:noFill/>
                    </a:lnR>
                    <a:lnT>
                      <a:noFill/>
                    </a:lnT>
                    <a:lnB>
                      <a:noFill/>
                    </a:lnB>
                    <a:noFill/>
                  </a:tcPr>
                </a:tc>
                <a:tc>
                  <a:txBody>
                    <a:bodyPr/>
                    <a:lstStyle/>
                    <a:p>
                      <a:pPr>
                        <a:buNone/>
                      </a:pPr>
                      <a:r>
                        <a:rPr lang="en-IN"/>
                        <a:t>Multi‑tenant inference, cost efficiency</a:t>
                      </a:r>
                    </a:p>
                  </a:txBody>
                  <a:tcPr anchor="ctr">
                    <a:lnL>
                      <a:noFill/>
                    </a:lnL>
                    <a:lnR>
                      <a:noFill/>
                    </a:lnR>
                    <a:lnT>
                      <a:noFill/>
                    </a:lnT>
                    <a:lnB>
                      <a:noFill/>
                    </a:lnB>
                    <a:noFill/>
                  </a:tcPr>
                </a:tc>
                <a:tc>
                  <a:txBody>
                    <a:bodyPr/>
                    <a:lstStyle/>
                    <a:p>
                      <a:pPr>
                        <a:buNone/>
                      </a:pPr>
                      <a:r>
                        <a:rPr lang="en-US"/>
                        <a:t>Real‑time, latency‑critical workloads</a:t>
                      </a:r>
                    </a:p>
                  </a:txBody>
                  <a:tcPr anchor="ctr">
                    <a:lnL>
                      <a:noFill/>
                    </a:lnL>
                    <a:lnR>
                      <a:noFill/>
                    </a:lnR>
                    <a:lnT>
                      <a:noFill/>
                    </a:lnT>
                    <a:lnB>
                      <a:noFill/>
                    </a:lnB>
                    <a:noFill/>
                  </a:tcPr>
                </a:tc>
                <a:extLst>
                  <a:ext uri="{0D108BD9-81ED-4DB2-BD59-A6C34878D82A}">
                    <a16:rowId xmlns:a16="http://schemas.microsoft.com/office/drawing/2014/main" val="4198936375"/>
                  </a:ext>
                </a:extLst>
              </a:tr>
              <a:tr h="0">
                <a:tc>
                  <a:txBody>
                    <a:bodyPr/>
                    <a:lstStyle/>
                    <a:p>
                      <a:pPr>
                        <a:buNone/>
                      </a:pPr>
                      <a:r>
                        <a:rPr lang="en-IN" b="1"/>
                        <a:t>Hardware</a:t>
                      </a:r>
                      <a:endParaRPr lang="en-IN"/>
                    </a:p>
                  </a:txBody>
                  <a:tcPr anchor="ctr">
                    <a:lnL>
                      <a:noFill/>
                    </a:lnL>
                    <a:lnR>
                      <a:noFill/>
                    </a:lnR>
                    <a:lnT>
                      <a:noFill/>
                    </a:lnT>
                    <a:lnB>
                      <a:noFill/>
                    </a:lnB>
                    <a:noFill/>
                  </a:tcPr>
                </a:tc>
                <a:tc>
                  <a:txBody>
                    <a:bodyPr/>
                    <a:lstStyle/>
                    <a:p>
                      <a:pPr>
                        <a:buNone/>
                      </a:pPr>
                      <a:r>
                        <a:rPr lang="en-IN"/>
                        <a:t>Any CUDA‑enabled GPU</a:t>
                      </a:r>
                    </a:p>
                  </a:txBody>
                  <a:tcPr anchor="ctr">
                    <a:lnL>
                      <a:noFill/>
                    </a:lnL>
                    <a:lnR>
                      <a:noFill/>
                    </a:lnR>
                    <a:lnT>
                      <a:noFill/>
                    </a:lnT>
                    <a:lnB>
                      <a:noFill/>
                    </a:lnB>
                    <a:noFill/>
                  </a:tcPr>
                </a:tc>
                <a:tc>
                  <a:txBody>
                    <a:bodyPr/>
                    <a:lstStyle/>
                    <a:p>
                      <a:pPr>
                        <a:buNone/>
                      </a:pPr>
                      <a:r>
                        <a:rPr lang="en-IN"/>
                        <a:t>NVIDIA GPUs only</a:t>
                      </a:r>
                    </a:p>
                  </a:txBody>
                  <a:tcPr anchor="ctr">
                    <a:lnL>
                      <a:noFill/>
                    </a:lnL>
                    <a:lnR>
                      <a:noFill/>
                    </a:lnR>
                    <a:lnT>
                      <a:noFill/>
                    </a:lnT>
                    <a:lnB>
                      <a:noFill/>
                    </a:lnB>
                    <a:noFill/>
                  </a:tcPr>
                </a:tc>
                <a:extLst>
                  <a:ext uri="{0D108BD9-81ED-4DB2-BD59-A6C34878D82A}">
                    <a16:rowId xmlns:a16="http://schemas.microsoft.com/office/drawing/2014/main" val="1021232515"/>
                  </a:ext>
                </a:extLst>
              </a:tr>
              <a:tr h="0">
                <a:tc>
                  <a:txBody>
                    <a:bodyPr/>
                    <a:lstStyle/>
                    <a:p>
                      <a:pPr>
                        <a:buNone/>
                      </a:pPr>
                      <a:r>
                        <a:rPr lang="en-IN" b="1"/>
                        <a:t>Integration</a:t>
                      </a:r>
                      <a:endParaRPr lang="en-IN"/>
                    </a:p>
                  </a:txBody>
                  <a:tcPr anchor="ctr">
                    <a:lnL>
                      <a:noFill/>
                    </a:lnL>
                    <a:lnR>
                      <a:noFill/>
                    </a:lnR>
                    <a:lnT>
                      <a:noFill/>
                    </a:lnT>
                    <a:lnB>
                      <a:noFill/>
                    </a:lnB>
                    <a:noFill/>
                  </a:tcPr>
                </a:tc>
                <a:tc>
                  <a:txBody>
                    <a:bodyPr/>
                    <a:lstStyle/>
                    <a:p>
                      <a:pPr>
                        <a:buNone/>
                      </a:pPr>
                      <a:r>
                        <a:rPr lang="en-IN"/>
                        <a:t>Hugging Face, FastAPI, LangChain</a:t>
                      </a:r>
                    </a:p>
                  </a:txBody>
                  <a:tcPr anchor="ctr">
                    <a:lnL>
                      <a:noFill/>
                    </a:lnL>
                    <a:lnR>
                      <a:noFill/>
                    </a:lnR>
                    <a:lnT>
                      <a:noFill/>
                    </a:lnT>
                    <a:lnB>
                      <a:noFill/>
                    </a:lnB>
                    <a:noFill/>
                  </a:tcPr>
                </a:tc>
                <a:tc>
                  <a:txBody>
                    <a:bodyPr/>
                    <a:lstStyle/>
                    <a:p>
                      <a:pPr>
                        <a:buNone/>
                      </a:pPr>
                      <a:r>
                        <a:rPr lang="en-IN"/>
                        <a:t>Triton Inference Server, CUDA</a:t>
                      </a:r>
                    </a:p>
                  </a:txBody>
                  <a:tcPr anchor="ctr">
                    <a:lnL>
                      <a:noFill/>
                    </a:lnL>
                    <a:lnR>
                      <a:noFill/>
                    </a:lnR>
                    <a:lnT>
                      <a:noFill/>
                    </a:lnT>
                    <a:lnB>
                      <a:noFill/>
                    </a:lnB>
                    <a:noFill/>
                  </a:tcPr>
                </a:tc>
                <a:extLst>
                  <a:ext uri="{0D108BD9-81ED-4DB2-BD59-A6C34878D82A}">
                    <a16:rowId xmlns:a16="http://schemas.microsoft.com/office/drawing/2014/main" val="2952630334"/>
                  </a:ext>
                </a:extLst>
              </a:tr>
              <a:tr h="0">
                <a:tc>
                  <a:txBody>
                    <a:bodyPr/>
                    <a:lstStyle/>
                    <a:p>
                      <a:pPr>
                        <a:buNone/>
                      </a:pPr>
                      <a:r>
                        <a:rPr lang="en-IN" b="1"/>
                        <a:t>Scalability</a:t>
                      </a:r>
                      <a:endParaRPr lang="en-IN"/>
                    </a:p>
                  </a:txBody>
                  <a:tcPr anchor="ctr">
                    <a:lnL>
                      <a:noFill/>
                    </a:lnL>
                    <a:lnR>
                      <a:noFill/>
                    </a:lnR>
                    <a:lnT>
                      <a:noFill/>
                    </a:lnT>
                    <a:lnB>
                      <a:noFill/>
                    </a:lnB>
                    <a:noFill/>
                  </a:tcPr>
                </a:tc>
                <a:tc>
                  <a:txBody>
                    <a:bodyPr/>
                    <a:lstStyle/>
                    <a:p>
                      <a:pPr>
                        <a:buNone/>
                      </a:pPr>
                      <a:r>
                        <a:rPr lang="en-IN"/>
                        <a:t>Excellent for concurrent users</a:t>
                      </a:r>
                    </a:p>
                  </a:txBody>
                  <a:tcPr anchor="ctr">
                    <a:lnL>
                      <a:noFill/>
                    </a:lnL>
                    <a:lnR>
                      <a:noFill/>
                    </a:lnR>
                    <a:lnT>
                      <a:noFill/>
                    </a:lnT>
                    <a:lnB>
                      <a:noFill/>
                    </a:lnB>
                    <a:noFill/>
                  </a:tcPr>
                </a:tc>
                <a:tc>
                  <a:txBody>
                    <a:bodyPr/>
                    <a:lstStyle/>
                    <a:p>
                      <a:pPr>
                        <a:buNone/>
                      </a:pPr>
                      <a:r>
                        <a:rPr lang="en-US" dirty="0"/>
                        <a:t>Excellent for high‑performance clusters</a:t>
                      </a:r>
                    </a:p>
                  </a:txBody>
                  <a:tcPr anchor="ctr">
                    <a:lnL>
                      <a:noFill/>
                    </a:lnL>
                    <a:lnR>
                      <a:noFill/>
                    </a:lnR>
                    <a:lnT>
                      <a:noFill/>
                    </a:lnT>
                    <a:lnB>
                      <a:noFill/>
                    </a:lnB>
                    <a:noFill/>
                  </a:tcPr>
                </a:tc>
                <a:extLst>
                  <a:ext uri="{0D108BD9-81ED-4DB2-BD59-A6C34878D82A}">
                    <a16:rowId xmlns:a16="http://schemas.microsoft.com/office/drawing/2014/main" val="2012853175"/>
                  </a:ext>
                </a:extLst>
              </a:tr>
            </a:tbl>
          </a:graphicData>
        </a:graphic>
      </p:graphicFrame>
    </p:spTree>
    <p:extLst>
      <p:ext uri="{BB962C8B-B14F-4D97-AF65-F5344CB8AC3E}">
        <p14:creationId xmlns:p14="http://schemas.microsoft.com/office/powerpoint/2010/main" val="1036085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E37C2FB-CEC3-9260-AB3A-4C23FD8CF382}"/>
              </a:ext>
            </a:extLst>
          </p:cNvPr>
          <p:cNvGraphicFramePr>
            <a:graphicFrameLocks noGrp="1"/>
          </p:cNvGraphicFramePr>
          <p:nvPr>
            <p:ph idx="1"/>
          </p:nvPr>
        </p:nvGraphicFramePr>
        <p:xfrm>
          <a:off x="233694" y="1121358"/>
          <a:ext cx="11724611" cy="4914784"/>
        </p:xfrm>
        <a:graphic>
          <a:graphicData uri="http://schemas.openxmlformats.org/drawingml/2006/table">
            <a:tbl>
              <a:tblPr/>
              <a:tblGrid>
                <a:gridCol w="4676196">
                  <a:extLst>
                    <a:ext uri="{9D8B030D-6E8A-4147-A177-3AD203B41FA5}">
                      <a16:colId xmlns:a16="http://schemas.microsoft.com/office/drawing/2014/main" val="2383997088"/>
                    </a:ext>
                  </a:extLst>
                </a:gridCol>
                <a:gridCol w="696731">
                  <a:extLst>
                    <a:ext uri="{9D8B030D-6E8A-4147-A177-3AD203B41FA5}">
                      <a16:colId xmlns:a16="http://schemas.microsoft.com/office/drawing/2014/main" val="1773941148"/>
                    </a:ext>
                  </a:extLst>
                </a:gridCol>
                <a:gridCol w="6351684">
                  <a:extLst>
                    <a:ext uri="{9D8B030D-6E8A-4147-A177-3AD203B41FA5}">
                      <a16:colId xmlns:a16="http://schemas.microsoft.com/office/drawing/2014/main" val="3860724056"/>
                    </a:ext>
                  </a:extLst>
                </a:gridCol>
              </a:tblGrid>
              <a:tr h="246244">
                <a:tc>
                  <a:txBody>
                    <a:bodyPr/>
                    <a:lstStyle/>
                    <a:p>
                      <a:pPr>
                        <a:buNone/>
                      </a:pPr>
                      <a:r>
                        <a:rPr lang="en-US" sz="1800" b="1" dirty="0">
                          <a:effectLst/>
                          <a:latin typeface="Google Sans Text"/>
                        </a:rPr>
                        <a:t>Left Column: Agent Maturity Stages</a:t>
                      </a:r>
                      <a:endParaRPr lang="en-US" sz="1800" dirty="0">
                        <a:effectLst/>
                        <a:latin typeface="Google Sans Text"/>
                      </a:endParaRP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effectLst/>
                          <a:latin typeface="Google Sans Text"/>
                        </a:rPr>
                        <a:t>➔</a:t>
                      </a:r>
                      <a:endParaRPr lang="en-IN" sz="1800" dirty="0">
                        <a:effectLst/>
                        <a:latin typeface="Google Sans Text"/>
                      </a:endParaRP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effectLst/>
                          <a:latin typeface="Google Sans Text"/>
                        </a:rPr>
                        <a:t>Right Column: 6-Layer Architecture Mapping</a:t>
                      </a:r>
                      <a:endParaRPr lang="en-US" sz="1800" dirty="0">
                        <a:effectLst/>
                        <a:latin typeface="Google Sans Text"/>
                      </a:endParaRP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1278385"/>
                  </a:ext>
                </a:extLst>
              </a:tr>
              <a:tr h="1147852">
                <a:tc>
                  <a:txBody>
                    <a:bodyPr/>
                    <a:lstStyle/>
                    <a:p>
                      <a:pPr>
                        <a:buNone/>
                      </a:pPr>
                      <a:r>
                        <a:rPr lang="en-US" sz="1800" b="1" dirty="0">
                          <a:effectLst/>
                          <a:latin typeface="Google Sans Text"/>
                        </a:rPr>
                        <a:t>1. Stateless &amp; Stateful (The Core)</a:t>
                      </a:r>
                      <a:endParaRPr lang="en-US" sz="1800" dirty="0">
                        <a:effectLst/>
                        <a:latin typeface="Google Sans Text"/>
                      </a:endParaRPr>
                    </a:p>
                    <a:p>
                      <a:pPr>
                        <a:buNone/>
                      </a:pPr>
                      <a:r>
                        <a:rPr lang="en-US" sz="1800" dirty="0">
                          <a:effectLst/>
                          <a:latin typeface="Google Sans Text"/>
                        </a:rPr>
                        <a:t>• Zero/Few-shot prompts</a:t>
                      </a:r>
                    </a:p>
                    <a:p>
                      <a:pPr>
                        <a:buNone/>
                      </a:pPr>
                      <a:r>
                        <a:rPr lang="en-US" sz="1800" dirty="0">
                          <a:effectLst/>
                          <a:latin typeface="Google Sans Text"/>
                        </a:rPr>
                        <a:t>• Context windows, RAG, Memory</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effectLst/>
                          <a:latin typeface="Google Sans Text"/>
                        </a:rPr>
                        <a:t>➔</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effectLst/>
                          <a:latin typeface="Google Sans Text"/>
                        </a:rPr>
                        <a:t>Layer 3: Inference &amp; Serving</a:t>
                      </a:r>
                      <a:r>
                        <a:rPr lang="en-US" sz="1800" dirty="0">
                          <a:effectLst/>
                          <a:latin typeface="Google Sans Text"/>
                        </a:rPr>
                        <a:t> (Raw LLMs)</a:t>
                      </a:r>
                      <a:br>
                        <a:rPr lang="en-US" sz="1800" dirty="0">
                          <a:effectLst/>
                          <a:latin typeface="Google Sans Text"/>
                        </a:rPr>
                      </a:br>
                      <a:endParaRPr lang="en-US" sz="1800" dirty="0">
                        <a:effectLst/>
                        <a:latin typeface="Google Sans Text"/>
                      </a:endParaRPr>
                    </a:p>
                    <a:p>
                      <a:pPr>
                        <a:buNone/>
                      </a:pPr>
                      <a:r>
                        <a:rPr lang="en-US" sz="1800" b="1" dirty="0">
                          <a:effectLst/>
                          <a:latin typeface="Google Sans Text"/>
                        </a:rPr>
                        <a:t>Layer 4: Data &amp; Protocols</a:t>
                      </a:r>
                      <a:r>
                        <a:rPr lang="en-US" sz="1800" dirty="0">
                          <a:effectLst/>
                          <a:latin typeface="Google Sans Text"/>
                        </a:rPr>
                        <a:t> (Vector DBs, MCP)</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9495289"/>
                  </a:ext>
                </a:extLst>
              </a:tr>
              <a:tr h="1147852">
                <a:tc>
                  <a:txBody>
                    <a:bodyPr/>
                    <a:lstStyle/>
                    <a:p>
                      <a:pPr>
                        <a:buNone/>
                      </a:pPr>
                      <a:r>
                        <a:rPr lang="en-US" sz="1800" b="1" dirty="0">
                          <a:effectLst/>
                          <a:latin typeface="Google Sans Text"/>
                        </a:rPr>
                        <a:t>2. Planners (Reasoning)</a:t>
                      </a:r>
                      <a:endParaRPr lang="en-US" sz="1800" dirty="0">
                        <a:effectLst/>
                        <a:latin typeface="Google Sans Text"/>
                      </a:endParaRPr>
                    </a:p>
                    <a:p>
                      <a:pPr>
                        <a:buNone/>
                      </a:pPr>
                      <a:endParaRPr lang="en-US" sz="1800" dirty="0">
                        <a:effectLst/>
                        <a:latin typeface="Google Sans Text"/>
                      </a:endParaRPr>
                    </a:p>
                    <a:p>
                      <a:pPr>
                        <a:buNone/>
                      </a:pPr>
                      <a:r>
                        <a:rPr lang="en-US" sz="1800" dirty="0">
                          <a:effectLst/>
                          <a:latin typeface="Google Sans Text"/>
                        </a:rPr>
                        <a:t>• Chain-of-Thought, Tree-of-Thought</a:t>
                      </a:r>
                    </a:p>
                    <a:p>
                      <a:pPr>
                        <a:buNone/>
                      </a:pPr>
                      <a:r>
                        <a:rPr lang="en-US" sz="1800" dirty="0">
                          <a:effectLst/>
                          <a:latin typeface="Google Sans Text"/>
                        </a:rPr>
                        <a:t>• Tool selection &amp; execution</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effectLst/>
                          <a:latin typeface="Google Sans Text"/>
                        </a:rPr>
                        <a:t>➔</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effectLst/>
                          <a:latin typeface="Google Sans Text"/>
                        </a:rPr>
                        <a:t>Layer 5: Orchestration &amp; Agents</a:t>
                      </a:r>
                      <a:endParaRPr lang="en-US" sz="1800" dirty="0">
                        <a:effectLst/>
                        <a:latin typeface="Google Sans Text"/>
                      </a:endParaRPr>
                    </a:p>
                    <a:p>
                      <a:pPr>
                        <a:buNone/>
                      </a:pPr>
                      <a:endParaRPr lang="en-US" sz="1800" dirty="0">
                        <a:effectLst/>
                        <a:latin typeface="Google Sans Text"/>
                      </a:endParaRPr>
                    </a:p>
                    <a:p>
                      <a:pPr>
                        <a:buNone/>
                      </a:pPr>
                      <a:r>
                        <a:rPr lang="en-US" sz="1800" dirty="0">
                          <a:effectLst/>
                          <a:latin typeface="Google Sans Text"/>
                        </a:rPr>
                        <a:t>• Reasoning loops, Task Decomposition</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5167204"/>
                  </a:ext>
                </a:extLst>
              </a:tr>
              <a:tr h="1147852">
                <a:tc>
                  <a:txBody>
                    <a:bodyPr/>
                    <a:lstStyle/>
                    <a:p>
                      <a:pPr>
                        <a:buNone/>
                      </a:pPr>
                      <a:r>
                        <a:rPr lang="en-US" sz="1800" b="1" dirty="0">
                          <a:effectLst/>
                          <a:latin typeface="Google Sans Text"/>
                        </a:rPr>
                        <a:t>3. Learners (Self-Improvement)</a:t>
                      </a:r>
                      <a:endParaRPr lang="en-US" sz="1800" dirty="0">
                        <a:effectLst/>
                        <a:latin typeface="Google Sans Text"/>
                      </a:endParaRPr>
                    </a:p>
                    <a:p>
                      <a:pPr>
                        <a:buNone/>
                      </a:pPr>
                      <a:r>
                        <a:rPr lang="en-US" sz="1800" dirty="0">
                          <a:effectLst/>
                          <a:latin typeface="Google Sans Text"/>
                        </a:rPr>
                        <a:t>• RLHF, Fine-tuning</a:t>
                      </a:r>
                    </a:p>
                    <a:p>
                      <a:pPr>
                        <a:buNone/>
                      </a:pPr>
                      <a:r>
                        <a:rPr lang="en-US" sz="1800" dirty="0">
                          <a:effectLst/>
                          <a:latin typeface="Google Sans Text"/>
                        </a:rPr>
                        <a:t>• Drift detection &amp; Evals</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effectLst/>
                          <a:latin typeface="Google Sans Text"/>
                        </a:rPr>
                        <a:t>➔</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effectLst/>
                          <a:latin typeface="Google Sans Text"/>
                        </a:rPr>
                        <a:t>Layer 2: Model Training &amp; Dev</a:t>
                      </a:r>
                      <a:endParaRPr lang="en-US" sz="1800" dirty="0">
                        <a:effectLst/>
                        <a:latin typeface="Google Sans Text"/>
                      </a:endParaRPr>
                    </a:p>
                    <a:p>
                      <a:pPr>
                        <a:buNone/>
                      </a:pPr>
                      <a:endParaRPr lang="en-US" sz="1800" dirty="0">
                        <a:effectLst/>
                        <a:latin typeface="Google Sans Text"/>
                      </a:endParaRPr>
                    </a:p>
                    <a:p>
                      <a:pPr>
                        <a:buNone/>
                      </a:pPr>
                      <a:r>
                        <a:rPr lang="en-US" sz="1800" b="1" dirty="0">
                          <a:effectLst/>
                          <a:latin typeface="Google Sans Text"/>
                        </a:rPr>
                        <a:t>Side Panel: Governance &amp; Observability</a:t>
                      </a:r>
                      <a:endParaRPr lang="en-US" sz="1800" dirty="0">
                        <a:effectLst/>
                        <a:latin typeface="Google Sans Text"/>
                      </a:endParaRP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031196"/>
                  </a:ext>
                </a:extLst>
              </a:tr>
              <a:tr h="1147852">
                <a:tc>
                  <a:txBody>
                    <a:bodyPr/>
                    <a:lstStyle/>
                    <a:p>
                      <a:pPr>
                        <a:buNone/>
                      </a:pPr>
                      <a:r>
                        <a:rPr lang="en-US" sz="1800" b="1" dirty="0">
                          <a:effectLst/>
                          <a:latin typeface="Google Sans Text"/>
                        </a:rPr>
                        <a:t>4. Orchestrators (The Horizon)</a:t>
                      </a:r>
                      <a:endParaRPr lang="en-US" sz="1800" dirty="0">
                        <a:effectLst/>
                        <a:latin typeface="Google Sans Text"/>
                      </a:endParaRPr>
                    </a:p>
                    <a:p>
                      <a:pPr>
                        <a:buNone/>
                      </a:pPr>
                      <a:r>
                        <a:rPr lang="en-US" sz="1800" dirty="0">
                          <a:effectLst/>
                          <a:latin typeface="Google Sans Text"/>
                        </a:rPr>
                        <a:t>• Multi-agent systems (A2A</a:t>
                      </a:r>
                    </a:p>
                    <a:p>
                      <a:pPr>
                        <a:buNone/>
                      </a:pPr>
                      <a:r>
                        <a:rPr lang="en-US" sz="1800" dirty="0">
                          <a:effectLst/>
                          <a:latin typeface="Google Sans Text"/>
                        </a:rPr>
                        <a:t>• Synthetic environments</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effectLst/>
                          <a:latin typeface="Google Sans Text"/>
                        </a:rPr>
                        <a:t>➔</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effectLst/>
                          <a:latin typeface="Google Sans Text"/>
                        </a:rPr>
                        <a:t>Top of Layer 5 &amp; Layer 6</a:t>
                      </a:r>
                      <a:br>
                        <a:rPr lang="en-US" sz="1800" dirty="0">
                          <a:effectLst/>
                          <a:latin typeface="Google Sans Text"/>
                        </a:rPr>
                      </a:br>
                      <a:endParaRPr lang="en-US" sz="1800" dirty="0">
                        <a:effectLst/>
                        <a:latin typeface="Google Sans Text"/>
                      </a:endParaRPr>
                    </a:p>
                    <a:p>
                      <a:pPr>
                        <a:buNone/>
                      </a:pPr>
                      <a:r>
                        <a:rPr lang="en-US" sz="1800" dirty="0">
                          <a:effectLst/>
                          <a:latin typeface="Google Sans Text"/>
                        </a:rPr>
                        <a:t>• Autonomous Swarms &amp; Copilots</a:t>
                      </a:r>
                    </a:p>
                  </a:txBody>
                  <a:tcPr marL="36793" marR="36793" marT="24528" marB="245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429618"/>
                  </a:ext>
                </a:extLst>
              </a:tr>
            </a:tbl>
          </a:graphicData>
        </a:graphic>
      </p:graphicFrame>
    </p:spTree>
    <p:extLst>
      <p:ext uri="{BB962C8B-B14F-4D97-AF65-F5344CB8AC3E}">
        <p14:creationId xmlns:p14="http://schemas.microsoft.com/office/powerpoint/2010/main" val="1403327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12B8C-E37A-98F0-56D6-37A7EB5327B3}"/>
              </a:ext>
            </a:extLst>
          </p:cNvPr>
          <p:cNvSpPr>
            <a:spLocks noGrp="1"/>
          </p:cNvSpPr>
          <p:nvPr>
            <p:ph type="title"/>
          </p:nvPr>
        </p:nvSpPr>
        <p:spPr>
          <a:xfrm>
            <a:off x="616450" y="6243874"/>
            <a:ext cx="10562689" cy="498002"/>
          </a:xfrm>
        </p:spPr>
        <p:txBody>
          <a:bodyPr>
            <a:normAutofit/>
          </a:bodyPr>
          <a:lstStyle/>
          <a:p>
            <a:r>
              <a:rPr lang="en-US" sz="2800" dirty="0" err="1"/>
              <a:t>Checkpointer</a:t>
            </a:r>
            <a:r>
              <a:rPr lang="en-US" sz="2800" dirty="0"/>
              <a:t> is like auto save feature</a:t>
            </a:r>
            <a:endParaRPr lang="en-IN" sz="2800" dirty="0"/>
          </a:p>
        </p:txBody>
      </p:sp>
      <p:pic>
        <p:nvPicPr>
          <p:cNvPr id="7" name="Picture 6">
            <a:extLst>
              <a:ext uri="{FF2B5EF4-FFF2-40B4-BE49-F238E27FC236}">
                <a16:creationId xmlns:a16="http://schemas.microsoft.com/office/drawing/2014/main" id="{725C8D74-265B-6FD3-5263-3425D2A50964}"/>
              </a:ext>
            </a:extLst>
          </p:cNvPr>
          <p:cNvPicPr>
            <a:picLocks noChangeAspect="1"/>
          </p:cNvPicPr>
          <p:nvPr/>
        </p:nvPicPr>
        <p:blipFill>
          <a:blip r:embed="rId2"/>
          <a:stretch>
            <a:fillRect/>
          </a:stretch>
        </p:blipFill>
        <p:spPr>
          <a:xfrm>
            <a:off x="1507876" y="247209"/>
            <a:ext cx="8591620" cy="5639491"/>
          </a:xfrm>
          <a:prstGeom prst="rect">
            <a:avLst/>
          </a:prstGeom>
        </p:spPr>
      </p:pic>
    </p:spTree>
    <p:extLst>
      <p:ext uri="{BB962C8B-B14F-4D97-AF65-F5344CB8AC3E}">
        <p14:creationId xmlns:p14="http://schemas.microsoft.com/office/powerpoint/2010/main" val="140700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C0191-5F73-09B6-9B5A-A2A559D30F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410982-C06C-B6ED-F9A5-F3C851191EAE}"/>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B7A45291-3004-794E-A014-2A77FE38DBAA}"/>
              </a:ext>
            </a:extLst>
          </p:cNvPr>
          <p:cNvPicPr>
            <a:picLocks noChangeAspect="1"/>
          </p:cNvPicPr>
          <p:nvPr/>
        </p:nvPicPr>
        <p:blipFill>
          <a:blip r:embed="rId2"/>
          <a:stretch>
            <a:fillRect/>
          </a:stretch>
        </p:blipFill>
        <p:spPr>
          <a:xfrm>
            <a:off x="232390" y="0"/>
            <a:ext cx="11959609" cy="6858879"/>
          </a:xfrm>
          <a:prstGeom prst="rect">
            <a:avLst/>
          </a:prstGeom>
        </p:spPr>
      </p:pic>
    </p:spTree>
    <p:extLst>
      <p:ext uri="{BB962C8B-B14F-4D97-AF65-F5344CB8AC3E}">
        <p14:creationId xmlns:p14="http://schemas.microsoft.com/office/powerpoint/2010/main" val="2744562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3DFF67B-2570-D4A8-E994-C0F583E2C8C5}"/>
              </a:ext>
            </a:extLst>
          </p:cNvPr>
          <p:cNvPicPr>
            <a:picLocks noChangeAspect="1"/>
          </p:cNvPicPr>
          <p:nvPr/>
        </p:nvPicPr>
        <p:blipFill>
          <a:blip r:embed="rId2"/>
          <a:stretch>
            <a:fillRect/>
          </a:stretch>
        </p:blipFill>
        <p:spPr>
          <a:xfrm>
            <a:off x="218122" y="235397"/>
            <a:ext cx="11556062" cy="3905250"/>
          </a:xfrm>
          <a:prstGeom prst="rect">
            <a:avLst/>
          </a:prstGeom>
        </p:spPr>
      </p:pic>
      <p:pic>
        <p:nvPicPr>
          <p:cNvPr id="12" name="Picture 11">
            <a:extLst>
              <a:ext uri="{FF2B5EF4-FFF2-40B4-BE49-F238E27FC236}">
                <a16:creationId xmlns:a16="http://schemas.microsoft.com/office/drawing/2014/main" id="{2888EF43-1B3C-1F40-792C-E92CDDDE02B6}"/>
              </a:ext>
            </a:extLst>
          </p:cNvPr>
          <p:cNvPicPr>
            <a:picLocks noChangeAspect="1"/>
          </p:cNvPicPr>
          <p:nvPr/>
        </p:nvPicPr>
        <p:blipFill>
          <a:blip r:embed="rId3"/>
          <a:stretch>
            <a:fillRect/>
          </a:stretch>
        </p:blipFill>
        <p:spPr>
          <a:xfrm>
            <a:off x="0" y="4209297"/>
            <a:ext cx="3973055" cy="2648703"/>
          </a:xfrm>
          <a:prstGeom prst="rect">
            <a:avLst/>
          </a:prstGeom>
        </p:spPr>
      </p:pic>
      <p:pic>
        <p:nvPicPr>
          <p:cNvPr id="10" name="Picture 9">
            <a:extLst>
              <a:ext uri="{FF2B5EF4-FFF2-40B4-BE49-F238E27FC236}">
                <a16:creationId xmlns:a16="http://schemas.microsoft.com/office/drawing/2014/main" id="{CE5F566D-DC27-A98C-5CCD-8BD4586FB57F}"/>
              </a:ext>
            </a:extLst>
          </p:cNvPr>
          <p:cNvPicPr>
            <a:picLocks noChangeAspect="1"/>
          </p:cNvPicPr>
          <p:nvPr/>
        </p:nvPicPr>
        <p:blipFill>
          <a:blip r:embed="rId4"/>
          <a:stretch>
            <a:fillRect/>
          </a:stretch>
        </p:blipFill>
        <p:spPr>
          <a:xfrm>
            <a:off x="6975885" y="4048180"/>
            <a:ext cx="4798299" cy="2712638"/>
          </a:xfrm>
          <a:prstGeom prst="rect">
            <a:avLst/>
          </a:prstGeom>
        </p:spPr>
      </p:pic>
    </p:spTree>
    <p:extLst>
      <p:ext uri="{BB962C8B-B14F-4D97-AF65-F5344CB8AC3E}">
        <p14:creationId xmlns:p14="http://schemas.microsoft.com/office/powerpoint/2010/main" val="11443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BB8F52-557F-4A22-C1AA-08726F81D4C1}"/>
              </a:ext>
            </a:extLst>
          </p:cNvPr>
          <p:cNvPicPr>
            <a:picLocks noChangeAspect="1"/>
          </p:cNvPicPr>
          <p:nvPr/>
        </p:nvPicPr>
        <p:blipFill>
          <a:blip r:embed="rId2"/>
          <a:stretch>
            <a:fillRect/>
          </a:stretch>
        </p:blipFill>
        <p:spPr>
          <a:xfrm>
            <a:off x="236306" y="123289"/>
            <a:ext cx="6794696" cy="3197105"/>
          </a:xfrm>
          <a:prstGeom prst="rect">
            <a:avLst/>
          </a:prstGeom>
        </p:spPr>
      </p:pic>
      <p:pic>
        <p:nvPicPr>
          <p:cNvPr id="7" name="Picture 6">
            <a:extLst>
              <a:ext uri="{FF2B5EF4-FFF2-40B4-BE49-F238E27FC236}">
                <a16:creationId xmlns:a16="http://schemas.microsoft.com/office/drawing/2014/main" id="{235427E8-4D5C-9E94-75F2-9D7F42333FD1}"/>
              </a:ext>
            </a:extLst>
          </p:cNvPr>
          <p:cNvPicPr>
            <a:picLocks noChangeAspect="1"/>
          </p:cNvPicPr>
          <p:nvPr/>
        </p:nvPicPr>
        <p:blipFill>
          <a:blip r:embed="rId3"/>
          <a:stretch>
            <a:fillRect/>
          </a:stretch>
        </p:blipFill>
        <p:spPr>
          <a:xfrm>
            <a:off x="477374" y="3654506"/>
            <a:ext cx="6553628" cy="3080205"/>
          </a:xfrm>
          <a:prstGeom prst="rect">
            <a:avLst/>
          </a:prstGeom>
        </p:spPr>
      </p:pic>
    </p:spTree>
    <p:extLst>
      <p:ext uri="{BB962C8B-B14F-4D97-AF65-F5344CB8AC3E}">
        <p14:creationId xmlns:p14="http://schemas.microsoft.com/office/powerpoint/2010/main" val="3584574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74C7596-B151-8A5F-7FF2-B318FC70DC73}"/>
              </a:ext>
            </a:extLst>
          </p:cNvPr>
          <p:cNvGraphicFramePr>
            <a:graphicFrameLocks noGrp="1"/>
          </p:cNvGraphicFramePr>
          <p:nvPr/>
        </p:nvGraphicFramePr>
        <p:xfrm>
          <a:off x="277403" y="833771"/>
          <a:ext cx="11408597" cy="2759704"/>
        </p:xfrm>
        <a:graphic>
          <a:graphicData uri="http://schemas.openxmlformats.org/drawingml/2006/table">
            <a:tbl>
              <a:tblPr/>
              <a:tblGrid>
                <a:gridCol w="2624382">
                  <a:extLst>
                    <a:ext uri="{9D8B030D-6E8A-4147-A177-3AD203B41FA5}">
                      <a16:colId xmlns:a16="http://schemas.microsoft.com/office/drawing/2014/main" val="4240027203"/>
                    </a:ext>
                  </a:extLst>
                </a:gridCol>
                <a:gridCol w="3350533">
                  <a:extLst>
                    <a:ext uri="{9D8B030D-6E8A-4147-A177-3AD203B41FA5}">
                      <a16:colId xmlns:a16="http://schemas.microsoft.com/office/drawing/2014/main" val="1361078124"/>
                    </a:ext>
                  </a:extLst>
                </a:gridCol>
                <a:gridCol w="5433682">
                  <a:extLst>
                    <a:ext uri="{9D8B030D-6E8A-4147-A177-3AD203B41FA5}">
                      <a16:colId xmlns:a16="http://schemas.microsoft.com/office/drawing/2014/main" val="1201179535"/>
                    </a:ext>
                  </a:extLst>
                </a:gridCol>
              </a:tblGrid>
              <a:tr h="285196">
                <a:tc>
                  <a:txBody>
                    <a:bodyPr/>
                    <a:lstStyle/>
                    <a:p>
                      <a:pPr>
                        <a:buNone/>
                      </a:pPr>
                      <a:r>
                        <a:rPr lang="en-IN"/>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2537566"/>
                  </a:ext>
                </a:extLst>
              </a:tr>
              <a:tr h="285196">
                <a:tc>
                  <a:txBody>
                    <a:bodyPr/>
                    <a:lstStyle/>
                    <a:p>
                      <a:pPr>
                        <a:buNone/>
                      </a:pPr>
                      <a:r>
                        <a:rPr lang="en-IN" b="1" dirty="0"/>
                        <a:t>API Gateway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FastAPI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Async routing, request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007086"/>
                  </a:ext>
                </a:extLst>
              </a:tr>
              <a:tr h="285196">
                <a:tc>
                  <a:txBody>
                    <a:bodyPr/>
                    <a:lstStyle/>
                    <a:p>
                      <a:pPr>
                        <a:buNone/>
                      </a:pPr>
                      <a:r>
                        <a:rPr lang="en-IN" b="1" dirty="0"/>
                        <a:t>Inference Engine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err="1"/>
                        <a:t>vLLM</a:t>
                      </a:r>
                      <a:r>
                        <a:rPr lang="en-IN" dirty="0"/>
                        <a:t> / </a:t>
                      </a:r>
                      <a:r>
                        <a:rPr lang="en-IN" dirty="0" err="1"/>
                        <a:t>TensorRT</a:t>
                      </a:r>
                      <a:r>
                        <a:rPr lang="en-IN" dirty="0"/>
                        <a:t>‑LLM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High‑throughput GPU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377047"/>
                  </a:ext>
                </a:extLst>
              </a:tr>
              <a:tr h="499094">
                <a:tc>
                  <a:txBody>
                    <a:bodyPr/>
                    <a:lstStyle/>
                    <a:p>
                      <a:pPr>
                        <a:buNone/>
                      </a:pPr>
                      <a:r>
                        <a:rPr lang="en-IN" b="1" dirty="0"/>
                        <a:t>Caching Layer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Redis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Store prompt‑completion pairs, reduce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4476893"/>
                  </a:ext>
                </a:extLst>
              </a:tr>
              <a:tr h="285196">
                <a:tc>
                  <a:txBody>
                    <a:bodyPr/>
                    <a:lstStyle/>
                    <a:p>
                      <a:pPr>
                        <a:buNone/>
                      </a:pPr>
                      <a:r>
                        <a:rPr lang="en-IN" b="1" dirty="0"/>
                        <a:t>Containerization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Docker</a:t>
                      </a:r>
                      <a:r>
                        <a:rPr lang="en-IN"/>
                        <a:t> / Kubernetes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Scalability, portability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3951980"/>
                  </a:ext>
                </a:extLst>
              </a:tr>
              <a:tr h="431810">
                <a:tc>
                  <a:txBody>
                    <a:bodyPr/>
                    <a:lstStyle/>
                    <a:p>
                      <a:pPr>
                        <a:buNone/>
                      </a:pPr>
                      <a:r>
                        <a:rPr lang="en-IN" b="1" dirty="0"/>
                        <a:t>Monitoring</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Prometheus</a:t>
                      </a:r>
                      <a:r>
                        <a:rPr lang="en-IN" dirty="0"/>
                        <a:t> / Grafana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Observability, performance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4198929"/>
                  </a:ext>
                </a:extLst>
              </a:tr>
              <a:tr h="313126">
                <a:tc>
                  <a:txBody>
                    <a:bodyPr/>
                    <a:lstStyle/>
                    <a:p>
                      <a:pPr>
                        <a:buNone/>
                      </a:pPr>
                      <a:r>
                        <a:rPr lang="en-IN" b="1" dirty="0"/>
                        <a:t>Security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Zero Trust</a:t>
                      </a:r>
                      <a:r>
                        <a:rPr lang="en-IN" dirty="0"/>
                        <a:t>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Identity, runtime security, compliance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9493930"/>
                  </a:ext>
                </a:extLst>
              </a:tr>
            </a:tbl>
          </a:graphicData>
        </a:graphic>
      </p:graphicFrame>
      <p:sp>
        <p:nvSpPr>
          <p:cNvPr id="5" name="Rectangle 1">
            <a:extLst>
              <a:ext uri="{FF2B5EF4-FFF2-40B4-BE49-F238E27FC236}">
                <a16:creationId xmlns:a16="http://schemas.microsoft.com/office/drawing/2014/main" id="{0CE3823E-1636-9A0C-D74B-A70517C255C3}"/>
              </a:ext>
            </a:extLst>
          </p:cNvPr>
          <p:cNvSpPr>
            <a:spLocks noChangeArrowheads="1"/>
          </p:cNvSpPr>
          <p:nvPr/>
        </p:nvSpPr>
        <p:spPr bwMode="auto">
          <a:xfrm>
            <a:off x="0" y="84252"/>
            <a:ext cx="457702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Python Cloud Architecture for LLMs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EE9001B3-FEBE-E3D3-0E06-1772F040F72A}"/>
              </a:ext>
            </a:extLst>
          </p:cNvPr>
          <p:cNvSpPr txBox="1"/>
          <p:nvPr/>
        </p:nvSpPr>
        <p:spPr>
          <a:xfrm>
            <a:off x="549668" y="4465424"/>
            <a:ext cx="9149136" cy="1200329"/>
          </a:xfrm>
          <a:prstGeom prst="rect">
            <a:avLst/>
          </a:prstGeom>
          <a:noFill/>
        </p:spPr>
        <p:txBody>
          <a:bodyPr wrap="square">
            <a:spAutoFit/>
          </a:bodyPr>
          <a:lstStyle/>
          <a:p>
            <a:pPr>
              <a:buFont typeface="Arial" panose="020B0604020202020204" pitchFamily="34" charset="0"/>
              <a:buChar char="•"/>
            </a:pPr>
            <a:r>
              <a:rPr lang="en-IN" b="1" dirty="0">
                <a:effectLst/>
              </a:rPr>
              <a:t>Scalability</a:t>
            </a:r>
            <a:r>
              <a:rPr lang="en-IN" dirty="0">
                <a:effectLst/>
              </a:rPr>
              <a:t>: Supports hundreds of concurrent requests with GPU batching.</a:t>
            </a:r>
            <a:endParaRPr lang="en-IN" dirty="0"/>
          </a:p>
          <a:p>
            <a:pPr>
              <a:buFont typeface="Arial" panose="020B0604020202020204" pitchFamily="34" charset="0"/>
              <a:buChar char="•"/>
            </a:pPr>
            <a:r>
              <a:rPr lang="en-IN" b="1" dirty="0">
                <a:effectLst/>
              </a:rPr>
              <a:t>Performance</a:t>
            </a:r>
            <a:r>
              <a:rPr lang="en-IN" dirty="0">
                <a:effectLst/>
              </a:rPr>
              <a:t>: Quantization + caching reduce latency dramatically.</a:t>
            </a:r>
            <a:endParaRPr lang="en-IN" dirty="0"/>
          </a:p>
          <a:p>
            <a:pPr>
              <a:buFont typeface="Arial" panose="020B0604020202020204" pitchFamily="34" charset="0"/>
              <a:buChar char="•"/>
            </a:pPr>
            <a:r>
              <a:rPr lang="en-IN" b="1" dirty="0">
                <a:effectLst/>
              </a:rPr>
              <a:t>Flexibility</a:t>
            </a:r>
            <a:r>
              <a:rPr lang="en-IN" dirty="0">
                <a:effectLst/>
              </a:rPr>
              <a:t>: Python ecosystem allows rapid prototyping and integration with AI frameworks.</a:t>
            </a:r>
            <a:endParaRPr lang="en-IN" dirty="0"/>
          </a:p>
          <a:p>
            <a:pPr>
              <a:buFont typeface="Arial" panose="020B0604020202020204" pitchFamily="34" charset="0"/>
              <a:buChar char="•"/>
            </a:pPr>
            <a:r>
              <a:rPr lang="en-IN" b="1" dirty="0">
                <a:effectLst/>
              </a:rPr>
              <a:t>Security</a:t>
            </a:r>
            <a:r>
              <a:rPr lang="en-IN" dirty="0">
                <a:effectLst/>
              </a:rPr>
              <a:t>: Zero‑trust and container isolation align with enterprise governance.</a:t>
            </a:r>
            <a:endParaRPr lang="en-IN" dirty="0"/>
          </a:p>
        </p:txBody>
      </p:sp>
    </p:spTree>
    <p:extLst>
      <p:ext uri="{BB962C8B-B14F-4D97-AF65-F5344CB8AC3E}">
        <p14:creationId xmlns:p14="http://schemas.microsoft.com/office/powerpoint/2010/main" val="3284757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75E1E-7EB9-B295-816A-508EE02C03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B3034F-C326-F0D1-19BC-DBB5390917A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19639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A8EB-2672-ECFB-8A73-D4E75B46DF9A}"/>
              </a:ext>
            </a:extLst>
          </p:cNvPr>
          <p:cNvSpPr>
            <a:spLocks noGrp="1"/>
          </p:cNvSpPr>
          <p:nvPr>
            <p:ph type="title"/>
          </p:nvPr>
        </p:nvSpPr>
        <p:spPr>
          <a:xfrm>
            <a:off x="838200" y="365125"/>
            <a:ext cx="10185971" cy="302695"/>
          </a:xfrm>
        </p:spPr>
        <p:txBody>
          <a:bodyPr>
            <a:normAutofit fontScale="90000"/>
          </a:bodyPr>
          <a:lstStyle/>
          <a:p>
            <a:r>
              <a:rPr lang="en-IN" b="1" dirty="0"/>
              <a:t>S1 Cloud Native — Security Overview</a:t>
            </a:r>
          </a:p>
        </p:txBody>
      </p:sp>
      <p:pic>
        <p:nvPicPr>
          <p:cNvPr id="1026" name="Picture 2" descr="What is Cloud-Native Application? - FlyingMachineArena">
            <a:extLst>
              <a:ext uri="{FF2B5EF4-FFF2-40B4-BE49-F238E27FC236}">
                <a16:creationId xmlns:a16="http://schemas.microsoft.com/office/drawing/2014/main" id="{D273981D-CAF2-771F-A830-365047435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084" y="465887"/>
            <a:ext cx="1943995" cy="12128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Zero Trust Cloud Security">
            <a:extLst>
              <a:ext uri="{FF2B5EF4-FFF2-40B4-BE49-F238E27FC236}">
                <a16:creationId xmlns:a16="http://schemas.microsoft.com/office/drawing/2014/main" id="{84307B10-F967-8481-0D6A-B9B12F049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667" y="1458931"/>
            <a:ext cx="5283799" cy="2556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140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F0E2C-264E-A30B-A1DE-D800CDEEDD5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6B2973-B9AA-F1FD-7376-82A6BC5D97E3}"/>
              </a:ext>
            </a:extLst>
          </p:cNvPr>
          <p:cNvSpPr>
            <a:spLocks noGrp="1"/>
          </p:cNvSpPr>
          <p:nvPr>
            <p:ph idx="1"/>
          </p:nvPr>
        </p:nvSpPr>
        <p:spPr/>
        <p:txBody>
          <a:bodyPr/>
          <a:lstStyle/>
          <a:p>
            <a:endParaRPr lang="en-IN" dirty="0"/>
          </a:p>
        </p:txBody>
      </p:sp>
      <p:pic>
        <p:nvPicPr>
          <p:cNvPr id="2050" name="Picture 2">
            <a:extLst>
              <a:ext uri="{FF2B5EF4-FFF2-40B4-BE49-F238E27FC236}">
                <a16:creationId xmlns:a16="http://schemas.microsoft.com/office/drawing/2014/main" id="{8810A5C9-2E1B-908C-DFE5-C20CC8E04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284" y="-140895"/>
            <a:ext cx="12062716" cy="703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87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C7B3651-CCA6-129F-DCA1-713EEAB8B2F5}"/>
              </a:ext>
            </a:extLst>
          </p:cNvPr>
          <p:cNvGraphicFramePr>
            <a:graphicFrameLocks noGrp="1"/>
          </p:cNvGraphicFramePr>
          <p:nvPr/>
        </p:nvGraphicFramePr>
        <p:xfrm>
          <a:off x="4891783" y="4521532"/>
          <a:ext cx="6785225" cy="2189766"/>
        </p:xfrm>
        <a:graphic>
          <a:graphicData uri="http://schemas.openxmlformats.org/drawingml/2006/table">
            <a:tbl>
              <a:tblPr/>
              <a:tblGrid>
                <a:gridCol w="1571170">
                  <a:extLst>
                    <a:ext uri="{9D8B030D-6E8A-4147-A177-3AD203B41FA5}">
                      <a16:colId xmlns:a16="http://schemas.microsoft.com/office/drawing/2014/main" val="1028090369"/>
                    </a:ext>
                  </a:extLst>
                </a:gridCol>
                <a:gridCol w="3008232">
                  <a:extLst>
                    <a:ext uri="{9D8B030D-6E8A-4147-A177-3AD203B41FA5}">
                      <a16:colId xmlns:a16="http://schemas.microsoft.com/office/drawing/2014/main" val="1642935790"/>
                    </a:ext>
                  </a:extLst>
                </a:gridCol>
                <a:gridCol w="2205823">
                  <a:extLst>
                    <a:ext uri="{9D8B030D-6E8A-4147-A177-3AD203B41FA5}">
                      <a16:colId xmlns:a16="http://schemas.microsoft.com/office/drawing/2014/main" val="736867280"/>
                    </a:ext>
                  </a:extLst>
                </a:gridCol>
              </a:tblGrid>
              <a:tr h="129984">
                <a:tc>
                  <a:txBody>
                    <a:bodyPr/>
                    <a:lstStyle/>
                    <a:p>
                      <a:pPr>
                        <a:buNone/>
                      </a:pPr>
                      <a:r>
                        <a:rPr lang="en-IN" sz="1100"/>
                        <a:t>Domain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Key Controls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Example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3330144"/>
                  </a:ext>
                </a:extLst>
              </a:tr>
              <a:tr h="295374">
                <a:tc>
                  <a:txBody>
                    <a:bodyPr/>
                    <a:lstStyle/>
                    <a:p>
                      <a:pPr>
                        <a:buNone/>
                      </a:pPr>
                      <a:r>
                        <a:rPr lang="en-IN" sz="1100" b="1"/>
                        <a:t>Identity &amp; Access</a:t>
                      </a:r>
                      <a:endParaRPr lang="en-IN"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Cloud‑native IAM, least‑privilege roles, MFA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Azure AD / AWS IAM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7144134"/>
                  </a:ext>
                </a:extLst>
              </a:tr>
              <a:tr h="486498">
                <a:tc>
                  <a:txBody>
                    <a:bodyPr/>
                    <a:lstStyle/>
                    <a:p>
                      <a:pPr>
                        <a:buNone/>
                      </a:pPr>
                      <a:r>
                        <a:rPr lang="en-IN" sz="1100" b="1" dirty="0"/>
                        <a:t>Data Protection</a:t>
                      </a:r>
                      <a:endParaRPr lang="en-I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t>TLS everywhere, encryption‑at‑rest, CSPM (Cloud Security Posture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Prisma Cloud / Defender for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2307763"/>
                  </a:ext>
                </a:extLst>
              </a:tr>
              <a:tr h="295374">
                <a:tc>
                  <a:txBody>
                    <a:bodyPr/>
                    <a:lstStyle/>
                    <a:p>
                      <a:pPr>
                        <a:buNone/>
                      </a:pPr>
                      <a:r>
                        <a:rPr lang="en-IN" sz="1100" b="1"/>
                        <a:t>Network Security</a:t>
                      </a:r>
                      <a:endParaRPr lang="en-IN"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Segmentation, private endpoints, firewall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VPC Security Groups / NSGs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764210"/>
                  </a:ext>
                </a:extLst>
              </a:tr>
              <a:tr h="295374">
                <a:tc>
                  <a:txBody>
                    <a:bodyPr/>
                    <a:lstStyle/>
                    <a:p>
                      <a:pPr>
                        <a:buNone/>
                      </a:pPr>
                      <a:r>
                        <a:rPr lang="en-IN" sz="1100" b="1"/>
                        <a:t>Monitoring &amp; Threat Detection</a:t>
                      </a:r>
                      <a:endParaRPr lang="en-IN"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SIEM integration, anomaly detection, audit logs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Sentinel / Splunk / Dynatrace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30782"/>
                  </a:ext>
                </a:extLst>
              </a:tr>
              <a:tr h="295374">
                <a:tc>
                  <a:txBody>
                    <a:bodyPr/>
                    <a:lstStyle/>
                    <a:p>
                      <a:pPr>
                        <a:buNone/>
                      </a:pPr>
                      <a:r>
                        <a:rPr lang="en-IN" sz="1100" b="1"/>
                        <a:t>Compliance &amp; Governance</a:t>
                      </a:r>
                      <a:endParaRPr lang="en-IN"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ISO 27001, SOC 2 Type II alignment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Automated policy checks via CSPM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3255678"/>
                  </a:ext>
                </a:extLst>
              </a:tr>
            </a:tbl>
          </a:graphicData>
        </a:graphic>
      </p:graphicFrame>
      <p:sp>
        <p:nvSpPr>
          <p:cNvPr id="6" name="TextBox 5">
            <a:extLst>
              <a:ext uri="{FF2B5EF4-FFF2-40B4-BE49-F238E27FC236}">
                <a16:creationId xmlns:a16="http://schemas.microsoft.com/office/drawing/2014/main" id="{CA0C3E8A-726C-535B-1768-13D53B0ED419}"/>
              </a:ext>
            </a:extLst>
          </p:cNvPr>
          <p:cNvSpPr txBox="1"/>
          <p:nvPr/>
        </p:nvSpPr>
        <p:spPr>
          <a:xfrm>
            <a:off x="377573" y="577854"/>
            <a:ext cx="11095234" cy="3785652"/>
          </a:xfrm>
          <a:prstGeom prst="rect">
            <a:avLst/>
          </a:prstGeom>
          <a:noFill/>
        </p:spPr>
        <p:txBody>
          <a:bodyPr wrap="square">
            <a:spAutoFit/>
          </a:bodyPr>
          <a:lstStyle/>
          <a:p>
            <a:pPr>
              <a:buNone/>
            </a:pPr>
            <a:r>
              <a:rPr lang="en-IN" sz="1600" b="1" dirty="0"/>
              <a:t>IAM &amp; Agent Security Flow</a:t>
            </a:r>
          </a:p>
          <a:p>
            <a:pPr>
              <a:buFont typeface="+mj-lt"/>
              <a:buAutoNum type="arabicPeriod"/>
            </a:pPr>
            <a:r>
              <a:rPr lang="en-IN" sz="1600" b="1" dirty="0">
                <a:effectLst/>
              </a:rPr>
              <a:t>AI Agent Authentication</a:t>
            </a:r>
            <a:endParaRPr lang="en-IN" sz="1600" dirty="0"/>
          </a:p>
          <a:p>
            <a:pPr marL="742950" lvl="1" indent="-285750">
              <a:buFont typeface="+mj-lt"/>
              <a:buAutoNum type="arabicPeriod"/>
            </a:pPr>
            <a:r>
              <a:rPr lang="en-IN" sz="1600" dirty="0">
                <a:effectLst/>
              </a:rPr>
              <a:t>The agent (Python LLM auto‑ticket bot) must authenticate via </a:t>
            </a:r>
            <a:r>
              <a:rPr lang="en-IN" sz="1600" b="1" dirty="0">
                <a:effectLst/>
              </a:rPr>
              <a:t>cloud IAM</a:t>
            </a:r>
            <a:r>
              <a:rPr lang="en-IN" sz="1600" dirty="0">
                <a:effectLst/>
              </a:rPr>
              <a:t> (AWS IAM, Azure AD, GCP IAM).</a:t>
            </a:r>
            <a:endParaRPr lang="en-IN" sz="1600" dirty="0"/>
          </a:p>
          <a:p>
            <a:pPr marL="742950" lvl="1" indent="-285750">
              <a:buFont typeface="+mj-lt"/>
              <a:buAutoNum type="arabicPeriod"/>
            </a:pPr>
            <a:r>
              <a:rPr lang="en-IN" sz="1600" dirty="0">
                <a:effectLst/>
              </a:rPr>
              <a:t>Use </a:t>
            </a:r>
            <a:r>
              <a:rPr lang="en-IN" sz="1600" b="1" dirty="0">
                <a:effectLst/>
              </a:rPr>
              <a:t>service accounts</a:t>
            </a:r>
            <a:r>
              <a:rPr lang="en-IN" sz="1600" dirty="0">
                <a:effectLst/>
              </a:rPr>
              <a:t> or </a:t>
            </a:r>
            <a:r>
              <a:rPr lang="en-IN" sz="1600" b="1" dirty="0">
                <a:effectLst/>
              </a:rPr>
              <a:t>managed identities</a:t>
            </a:r>
            <a:r>
              <a:rPr lang="en-IN" sz="1600" dirty="0">
                <a:effectLst/>
              </a:rPr>
              <a:t> with scoped permissions.</a:t>
            </a:r>
            <a:endParaRPr lang="en-IN" sz="1600" dirty="0"/>
          </a:p>
          <a:p>
            <a:pPr>
              <a:buFont typeface="+mj-lt"/>
              <a:buAutoNum type="arabicPeriod"/>
            </a:pPr>
            <a:r>
              <a:rPr lang="en-IN" sz="1600" b="1" dirty="0">
                <a:effectLst/>
              </a:rPr>
              <a:t>Authorization &amp; Least Privilege</a:t>
            </a:r>
            <a:endParaRPr lang="en-IN" sz="1600" dirty="0"/>
          </a:p>
          <a:p>
            <a:pPr marL="742950" lvl="1" indent="-285750">
              <a:buFont typeface="+mj-lt"/>
              <a:buAutoNum type="arabicPeriod"/>
            </a:pPr>
            <a:r>
              <a:rPr lang="en-IN" sz="1600" dirty="0">
                <a:effectLst/>
              </a:rPr>
              <a:t>Agent only allowed to </a:t>
            </a:r>
            <a:r>
              <a:rPr lang="en-IN" sz="1600" b="1" dirty="0">
                <a:effectLst/>
              </a:rPr>
              <a:t>fetch logs/metrics</a:t>
            </a:r>
            <a:r>
              <a:rPr lang="en-IN" sz="1600" dirty="0">
                <a:effectLst/>
              </a:rPr>
              <a:t> from observability sources.</a:t>
            </a:r>
            <a:endParaRPr lang="en-IN" sz="1600" dirty="0"/>
          </a:p>
          <a:p>
            <a:pPr marL="742950" lvl="1" indent="-285750">
              <a:buFont typeface="+mj-lt"/>
              <a:buAutoNum type="arabicPeriod"/>
            </a:pPr>
            <a:r>
              <a:rPr lang="en-IN" sz="1600" dirty="0">
                <a:effectLst/>
              </a:rPr>
              <a:t>RBAC ensures it cannot escalate into unrelated systems (e.g., DB writes, admin actions).</a:t>
            </a:r>
            <a:endParaRPr lang="en-IN" sz="1600" dirty="0"/>
          </a:p>
          <a:p>
            <a:pPr>
              <a:buFont typeface="+mj-lt"/>
              <a:buAutoNum type="arabicPeriod"/>
            </a:pPr>
            <a:r>
              <a:rPr lang="en-IN" sz="1600" b="1" dirty="0">
                <a:effectLst/>
              </a:rPr>
              <a:t>Secure Connectivity</a:t>
            </a:r>
            <a:endParaRPr lang="en-IN" sz="1600" dirty="0"/>
          </a:p>
          <a:p>
            <a:pPr marL="742950" lvl="1" indent="-285750">
              <a:buFont typeface="+mj-lt"/>
              <a:buAutoNum type="arabicPeriod"/>
            </a:pPr>
            <a:r>
              <a:rPr lang="en-IN" sz="1600" dirty="0">
                <a:effectLst/>
              </a:rPr>
              <a:t>If connecting to existing systems (e.g., legacy monitoring, ITSM), enforce:</a:t>
            </a:r>
            <a:endParaRPr lang="en-IN" sz="1600" dirty="0"/>
          </a:p>
          <a:p>
            <a:pPr marL="1143000" lvl="2" indent="-228600">
              <a:buFont typeface="+mj-lt"/>
              <a:buAutoNum type="arabicPeriod"/>
            </a:pPr>
            <a:r>
              <a:rPr lang="en-IN" sz="1600" b="1" dirty="0">
                <a:effectLst/>
              </a:rPr>
              <a:t>Private endpoints / VPC peering</a:t>
            </a:r>
            <a:endParaRPr lang="en-IN" sz="1600" dirty="0"/>
          </a:p>
          <a:p>
            <a:pPr marL="1143000" lvl="2" indent="-228600">
              <a:buFont typeface="+mj-lt"/>
              <a:buAutoNum type="arabicPeriod"/>
            </a:pPr>
            <a:r>
              <a:rPr lang="en-IN" sz="1600" b="1" dirty="0">
                <a:effectLst/>
              </a:rPr>
              <a:t>TLS mutual authentication</a:t>
            </a:r>
            <a:endParaRPr lang="en-IN" sz="1600" dirty="0"/>
          </a:p>
          <a:p>
            <a:pPr marL="1143000" lvl="2" indent="-228600">
              <a:buFont typeface="+mj-lt"/>
              <a:buAutoNum type="arabicPeriod"/>
            </a:pPr>
            <a:r>
              <a:rPr lang="en-IN" sz="1600" b="1" dirty="0">
                <a:effectLst/>
              </a:rPr>
              <a:t>API gateway policies</a:t>
            </a:r>
            <a:endParaRPr lang="en-IN" sz="1600" dirty="0"/>
          </a:p>
          <a:p>
            <a:pPr>
              <a:buFont typeface="+mj-lt"/>
              <a:buAutoNum type="arabicPeriod"/>
            </a:pPr>
            <a:r>
              <a:rPr lang="en-IN" sz="1600" b="1" dirty="0">
                <a:effectLst/>
              </a:rPr>
              <a:t>Audit &amp; Monitoring</a:t>
            </a:r>
            <a:endParaRPr lang="en-IN" sz="1600" dirty="0"/>
          </a:p>
          <a:p>
            <a:pPr marL="742950" lvl="1" indent="-285750">
              <a:buFont typeface="+mj-lt"/>
              <a:buAutoNum type="arabicPeriod"/>
            </a:pPr>
            <a:r>
              <a:rPr lang="en-IN" sz="1600" dirty="0">
                <a:effectLst/>
              </a:rPr>
              <a:t>Every agent action (fetch log, raise ticket) logged in </a:t>
            </a:r>
            <a:r>
              <a:rPr lang="en-IN" sz="1600" b="1" dirty="0">
                <a:effectLst/>
              </a:rPr>
              <a:t>SIEM</a:t>
            </a:r>
            <a:r>
              <a:rPr lang="en-IN" sz="1600" dirty="0">
                <a:effectLst/>
              </a:rPr>
              <a:t>.</a:t>
            </a:r>
            <a:endParaRPr lang="en-IN" sz="1600" dirty="0"/>
          </a:p>
          <a:p>
            <a:pPr marL="742950" lvl="1" indent="-285750">
              <a:buFont typeface="+mj-lt"/>
              <a:buAutoNum type="arabicPeriod"/>
            </a:pPr>
            <a:r>
              <a:rPr lang="en-IN" sz="1600" dirty="0">
                <a:effectLst/>
              </a:rPr>
              <a:t>Alerts for unusual </a:t>
            </a:r>
            <a:r>
              <a:rPr lang="en-IN" sz="1600" dirty="0" err="1">
                <a:effectLst/>
              </a:rPr>
              <a:t>behavior</a:t>
            </a:r>
            <a:r>
              <a:rPr lang="en-IN" sz="1600" dirty="0">
                <a:effectLst/>
              </a:rPr>
              <a:t> (e.g., agent fetching data outside CPU/RAM scope).</a:t>
            </a:r>
            <a:endParaRPr lang="en-IN" sz="1600" dirty="0"/>
          </a:p>
        </p:txBody>
      </p:sp>
      <p:sp>
        <p:nvSpPr>
          <p:cNvPr id="8" name="TextBox 7">
            <a:extLst>
              <a:ext uri="{FF2B5EF4-FFF2-40B4-BE49-F238E27FC236}">
                <a16:creationId xmlns:a16="http://schemas.microsoft.com/office/drawing/2014/main" id="{64DFFFF7-83B9-5EC4-A940-E5F40B415148}"/>
              </a:ext>
            </a:extLst>
          </p:cNvPr>
          <p:cNvSpPr txBox="1"/>
          <p:nvPr/>
        </p:nvSpPr>
        <p:spPr>
          <a:xfrm>
            <a:off x="42381" y="50496"/>
            <a:ext cx="7846888" cy="369332"/>
          </a:xfrm>
          <a:prstGeom prst="rect">
            <a:avLst/>
          </a:prstGeom>
          <a:noFill/>
        </p:spPr>
        <p:txBody>
          <a:bodyPr wrap="square">
            <a:spAutoFit/>
          </a:bodyPr>
          <a:lstStyle/>
          <a:p>
            <a:r>
              <a:rPr lang="en-US" dirty="0"/>
              <a:t>IAM ensures the AI agent is authenticated, authorized, and monitored</a:t>
            </a:r>
            <a:endParaRPr lang="en-IN" dirty="0"/>
          </a:p>
        </p:txBody>
      </p:sp>
      <p:sp>
        <p:nvSpPr>
          <p:cNvPr id="9" name="Rectangle 1">
            <a:extLst>
              <a:ext uri="{FF2B5EF4-FFF2-40B4-BE49-F238E27FC236}">
                <a16:creationId xmlns:a16="http://schemas.microsoft.com/office/drawing/2014/main" id="{5F7D0F91-E020-AD6D-165C-B6FD4042D17E}"/>
              </a:ext>
            </a:extLst>
          </p:cNvPr>
          <p:cNvSpPr>
            <a:spLocks noChangeArrowheads="1"/>
          </p:cNvSpPr>
          <p:nvPr/>
        </p:nvSpPr>
        <p:spPr bwMode="auto">
          <a:xfrm>
            <a:off x="246580" y="5034068"/>
            <a:ext cx="371924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Cloud Native App</a:t>
            </a:r>
            <a:r>
              <a:rPr kumimoji="0" lang="en-US" altLang="en-US" sz="14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AI Agent (Python LLM)</a:t>
            </a:r>
            <a:r>
              <a:rPr kumimoji="0" lang="en-US" altLang="en-US" sz="14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IAM Authentication</a:t>
            </a:r>
            <a:r>
              <a:rPr kumimoji="0" lang="en-US" altLang="en-US" sz="14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Existing System Logs</a:t>
            </a:r>
            <a:r>
              <a:rPr kumimoji="0" lang="en-US" altLang="en-US" sz="14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Auto Ticket Resolution</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Security overlays: IAM, RBAC, TLS, SIEM.</a:t>
            </a:r>
          </a:p>
        </p:txBody>
      </p:sp>
      <p:pic>
        <p:nvPicPr>
          <p:cNvPr id="3077" name="Picture 5">
            <a:extLst>
              <a:ext uri="{FF2B5EF4-FFF2-40B4-BE49-F238E27FC236}">
                <a16:creationId xmlns:a16="http://schemas.microsoft.com/office/drawing/2014/main" id="{B6E0CE9A-F1DD-D66B-682A-2846392BA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1486" y="1711551"/>
            <a:ext cx="3860514" cy="2573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636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28AA6D-A170-B8E2-C7E1-DA101E3BE38E}"/>
              </a:ext>
            </a:extLst>
          </p:cNvPr>
          <p:cNvSpPr txBox="1"/>
          <p:nvPr/>
        </p:nvSpPr>
        <p:spPr>
          <a:xfrm>
            <a:off x="3190983" y="205750"/>
            <a:ext cx="6097712" cy="369332"/>
          </a:xfrm>
          <a:prstGeom prst="rect">
            <a:avLst/>
          </a:prstGeom>
          <a:noFill/>
        </p:spPr>
        <p:txBody>
          <a:bodyPr wrap="square">
            <a:spAutoFit/>
          </a:bodyPr>
          <a:lstStyle/>
          <a:p>
            <a:r>
              <a:rPr lang="en-IN" dirty="0"/>
              <a:t>S1 Cloud Native — Security Architecture &amp; Governance</a:t>
            </a:r>
          </a:p>
        </p:txBody>
      </p:sp>
      <p:sp>
        <p:nvSpPr>
          <p:cNvPr id="7" name="TextBox 6">
            <a:extLst>
              <a:ext uri="{FF2B5EF4-FFF2-40B4-BE49-F238E27FC236}">
                <a16:creationId xmlns:a16="http://schemas.microsoft.com/office/drawing/2014/main" id="{5D0429B3-71CD-9451-926B-16686EE15A67}"/>
              </a:ext>
            </a:extLst>
          </p:cNvPr>
          <p:cNvSpPr txBox="1"/>
          <p:nvPr/>
        </p:nvSpPr>
        <p:spPr>
          <a:xfrm>
            <a:off x="3048856" y="2277406"/>
            <a:ext cx="6097712" cy="2308324"/>
          </a:xfrm>
          <a:prstGeom prst="rect">
            <a:avLst/>
          </a:prstGeom>
          <a:noFill/>
        </p:spPr>
        <p:txBody>
          <a:bodyPr wrap="square">
            <a:spAutoFit/>
          </a:bodyPr>
          <a:lstStyle/>
          <a:p>
            <a:r>
              <a:rPr lang="en-IN" dirty="0"/>
              <a:t>AI Agent (Python LLM)</a:t>
            </a:r>
          </a:p>
          <a:p>
            <a:r>
              <a:rPr lang="en-IN" dirty="0"/>
              <a:t>   ↓ Authenticates via Managed Identity</a:t>
            </a:r>
          </a:p>
          <a:p>
            <a:r>
              <a:rPr lang="en-IN" dirty="0"/>
              <a:t>Azure AD / Entra ID</a:t>
            </a:r>
          </a:p>
          <a:p>
            <a:r>
              <a:rPr lang="en-IN" dirty="0"/>
              <a:t>   ↓ Authorized by RBAC (Log Analytics Reader)</a:t>
            </a:r>
          </a:p>
          <a:p>
            <a:r>
              <a:rPr lang="en-IN" dirty="0"/>
              <a:t>Azure Monitor / Log Analytics</a:t>
            </a:r>
          </a:p>
          <a:p>
            <a:r>
              <a:rPr lang="en-IN" dirty="0"/>
              <a:t>   ↓ Fetches Logs Securely (TLS)</a:t>
            </a:r>
          </a:p>
          <a:p>
            <a:r>
              <a:rPr lang="en-IN" dirty="0"/>
              <a:t>   ↓ Creates Auto Ticket (ServiceNow API)</a:t>
            </a:r>
          </a:p>
          <a:p>
            <a:r>
              <a:rPr lang="en-IN" dirty="0"/>
              <a:t>Sentinel SIEM → Monitors + Audits Actions</a:t>
            </a:r>
          </a:p>
        </p:txBody>
      </p:sp>
    </p:spTree>
    <p:extLst>
      <p:ext uri="{BB962C8B-B14F-4D97-AF65-F5344CB8AC3E}">
        <p14:creationId xmlns:p14="http://schemas.microsoft.com/office/powerpoint/2010/main" val="1760667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8A29B27-3276-0ACC-FBAB-3FFC0D160605}"/>
              </a:ext>
            </a:extLst>
          </p:cNvPr>
          <p:cNvGraphicFramePr>
            <a:graphicFrameLocks noGrp="1"/>
          </p:cNvGraphicFramePr>
          <p:nvPr/>
        </p:nvGraphicFramePr>
        <p:xfrm>
          <a:off x="216900" y="418064"/>
          <a:ext cx="11783316" cy="6270412"/>
        </p:xfrm>
        <a:graphic>
          <a:graphicData uri="http://schemas.openxmlformats.org/drawingml/2006/table">
            <a:tbl>
              <a:tblPr/>
              <a:tblGrid>
                <a:gridCol w="3927772">
                  <a:extLst>
                    <a:ext uri="{9D8B030D-6E8A-4147-A177-3AD203B41FA5}">
                      <a16:colId xmlns:a16="http://schemas.microsoft.com/office/drawing/2014/main" val="453191792"/>
                    </a:ext>
                  </a:extLst>
                </a:gridCol>
                <a:gridCol w="3927772">
                  <a:extLst>
                    <a:ext uri="{9D8B030D-6E8A-4147-A177-3AD203B41FA5}">
                      <a16:colId xmlns:a16="http://schemas.microsoft.com/office/drawing/2014/main" val="3761352308"/>
                    </a:ext>
                  </a:extLst>
                </a:gridCol>
                <a:gridCol w="3927772">
                  <a:extLst>
                    <a:ext uri="{9D8B030D-6E8A-4147-A177-3AD203B41FA5}">
                      <a16:colId xmlns:a16="http://schemas.microsoft.com/office/drawing/2014/main" val="1475667324"/>
                    </a:ext>
                  </a:extLst>
                </a:gridCol>
              </a:tblGrid>
              <a:tr h="411175">
                <a:tc>
                  <a:txBody>
                    <a:bodyPr/>
                    <a:lstStyle/>
                    <a:p>
                      <a:pPr>
                        <a:buNone/>
                      </a:pPr>
                      <a:r>
                        <a:rPr lang="en-IN" sz="2000"/>
                        <a:t>Step</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Component</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Purpose</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6660569"/>
                  </a:ext>
                </a:extLst>
              </a:tr>
              <a:tr h="1027936">
                <a:tc>
                  <a:txBody>
                    <a:bodyPr/>
                    <a:lstStyle/>
                    <a:p>
                      <a:pPr>
                        <a:buNone/>
                      </a:pPr>
                      <a:r>
                        <a:rPr lang="en-IN" sz="2000" b="1"/>
                        <a:t>1. Create Managed Identity</a:t>
                      </a:r>
                      <a:endParaRPr lang="en-IN" sz="2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Assign a </a:t>
                      </a:r>
                      <a:r>
                        <a:rPr lang="en-US" sz="2000" b="1"/>
                        <a:t>system‑managed identity</a:t>
                      </a:r>
                      <a:r>
                        <a:rPr lang="en-US" sz="2000"/>
                        <a:t> to your Python LLM agent (running in AKS, VM, or Function App).</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Enables secure authentication without storing credentials.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375448"/>
                  </a:ext>
                </a:extLst>
              </a:tr>
              <a:tr h="1027936">
                <a:tc>
                  <a:txBody>
                    <a:bodyPr/>
                    <a:lstStyle/>
                    <a:p>
                      <a:pPr>
                        <a:buNone/>
                      </a:pPr>
                      <a:r>
                        <a:rPr lang="en-IN" sz="2000" b="1"/>
                        <a:t>2. Define RBAC Roles</a:t>
                      </a:r>
                      <a:endParaRPr lang="en-IN" sz="2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Use </a:t>
                      </a:r>
                      <a:r>
                        <a:rPr lang="en-US" sz="2000" b="1" dirty="0"/>
                        <a:t>Azure RBAC</a:t>
                      </a:r>
                      <a:r>
                        <a:rPr lang="en-US" sz="2000" dirty="0"/>
                        <a:t> to grant least‑privilege access (e.g., “Log Analytics Reader”).</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Restricts agent to read‑only log access.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378488"/>
                  </a:ext>
                </a:extLst>
              </a:tr>
              <a:tr h="1336317">
                <a:tc>
                  <a:txBody>
                    <a:bodyPr/>
                    <a:lstStyle/>
                    <a:p>
                      <a:pPr>
                        <a:buNone/>
                      </a:pPr>
                      <a:r>
                        <a:rPr lang="en-IN" sz="2000" b="1"/>
                        <a:t>3. Secure API Access</a:t>
                      </a:r>
                      <a:endParaRPr lang="en-IN" sz="2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If the agent calls APIs (e.g., ServiceNow, Dynatrace), use </a:t>
                      </a:r>
                      <a:r>
                        <a:rPr lang="en-US" sz="2000" b="1"/>
                        <a:t>Azure API Management</a:t>
                      </a:r>
                      <a:r>
                        <a:rPr lang="en-US" sz="2000"/>
                        <a:t> with OAuth2/JWT.</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Ensures secure, token‑based communication.</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0992226"/>
                  </a:ext>
                </a:extLst>
              </a:tr>
              <a:tr h="719556">
                <a:tc>
                  <a:txBody>
                    <a:bodyPr/>
                    <a:lstStyle/>
                    <a:p>
                      <a:pPr>
                        <a:buNone/>
                      </a:pPr>
                      <a:r>
                        <a:rPr lang="it-IT" sz="2000" b="1"/>
                        <a:t>4. Encrypt Data in Transit</a:t>
                      </a:r>
                      <a:endParaRPr lang="it-IT" sz="2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Enforce </a:t>
                      </a:r>
                      <a:r>
                        <a:rPr lang="en-US" sz="2000" b="1"/>
                        <a:t>TLS 1.2+</a:t>
                      </a:r>
                      <a:r>
                        <a:rPr lang="en-US" sz="2000"/>
                        <a:t> for all outbound connections.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Protects log data during transfer.</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8193609"/>
                  </a:ext>
                </a:extLst>
              </a:tr>
              <a:tr h="719556">
                <a:tc>
                  <a:txBody>
                    <a:bodyPr/>
                    <a:lstStyle/>
                    <a:p>
                      <a:pPr>
                        <a:buNone/>
                      </a:pPr>
                      <a:r>
                        <a:rPr lang="en-IN" sz="2000" b="1"/>
                        <a:t>5. Monitor &amp; Audit</a:t>
                      </a:r>
                      <a:endParaRPr lang="en-IN" sz="2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Integrate with </a:t>
                      </a:r>
                      <a:r>
                        <a:rPr lang="en-US" sz="2000" b="1"/>
                        <a:t>Microsoft Sentinel</a:t>
                      </a:r>
                      <a:r>
                        <a:rPr lang="en-US" sz="2000"/>
                        <a:t> or </a:t>
                      </a:r>
                      <a:r>
                        <a:rPr lang="en-US" sz="2000" b="1"/>
                        <a:t>Defender for Cloud</a:t>
                      </a:r>
                      <a:r>
                        <a:rPr lang="en-US" sz="2000"/>
                        <a:t>.</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Tracks agent actions, anomalies, and ticket creation events.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1408504"/>
                  </a:ext>
                </a:extLst>
              </a:tr>
              <a:tr h="1027936">
                <a:tc>
                  <a:txBody>
                    <a:bodyPr/>
                    <a:lstStyle/>
                    <a:p>
                      <a:pPr>
                        <a:buNone/>
                      </a:pPr>
                      <a:r>
                        <a:rPr lang="en-IN" sz="2000" b="1"/>
                        <a:t>6. Automate Alerts</a:t>
                      </a:r>
                      <a:endParaRPr lang="en-IN" sz="2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Use </a:t>
                      </a:r>
                      <a:r>
                        <a:rPr lang="en-US" sz="2000" b="1"/>
                        <a:t>KQL queries</a:t>
                      </a:r>
                      <a:r>
                        <a:rPr lang="en-US" sz="2000"/>
                        <a:t> in Sentinel to detect unusual agent behavior (e.g., excessive log fetches).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Enables proactive threat detection.</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1413588"/>
                  </a:ext>
                </a:extLst>
              </a:tr>
            </a:tbl>
          </a:graphicData>
        </a:graphic>
      </p:graphicFrame>
    </p:spTree>
    <p:extLst>
      <p:ext uri="{BB962C8B-B14F-4D97-AF65-F5344CB8AC3E}">
        <p14:creationId xmlns:p14="http://schemas.microsoft.com/office/powerpoint/2010/main" val="2858066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729C09-A2C3-4327-DAE6-B62BA7EE0A06}"/>
              </a:ext>
            </a:extLst>
          </p:cNvPr>
          <p:cNvSpPr txBox="1"/>
          <p:nvPr/>
        </p:nvSpPr>
        <p:spPr>
          <a:xfrm>
            <a:off x="3048856" y="2138907"/>
            <a:ext cx="6097712" cy="2585323"/>
          </a:xfrm>
          <a:prstGeom prst="rect">
            <a:avLst/>
          </a:prstGeom>
          <a:noFill/>
        </p:spPr>
        <p:txBody>
          <a:bodyPr wrap="square">
            <a:spAutoFit/>
          </a:bodyPr>
          <a:lstStyle/>
          <a:p>
            <a:r>
              <a:rPr lang="en-IN" dirty="0"/>
              <a:t>Cloud Native Application</a:t>
            </a:r>
          </a:p>
          <a:p>
            <a:r>
              <a:rPr lang="en-IN" dirty="0"/>
              <a:t>   ↓ Metrics/Logs → Azure Monitor / Log Analytics</a:t>
            </a:r>
          </a:p>
          <a:p>
            <a:r>
              <a:rPr lang="en-IN" dirty="0"/>
              <a:t>AI Agent (Python LLM)</a:t>
            </a:r>
          </a:p>
          <a:p>
            <a:r>
              <a:rPr lang="en-IN" dirty="0"/>
              <a:t>   ↓ Authenticates via Managed Identity</a:t>
            </a:r>
          </a:p>
          <a:p>
            <a:r>
              <a:rPr lang="en-IN" dirty="0"/>
              <a:t>Azure Entra ID (IAM)</a:t>
            </a:r>
          </a:p>
          <a:p>
            <a:r>
              <a:rPr lang="en-IN" dirty="0"/>
              <a:t>   ↓ Authorized by RBAC (Log Analytics Reader)</a:t>
            </a:r>
          </a:p>
          <a:p>
            <a:r>
              <a:rPr lang="en-IN" dirty="0"/>
              <a:t>   ↓ Secure TLS Connection</a:t>
            </a:r>
          </a:p>
          <a:p>
            <a:r>
              <a:rPr lang="en-IN" dirty="0"/>
              <a:t>Fetch Logs → Auto Ticket (ServiceNow API)</a:t>
            </a:r>
          </a:p>
          <a:p>
            <a:r>
              <a:rPr lang="en-IN" dirty="0"/>
              <a:t>Sentinel SIEM → Audit + Alerts</a:t>
            </a:r>
          </a:p>
        </p:txBody>
      </p:sp>
      <p:sp>
        <p:nvSpPr>
          <p:cNvPr id="7" name="TextBox 6">
            <a:extLst>
              <a:ext uri="{FF2B5EF4-FFF2-40B4-BE49-F238E27FC236}">
                <a16:creationId xmlns:a16="http://schemas.microsoft.com/office/drawing/2014/main" id="{83BB2E92-C15A-FE38-3614-F69AF9F4E3AD}"/>
              </a:ext>
            </a:extLst>
          </p:cNvPr>
          <p:cNvSpPr txBox="1"/>
          <p:nvPr/>
        </p:nvSpPr>
        <p:spPr>
          <a:xfrm>
            <a:off x="387848" y="401767"/>
            <a:ext cx="11232223" cy="923330"/>
          </a:xfrm>
          <a:prstGeom prst="rect">
            <a:avLst/>
          </a:prstGeom>
          <a:noFill/>
        </p:spPr>
        <p:txBody>
          <a:bodyPr wrap="square">
            <a:spAutoFit/>
          </a:bodyPr>
          <a:lstStyle/>
          <a:p>
            <a:pPr>
              <a:buNone/>
            </a:pPr>
            <a:r>
              <a:rPr lang="en-US" dirty="0">
                <a:effectLst/>
              </a:rPr>
              <a:t>“In S1 Cloud Native, our AI agent runs inside your cloud tenant. It authenticates with Entra ID, operates under least‑privilege RBAC, and every action is monitored in Sentinel. This ensures secure, compliant auto‑ticketing without disturbing your production workloads.”</a:t>
            </a:r>
            <a:endParaRPr lang="en-US" dirty="0"/>
          </a:p>
        </p:txBody>
      </p:sp>
      <p:pic>
        <p:nvPicPr>
          <p:cNvPr id="9" name="Picture 8">
            <a:extLst>
              <a:ext uri="{FF2B5EF4-FFF2-40B4-BE49-F238E27FC236}">
                <a16:creationId xmlns:a16="http://schemas.microsoft.com/office/drawing/2014/main" id="{A78ABC2B-60C4-6952-434B-ED897BFE3960}"/>
              </a:ext>
            </a:extLst>
          </p:cNvPr>
          <p:cNvPicPr>
            <a:picLocks noChangeAspect="1"/>
          </p:cNvPicPr>
          <p:nvPr/>
        </p:nvPicPr>
        <p:blipFill>
          <a:blip r:embed="rId2"/>
          <a:stretch>
            <a:fillRect/>
          </a:stretch>
        </p:blipFill>
        <p:spPr>
          <a:xfrm>
            <a:off x="9222095" y="2352782"/>
            <a:ext cx="4737059" cy="2478725"/>
          </a:xfrm>
          <a:prstGeom prst="rect">
            <a:avLst/>
          </a:prstGeom>
        </p:spPr>
      </p:pic>
      <p:pic>
        <p:nvPicPr>
          <p:cNvPr id="11" name="Picture 10">
            <a:extLst>
              <a:ext uri="{FF2B5EF4-FFF2-40B4-BE49-F238E27FC236}">
                <a16:creationId xmlns:a16="http://schemas.microsoft.com/office/drawing/2014/main" id="{F7AF4873-549C-C75E-070B-CF0C97409754}"/>
              </a:ext>
            </a:extLst>
          </p:cNvPr>
          <p:cNvPicPr>
            <a:picLocks noChangeAspect="1"/>
          </p:cNvPicPr>
          <p:nvPr/>
        </p:nvPicPr>
        <p:blipFill>
          <a:blip r:embed="rId3"/>
          <a:stretch>
            <a:fillRect/>
          </a:stretch>
        </p:blipFill>
        <p:spPr>
          <a:xfrm>
            <a:off x="863028" y="4911543"/>
            <a:ext cx="5986409" cy="2412339"/>
          </a:xfrm>
          <a:prstGeom prst="rect">
            <a:avLst/>
          </a:prstGeom>
        </p:spPr>
      </p:pic>
    </p:spTree>
    <p:extLst>
      <p:ext uri="{BB962C8B-B14F-4D97-AF65-F5344CB8AC3E}">
        <p14:creationId xmlns:p14="http://schemas.microsoft.com/office/powerpoint/2010/main" val="1164844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F579-6612-5E51-083D-26788CC907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2035E4-14EF-C77A-04AB-7448EC08991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1B9F25E-DE38-E5CF-4CF8-B3DB3549F24F}"/>
              </a:ext>
            </a:extLst>
          </p:cNvPr>
          <p:cNvPicPr>
            <a:picLocks noChangeAspect="1"/>
          </p:cNvPicPr>
          <p:nvPr/>
        </p:nvPicPr>
        <p:blipFill>
          <a:blip r:embed="rId2"/>
          <a:stretch>
            <a:fillRect/>
          </a:stretch>
        </p:blipFill>
        <p:spPr>
          <a:xfrm>
            <a:off x="366169" y="0"/>
            <a:ext cx="11459661" cy="6858000"/>
          </a:xfrm>
          <a:prstGeom prst="rect">
            <a:avLst/>
          </a:prstGeom>
        </p:spPr>
      </p:pic>
      <p:pic>
        <p:nvPicPr>
          <p:cNvPr id="7" name="Picture 6">
            <a:extLst>
              <a:ext uri="{FF2B5EF4-FFF2-40B4-BE49-F238E27FC236}">
                <a16:creationId xmlns:a16="http://schemas.microsoft.com/office/drawing/2014/main" id="{4A35F253-D45C-E2BB-2780-C1D1E5462025}"/>
              </a:ext>
            </a:extLst>
          </p:cNvPr>
          <p:cNvPicPr>
            <a:picLocks noChangeAspect="1"/>
          </p:cNvPicPr>
          <p:nvPr/>
        </p:nvPicPr>
        <p:blipFill>
          <a:blip r:embed="rId3"/>
          <a:stretch>
            <a:fillRect/>
          </a:stretch>
        </p:blipFill>
        <p:spPr>
          <a:xfrm>
            <a:off x="5712430" y="3207920"/>
            <a:ext cx="6332823" cy="3650080"/>
          </a:xfrm>
          <a:prstGeom prst="rect">
            <a:avLst/>
          </a:prstGeom>
        </p:spPr>
      </p:pic>
      <p:pic>
        <p:nvPicPr>
          <p:cNvPr id="9" name="Picture 8">
            <a:extLst>
              <a:ext uri="{FF2B5EF4-FFF2-40B4-BE49-F238E27FC236}">
                <a16:creationId xmlns:a16="http://schemas.microsoft.com/office/drawing/2014/main" id="{29C1F826-4EF1-F26E-4F67-CF546EBEB6FD}"/>
              </a:ext>
            </a:extLst>
          </p:cNvPr>
          <p:cNvPicPr>
            <a:picLocks noChangeAspect="1"/>
          </p:cNvPicPr>
          <p:nvPr/>
        </p:nvPicPr>
        <p:blipFill>
          <a:blip r:embed="rId4"/>
          <a:stretch>
            <a:fillRect/>
          </a:stretch>
        </p:blipFill>
        <p:spPr>
          <a:xfrm>
            <a:off x="6096000" y="3429000"/>
            <a:ext cx="6096000" cy="3427610"/>
          </a:xfrm>
          <a:prstGeom prst="rect">
            <a:avLst/>
          </a:prstGeom>
        </p:spPr>
      </p:pic>
    </p:spTree>
    <p:extLst>
      <p:ext uri="{BB962C8B-B14F-4D97-AF65-F5344CB8AC3E}">
        <p14:creationId xmlns:p14="http://schemas.microsoft.com/office/powerpoint/2010/main" val="4082140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0C2B7A1-9870-065A-25BB-C740BD9AB143}"/>
              </a:ext>
            </a:extLst>
          </p:cNvPr>
          <p:cNvGraphicFramePr>
            <a:graphicFrameLocks noGrp="1"/>
          </p:cNvGraphicFramePr>
          <p:nvPr/>
        </p:nvGraphicFramePr>
        <p:xfrm>
          <a:off x="223177" y="277876"/>
          <a:ext cx="11745645" cy="7254240"/>
        </p:xfrm>
        <a:graphic>
          <a:graphicData uri="http://schemas.openxmlformats.org/drawingml/2006/table">
            <a:tbl>
              <a:tblPr firstRow="1" bandRow="1">
                <a:tableStyleId>{5C22544A-7EE6-4342-B048-85BDC9FD1C3A}</a:tableStyleId>
              </a:tblPr>
              <a:tblGrid>
                <a:gridCol w="3915215">
                  <a:extLst>
                    <a:ext uri="{9D8B030D-6E8A-4147-A177-3AD203B41FA5}">
                      <a16:colId xmlns:a16="http://schemas.microsoft.com/office/drawing/2014/main" val="185437191"/>
                    </a:ext>
                  </a:extLst>
                </a:gridCol>
                <a:gridCol w="3915215">
                  <a:extLst>
                    <a:ext uri="{9D8B030D-6E8A-4147-A177-3AD203B41FA5}">
                      <a16:colId xmlns:a16="http://schemas.microsoft.com/office/drawing/2014/main" val="2444961133"/>
                    </a:ext>
                  </a:extLst>
                </a:gridCol>
                <a:gridCol w="3915215">
                  <a:extLst>
                    <a:ext uri="{9D8B030D-6E8A-4147-A177-3AD203B41FA5}">
                      <a16:colId xmlns:a16="http://schemas.microsoft.com/office/drawing/2014/main" val="120212113"/>
                    </a:ext>
                  </a:extLst>
                </a:gridCol>
              </a:tblGrid>
              <a:tr h="246106">
                <a:tc gridSpan="3">
                  <a:txBody>
                    <a:bodyPr/>
                    <a:lstStyle/>
                    <a:p>
                      <a:r>
                        <a:rPr lang="en-US" sz="1600" dirty="0"/>
                        <a:t>Our AI agent authenticates using a customer‑controlled Managed Identity — no credentials stored, no external access. The customer defines RBAC and Key Vault permissions, ensuring full governance and auditability.</a:t>
                      </a:r>
                      <a:endParaRPr lang="en-IN" sz="1600" dirty="0"/>
                    </a:p>
                  </a:txBody>
                  <a:tcPr/>
                </a:tc>
                <a:tc hMerge="1">
                  <a:txBody>
                    <a:bodyPr/>
                    <a:lstStyle/>
                    <a:p>
                      <a:endParaRPr lang="en-IN" sz="1600" dirty="0"/>
                    </a:p>
                  </a:txBody>
                  <a:tcPr/>
                </a:tc>
                <a:tc hMerge="1">
                  <a:txBody>
                    <a:bodyPr/>
                    <a:lstStyle/>
                    <a:p>
                      <a:endParaRPr lang="en-IN" sz="1600" dirty="0"/>
                    </a:p>
                  </a:txBody>
                  <a:tcPr/>
                </a:tc>
                <a:extLst>
                  <a:ext uri="{0D108BD9-81ED-4DB2-BD59-A6C34878D82A}">
                    <a16:rowId xmlns:a16="http://schemas.microsoft.com/office/drawing/2014/main" val="958694165"/>
                  </a:ext>
                </a:extLst>
              </a:tr>
              <a:tr h="3446743">
                <a:tc>
                  <a:txBody>
                    <a:bodyPr/>
                    <a:lstStyle/>
                    <a:p>
                      <a:r>
                        <a:rPr lang="en-US" sz="1600" b="1" dirty="0"/>
                        <a:t>🧩 Managed Identity — What It Really Means Here</a:t>
                      </a:r>
                    </a:p>
                    <a:p>
                      <a:r>
                        <a:rPr lang="en-US" sz="1600" dirty="0">
                          <a:effectLst/>
                        </a:rPr>
                        <a:t>In Azure, a </a:t>
                      </a:r>
                      <a:r>
                        <a:rPr lang="en-US" sz="1600" b="1" dirty="0">
                          <a:effectLst/>
                        </a:rPr>
                        <a:t>Managed Identity</a:t>
                      </a:r>
                      <a:r>
                        <a:rPr lang="en-US" sz="1600" dirty="0">
                          <a:effectLst/>
                        </a:rPr>
                        <a:t> is a secure way for your application (like your Python LLM‑based AIOps agent) to authenticate </a:t>
                      </a:r>
                      <a:r>
                        <a:rPr lang="en-US" sz="1600" b="1" dirty="0">
                          <a:effectLst/>
                        </a:rPr>
                        <a:t>without storing credentials</a:t>
                      </a:r>
                      <a:r>
                        <a:rPr lang="en-US" sz="1600" dirty="0">
                          <a:effectLst/>
                        </a:rPr>
                        <a:t>. It’s not a breach — it’s actually the </a:t>
                      </a:r>
                      <a:r>
                        <a:rPr lang="en-US" sz="1600" b="1" dirty="0">
                          <a:effectLst/>
                        </a:rPr>
                        <a:t>Microsoft‑recommended best practice</a:t>
                      </a:r>
                      <a:r>
                        <a:rPr lang="en-US" sz="1600" dirty="0">
                          <a:effectLst/>
                        </a:rPr>
                        <a:t> for intra‑cloud authentication.</a:t>
                      </a:r>
                      <a:endParaRPr lang="en-US" sz="1600" dirty="0"/>
                    </a:p>
                    <a:p>
                      <a:r>
                        <a:rPr lang="en-US" sz="1600" dirty="0">
                          <a:effectLst/>
                        </a:rPr>
                        <a:t>Here’s how it works:</a:t>
                      </a:r>
                      <a:endParaRPr lang="en-US" sz="1600" dirty="0"/>
                    </a:p>
                    <a:p>
                      <a:r>
                        <a:rPr lang="en-US" sz="1600" dirty="0">
                          <a:effectLst/>
                        </a:rPr>
                        <a:t>Your </a:t>
                      </a:r>
                      <a:r>
                        <a:rPr lang="en-US" sz="1600" b="1" dirty="0">
                          <a:effectLst/>
                        </a:rPr>
                        <a:t>LLM‑based Python app</a:t>
                      </a:r>
                      <a:r>
                        <a:rPr lang="en-US" sz="1600" dirty="0">
                          <a:effectLst/>
                        </a:rPr>
                        <a:t> runs inside the customer’s cloud tenant (VM, AKS, or App Service).</a:t>
                      </a:r>
                      <a:endParaRPr lang="en-US" sz="1600" dirty="0"/>
                    </a:p>
                    <a:p>
                      <a:r>
                        <a:rPr lang="en-US" sz="1600" dirty="0">
                          <a:effectLst/>
                        </a:rPr>
                        <a:t>It’s assigned a </a:t>
                      </a:r>
                      <a:r>
                        <a:rPr lang="en-US" sz="1600" b="1" dirty="0">
                          <a:effectLst/>
                        </a:rPr>
                        <a:t>User‑Assigned Managed Identity</a:t>
                      </a:r>
                      <a:r>
                        <a:rPr lang="en-US" sz="1600" dirty="0">
                          <a:effectLst/>
                        </a:rPr>
                        <a:t> (created by the customer).</a:t>
                      </a:r>
                      <a:endParaRPr lang="en-US" sz="1600" dirty="0"/>
                    </a:p>
                    <a:p>
                      <a:r>
                        <a:rPr lang="en-US" sz="1600" dirty="0">
                          <a:effectLst/>
                        </a:rPr>
                        <a:t>That identity is registered in </a:t>
                      </a:r>
                      <a:r>
                        <a:rPr lang="en-US" sz="1600" b="1" dirty="0">
                          <a:effectLst/>
                        </a:rPr>
                        <a:t>Azure Entra ID (formerly AD)</a:t>
                      </a:r>
                      <a:r>
                        <a:rPr lang="en-US" sz="1600" dirty="0">
                          <a:effectLst/>
                        </a:rPr>
                        <a:t>.</a:t>
                      </a:r>
                      <a:endParaRPr lang="en-US" sz="1600" dirty="0"/>
                    </a:p>
                    <a:p>
                      <a:r>
                        <a:rPr lang="en-US" sz="1600" dirty="0">
                          <a:effectLst/>
                        </a:rPr>
                        <a:t>When your app needs to access logs or secrets (e.g., Key Vault), Azure automatically issues a token for that identity — no passwords, no keys.</a:t>
                      </a:r>
                      <a:endParaRPr lang="en-US" sz="1600" dirty="0"/>
                    </a:p>
                    <a:p>
                      <a:r>
                        <a:rPr lang="en-US" sz="1600" dirty="0">
                          <a:effectLst/>
                        </a:rPr>
                        <a:t>Access is governed by </a:t>
                      </a:r>
                      <a:r>
                        <a:rPr lang="en-US" sz="1600" b="1" dirty="0">
                          <a:effectLst/>
                        </a:rPr>
                        <a:t>RBAC</a:t>
                      </a:r>
                      <a:r>
                        <a:rPr lang="en-US" sz="1600" dirty="0">
                          <a:effectLst/>
                        </a:rPr>
                        <a:t> and </a:t>
                      </a:r>
                      <a:r>
                        <a:rPr lang="en-US" sz="1600" b="1" dirty="0">
                          <a:effectLst/>
                        </a:rPr>
                        <a:t>Key Vault policies</a:t>
                      </a:r>
                      <a:r>
                        <a:rPr lang="en-US" sz="1600" dirty="0">
                          <a:effectLst/>
                        </a:rPr>
                        <a:t> that the customer controls.</a:t>
                      </a:r>
                      <a:endParaRPr lang="en-US" sz="1600" dirty="0"/>
                    </a:p>
                    <a:p>
                      <a:r>
                        <a:rPr lang="en-US" sz="1600" dirty="0">
                          <a:effectLst/>
                        </a:rPr>
                        <a:t>So, the agent authenticates </a:t>
                      </a:r>
                      <a:r>
                        <a:rPr lang="en-US" sz="1600" i="1" dirty="0">
                          <a:effectLst/>
                        </a:rPr>
                        <a:t>via Managed Identity</a:t>
                      </a:r>
                      <a:r>
                        <a:rPr lang="en-US" sz="1600" dirty="0">
                          <a:effectLst/>
                        </a:rPr>
                        <a:t>, but authorization is </a:t>
                      </a:r>
                      <a:r>
                        <a:rPr lang="en-US" sz="1600" i="1" dirty="0">
                          <a:effectLst/>
                        </a:rPr>
                        <a:t>entirely under the customer’s control</a:t>
                      </a:r>
                      <a:r>
                        <a:rPr lang="en-US" sz="1600" dirty="0">
                          <a:effectLst/>
                        </a:rPr>
                        <a:t>.</a:t>
                      </a:r>
                      <a:endParaRPr lang="en-US" sz="1600" dirty="0"/>
                    </a:p>
                    <a:p>
                      <a:endParaRPr lang="en-IN" sz="1600" dirty="0"/>
                    </a:p>
                  </a:txBody>
                  <a:tcPr/>
                </a:tc>
                <a:tc>
                  <a:txBody>
                    <a:bodyPr/>
                    <a:lstStyle/>
                    <a:p>
                      <a:r>
                        <a:rPr lang="en-US" sz="1600" b="1" dirty="0"/>
                        <a:t>Why Customers Usually Allow This</a:t>
                      </a:r>
                    </a:p>
                    <a:p>
                      <a:r>
                        <a:rPr lang="en-US" sz="1600" b="1" dirty="0">
                          <a:effectLst/>
                        </a:rPr>
                        <a:t>No credential exposure:</a:t>
                      </a:r>
                      <a:r>
                        <a:rPr lang="en-US" sz="1600" dirty="0">
                          <a:effectLst/>
                        </a:rPr>
                        <a:t> No hard‑coded secrets or service‑account passwords.</a:t>
                      </a:r>
                      <a:endParaRPr lang="en-US" sz="1600" dirty="0"/>
                    </a:p>
                    <a:p>
                      <a:r>
                        <a:rPr lang="en-US" sz="1600" b="1" dirty="0">
                          <a:effectLst/>
                          <a:highlight>
                            <a:srgbClr val="FFFF00"/>
                          </a:highlight>
                        </a:rPr>
                        <a:t>Full control:</a:t>
                      </a:r>
                      <a:r>
                        <a:rPr lang="en-US" sz="1600" dirty="0">
                          <a:effectLst/>
                          <a:highlight>
                            <a:srgbClr val="FFFF00"/>
                          </a:highlight>
                        </a:rPr>
                        <a:t> They can revoke or rotate permissions anytime.</a:t>
                      </a:r>
                      <a:endParaRPr lang="en-US" sz="1600" dirty="0">
                        <a:highlight>
                          <a:srgbClr val="FFFF00"/>
                        </a:highlight>
                      </a:endParaRPr>
                    </a:p>
                    <a:p>
                      <a:r>
                        <a:rPr lang="en-US" sz="1600" b="1" dirty="0">
                          <a:effectLst/>
                        </a:rPr>
                        <a:t>Auditability:</a:t>
                      </a:r>
                      <a:r>
                        <a:rPr lang="en-US" sz="1600" dirty="0">
                          <a:effectLst/>
                        </a:rPr>
                        <a:t> Every token request and Key Vault access is logged in Azure Monitor and Sentinel.</a:t>
                      </a:r>
                      <a:endParaRPr lang="en-US" sz="1600" dirty="0"/>
                    </a:p>
                    <a:p>
                      <a:r>
                        <a:rPr lang="en-US" sz="1600" b="1" dirty="0">
                          <a:effectLst/>
                        </a:rPr>
                        <a:t>Compliance alignment:</a:t>
                      </a:r>
                      <a:r>
                        <a:rPr lang="en-US" sz="1600" dirty="0">
                          <a:effectLst/>
                        </a:rPr>
                        <a:t> Managed Identity is compliant with ISO 27001, SOC 2, and GDPR standards.</a:t>
                      </a:r>
                      <a:endParaRPr lang="en-US" sz="1600" dirty="0"/>
                    </a:p>
                    <a:p>
                      <a:endParaRPr lang="en-IN" sz="1600" dirty="0"/>
                    </a:p>
                  </a:txBody>
                  <a:tcPr/>
                </a:tc>
                <a:tc>
                  <a:txBody>
                    <a:bodyPr/>
                    <a:lstStyle/>
                    <a:p>
                      <a:r>
                        <a:rPr lang="en-US" sz="1600" b="1" dirty="0"/>
                        <a:t>When Customers Might Deny It</a:t>
                      </a:r>
                    </a:p>
                    <a:p>
                      <a:r>
                        <a:rPr lang="en-US" sz="1600" dirty="0">
                          <a:effectLst/>
                        </a:rPr>
                        <a:t>They could hesitate if:</a:t>
                      </a:r>
                      <a:endParaRPr lang="en-US" sz="1600" dirty="0"/>
                    </a:p>
                    <a:p>
                      <a:r>
                        <a:rPr lang="en-US" sz="1600" dirty="0">
                          <a:effectLst/>
                        </a:rPr>
                        <a:t>Their </a:t>
                      </a:r>
                      <a:r>
                        <a:rPr lang="en-US" sz="1600" b="1" dirty="0">
                          <a:effectLst/>
                        </a:rPr>
                        <a:t>security policy forbids any external code</a:t>
                      </a:r>
                      <a:r>
                        <a:rPr lang="en-US" sz="1600" dirty="0">
                          <a:effectLst/>
                        </a:rPr>
                        <a:t> running under their tenant’s identity.</a:t>
                      </a:r>
                      <a:endParaRPr lang="en-US" sz="1600" dirty="0"/>
                    </a:p>
                    <a:p>
                      <a:r>
                        <a:rPr lang="en-US" sz="1600" dirty="0">
                          <a:effectLst/>
                        </a:rPr>
                        <a:t>They require </a:t>
                      </a:r>
                      <a:r>
                        <a:rPr lang="en-US" sz="1600" b="1" dirty="0">
                          <a:effectLst/>
                        </a:rPr>
                        <a:t>air‑gapped or on‑prem isolation</a:t>
                      </a:r>
                      <a:r>
                        <a:rPr lang="en-US" sz="1600" dirty="0">
                          <a:effectLst/>
                        </a:rPr>
                        <a:t> (then you’d move to S4/S5 scenarios).</a:t>
                      </a:r>
                      <a:endParaRPr lang="en-US" sz="1600" dirty="0"/>
                    </a:p>
                    <a:p>
                      <a:r>
                        <a:rPr lang="en-US" sz="1600" dirty="0">
                          <a:effectLst/>
                        </a:rPr>
                        <a:t>They prefer </a:t>
                      </a:r>
                      <a:r>
                        <a:rPr lang="en-US" sz="1600" b="1" dirty="0">
                          <a:effectLst/>
                        </a:rPr>
                        <a:t>API‑based integration</a:t>
                      </a:r>
                      <a:r>
                        <a:rPr lang="en-US" sz="1600" dirty="0">
                          <a:effectLst/>
                        </a:rPr>
                        <a:t> instead of direct identity federation.</a:t>
                      </a:r>
                    </a:p>
                    <a:p>
                      <a:endParaRPr lang="en-US" sz="1600" dirty="0">
                        <a:effectLst/>
                      </a:endParaRPr>
                    </a:p>
                    <a:p>
                      <a:endParaRPr lang="en-US" sz="1600" dirty="0">
                        <a:highlight>
                          <a:srgbClr val="FFFF00"/>
                        </a:highlight>
                      </a:endParaRPr>
                    </a:p>
                    <a:p>
                      <a:r>
                        <a:rPr lang="en-US" sz="1600" dirty="0">
                          <a:effectLst/>
                          <a:highlight>
                            <a:srgbClr val="FFFF00"/>
                          </a:highlight>
                        </a:rPr>
                        <a:t>In those cases, you can propose alternatives:</a:t>
                      </a:r>
                      <a:endParaRPr lang="en-US" sz="1600" dirty="0">
                        <a:highlight>
                          <a:srgbClr val="FFFF00"/>
                        </a:highlight>
                      </a:endParaRPr>
                    </a:p>
                    <a:p>
                      <a:r>
                        <a:rPr lang="en-US" sz="1600" dirty="0">
                          <a:effectLst/>
                          <a:highlight>
                            <a:srgbClr val="FFFF00"/>
                          </a:highlight>
                        </a:rPr>
                        <a:t>Use </a:t>
                      </a:r>
                      <a:r>
                        <a:rPr lang="en-US" sz="1600" b="1" dirty="0">
                          <a:effectLst/>
                          <a:highlight>
                            <a:srgbClr val="FFFF00"/>
                          </a:highlight>
                        </a:rPr>
                        <a:t>Azure AD App Registration</a:t>
                      </a:r>
                      <a:r>
                        <a:rPr lang="en-US" sz="1600" dirty="0">
                          <a:effectLst/>
                          <a:highlight>
                            <a:srgbClr val="FFFF00"/>
                          </a:highlight>
                        </a:rPr>
                        <a:t> with OAuth2 client credentials (customer‑approved).</a:t>
                      </a:r>
                      <a:endParaRPr lang="en-US" sz="1600" dirty="0">
                        <a:highlight>
                          <a:srgbClr val="FFFF00"/>
                        </a:highlight>
                      </a:endParaRPr>
                    </a:p>
                    <a:p>
                      <a:r>
                        <a:rPr lang="en-US" sz="1600" dirty="0">
                          <a:effectLst/>
                          <a:highlight>
                            <a:srgbClr val="FFFF00"/>
                          </a:highlight>
                        </a:rPr>
                        <a:t>Or deploy your agent in a </a:t>
                      </a:r>
                      <a:r>
                        <a:rPr lang="en-US" sz="1600" b="1" dirty="0">
                          <a:effectLst/>
                          <a:highlight>
                            <a:srgbClr val="FFFF00"/>
                          </a:highlight>
                        </a:rPr>
                        <a:t>separate </a:t>
                      </a:r>
                      <a:r>
                        <a:rPr lang="en-US" sz="1600" b="1" dirty="0" err="1">
                          <a:effectLst/>
                          <a:highlight>
                            <a:srgbClr val="FFFF00"/>
                          </a:highlight>
                        </a:rPr>
                        <a:t>VNet</a:t>
                      </a:r>
                      <a:r>
                        <a:rPr lang="en-US" sz="1600" dirty="0">
                          <a:effectLst/>
                          <a:highlight>
                            <a:srgbClr val="FFFF00"/>
                          </a:highlight>
                        </a:rPr>
                        <a:t> (S2 VPC Peering) with controlled API access.</a:t>
                      </a:r>
                      <a:endParaRPr lang="en-US" sz="1600" dirty="0">
                        <a:highlight>
                          <a:srgbClr val="FFFF00"/>
                        </a:highlight>
                      </a:endParaRPr>
                    </a:p>
                    <a:p>
                      <a:endParaRPr lang="en-IN" sz="1600" dirty="0"/>
                    </a:p>
                  </a:txBody>
                  <a:tcPr/>
                </a:tc>
                <a:extLst>
                  <a:ext uri="{0D108BD9-81ED-4DB2-BD59-A6C34878D82A}">
                    <a16:rowId xmlns:a16="http://schemas.microsoft.com/office/drawing/2014/main" val="3412229340"/>
                  </a:ext>
                </a:extLst>
              </a:tr>
            </a:tbl>
          </a:graphicData>
        </a:graphic>
      </p:graphicFrame>
    </p:spTree>
    <p:extLst>
      <p:ext uri="{BB962C8B-B14F-4D97-AF65-F5344CB8AC3E}">
        <p14:creationId xmlns:p14="http://schemas.microsoft.com/office/powerpoint/2010/main" val="3548474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7127525-034C-B3E3-AD2B-D6C5D8EB6839}"/>
              </a:ext>
            </a:extLst>
          </p:cNvPr>
          <p:cNvGraphicFramePr>
            <a:graphicFrameLocks noGrp="1"/>
          </p:cNvGraphicFramePr>
          <p:nvPr/>
        </p:nvGraphicFramePr>
        <p:xfrm>
          <a:off x="314218" y="880005"/>
          <a:ext cx="11281904" cy="1449245"/>
        </p:xfrm>
        <a:graphic>
          <a:graphicData uri="http://schemas.openxmlformats.org/drawingml/2006/table">
            <a:tbl>
              <a:tblPr/>
              <a:tblGrid>
                <a:gridCol w="1757744">
                  <a:extLst>
                    <a:ext uri="{9D8B030D-6E8A-4147-A177-3AD203B41FA5}">
                      <a16:colId xmlns:a16="http://schemas.microsoft.com/office/drawing/2014/main" val="3180038187"/>
                    </a:ext>
                  </a:extLst>
                </a:gridCol>
                <a:gridCol w="6445315">
                  <a:extLst>
                    <a:ext uri="{9D8B030D-6E8A-4147-A177-3AD203B41FA5}">
                      <a16:colId xmlns:a16="http://schemas.microsoft.com/office/drawing/2014/main" val="2074501338"/>
                    </a:ext>
                  </a:extLst>
                </a:gridCol>
                <a:gridCol w="3078845">
                  <a:extLst>
                    <a:ext uri="{9D8B030D-6E8A-4147-A177-3AD203B41FA5}">
                      <a16:colId xmlns:a16="http://schemas.microsoft.com/office/drawing/2014/main" val="2807083290"/>
                    </a:ext>
                  </a:extLst>
                </a:gridCol>
              </a:tblGrid>
              <a:tr h="150842">
                <a:tc>
                  <a:txBody>
                    <a:bodyPr/>
                    <a:lstStyle/>
                    <a:p>
                      <a:pPr>
                        <a:buNone/>
                      </a:pPr>
                      <a:r>
                        <a:rPr lang="en-IN" sz="120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Azure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3691106"/>
                  </a:ext>
                </a:extLst>
              </a:tr>
              <a:tr h="351965">
                <a:tc>
                  <a:txBody>
                    <a:bodyPr/>
                    <a:lstStyle/>
                    <a:p>
                      <a:pPr>
                        <a:buNone/>
                      </a:pPr>
                      <a:r>
                        <a:rPr lang="en-IN" sz="1200" b="1" dirty="0"/>
                        <a:t>Data at Rest</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Encrypt all logs, metrics, and tickets using </a:t>
                      </a:r>
                      <a:r>
                        <a:rPr lang="en-US" sz="1200" b="1" dirty="0"/>
                        <a:t>Azure Storage Encryption</a:t>
                      </a:r>
                      <a:r>
                        <a:rPr lang="en-US" sz="1200" dirty="0"/>
                        <a:t> or </a:t>
                      </a:r>
                      <a:r>
                        <a:rPr lang="en-US" sz="1200" b="1" dirty="0"/>
                        <a:t>Key Vault‑managed keys</a:t>
                      </a:r>
                      <a:r>
                        <a:rPr lang="en-US" sz="1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Storage Account, Key Vault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8084482"/>
                  </a:ext>
                </a:extLst>
              </a:tr>
              <a:tr h="251404">
                <a:tc>
                  <a:txBody>
                    <a:bodyPr/>
                    <a:lstStyle/>
                    <a:p>
                      <a:pPr>
                        <a:buNone/>
                      </a:pPr>
                      <a:r>
                        <a:rPr lang="en-IN" sz="1200" b="1"/>
                        <a:t>Data in Transit</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Enforce </a:t>
                      </a:r>
                      <a:r>
                        <a:rPr lang="en-US" sz="1200" b="1" dirty="0"/>
                        <a:t>TLS 1.2+</a:t>
                      </a:r>
                      <a:r>
                        <a:rPr lang="en-US" sz="1200" dirty="0"/>
                        <a:t> for all API calls between the AI agent, Log Analytics, and ServiceNow.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Azure Front Door, Private Endpoints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8372773"/>
                  </a:ext>
                </a:extLst>
              </a:tr>
              <a:tr h="251404">
                <a:tc>
                  <a:txBody>
                    <a:bodyPr/>
                    <a:lstStyle/>
                    <a:p>
                      <a:pPr>
                        <a:buNone/>
                      </a:pPr>
                      <a:r>
                        <a:rPr lang="en-IN" sz="1200" b="1"/>
                        <a:t>Data Access Governance</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Apply </a:t>
                      </a:r>
                      <a:r>
                        <a:rPr lang="en-US" sz="1200" b="1" dirty="0"/>
                        <a:t>RBAC</a:t>
                      </a:r>
                      <a:r>
                        <a:rPr lang="en-US" sz="1200" dirty="0"/>
                        <a:t> and </a:t>
                      </a:r>
                      <a:r>
                        <a:rPr lang="en-US" sz="1200" b="1" dirty="0"/>
                        <a:t>Access Policies</a:t>
                      </a:r>
                      <a:r>
                        <a:rPr lang="en-US" sz="1200" dirty="0"/>
                        <a:t> to restrict who can view logs or tickets.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Entra ID + Azure Policy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2783645"/>
                  </a:ext>
                </a:extLst>
              </a:tr>
              <a:tr h="251404">
                <a:tc>
                  <a:txBody>
                    <a:bodyPr/>
                    <a:lstStyle/>
                    <a:p>
                      <a:pPr>
                        <a:buNone/>
                      </a:pPr>
                      <a:r>
                        <a:rPr lang="en-IN" sz="1200" b="1"/>
                        <a:t>Data Masking</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Redact sensitive fields (IP, hostnames, user IDs) before sending to LLM or ticketing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Python middleware / Azure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5531688"/>
                  </a:ext>
                </a:extLst>
              </a:tr>
            </a:tbl>
          </a:graphicData>
        </a:graphic>
      </p:graphicFrame>
      <p:sp>
        <p:nvSpPr>
          <p:cNvPr id="6" name="TextBox 5">
            <a:extLst>
              <a:ext uri="{FF2B5EF4-FFF2-40B4-BE49-F238E27FC236}">
                <a16:creationId xmlns:a16="http://schemas.microsoft.com/office/drawing/2014/main" id="{310DD2FE-9D5F-2D9B-3517-B2A3AFA0D58A}"/>
              </a:ext>
            </a:extLst>
          </p:cNvPr>
          <p:cNvSpPr txBox="1"/>
          <p:nvPr/>
        </p:nvSpPr>
        <p:spPr>
          <a:xfrm>
            <a:off x="133564" y="2501879"/>
            <a:ext cx="6097712" cy="369332"/>
          </a:xfrm>
          <a:prstGeom prst="rect">
            <a:avLst/>
          </a:prstGeom>
          <a:noFill/>
        </p:spPr>
        <p:txBody>
          <a:bodyPr wrap="square">
            <a:spAutoFit/>
          </a:bodyPr>
          <a:lstStyle/>
          <a:p>
            <a:r>
              <a:rPr lang="en-IN" dirty="0"/>
              <a:t>Communication Security</a:t>
            </a:r>
          </a:p>
        </p:txBody>
      </p:sp>
      <p:graphicFrame>
        <p:nvGraphicFramePr>
          <p:cNvPr id="7" name="Table 6">
            <a:extLst>
              <a:ext uri="{FF2B5EF4-FFF2-40B4-BE49-F238E27FC236}">
                <a16:creationId xmlns:a16="http://schemas.microsoft.com/office/drawing/2014/main" id="{1FD0AAA3-B66A-8237-8C7D-4D72CEA6ABC9}"/>
              </a:ext>
            </a:extLst>
          </p:cNvPr>
          <p:cNvGraphicFramePr>
            <a:graphicFrameLocks noGrp="1"/>
          </p:cNvGraphicFramePr>
          <p:nvPr/>
        </p:nvGraphicFramePr>
        <p:xfrm>
          <a:off x="314218" y="3011428"/>
          <a:ext cx="9569521" cy="1927496"/>
        </p:xfrm>
        <a:graphic>
          <a:graphicData uri="http://schemas.openxmlformats.org/drawingml/2006/table">
            <a:tbl>
              <a:tblPr/>
              <a:tblGrid>
                <a:gridCol w="1918587">
                  <a:extLst>
                    <a:ext uri="{9D8B030D-6E8A-4147-A177-3AD203B41FA5}">
                      <a16:colId xmlns:a16="http://schemas.microsoft.com/office/drawing/2014/main" val="4054269507"/>
                    </a:ext>
                  </a:extLst>
                </a:gridCol>
                <a:gridCol w="3504551">
                  <a:extLst>
                    <a:ext uri="{9D8B030D-6E8A-4147-A177-3AD203B41FA5}">
                      <a16:colId xmlns:a16="http://schemas.microsoft.com/office/drawing/2014/main" val="322634676"/>
                    </a:ext>
                  </a:extLst>
                </a:gridCol>
                <a:gridCol w="4146383">
                  <a:extLst>
                    <a:ext uri="{9D8B030D-6E8A-4147-A177-3AD203B41FA5}">
                      <a16:colId xmlns:a16="http://schemas.microsoft.com/office/drawing/2014/main" val="3632336765"/>
                    </a:ext>
                  </a:extLst>
                </a:gridCol>
              </a:tblGrid>
              <a:tr h="236168">
                <a:tc>
                  <a:txBody>
                    <a:bodyPr/>
                    <a:lstStyle/>
                    <a:p>
                      <a:pPr>
                        <a:buNone/>
                      </a:pPr>
                      <a:r>
                        <a:rPr lang="en-IN" sz="1200"/>
                        <a:t>Channel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3943371"/>
                  </a:ext>
                </a:extLst>
              </a:tr>
              <a:tr h="413294">
                <a:tc>
                  <a:txBody>
                    <a:bodyPr/>
                    <a:lstStyle/>
                    <a:p>
                      <a:pPr>
                        <a:buNone/>
                      </a:pPr>
                      <a:r>
                        <a:rPr lang="en-IN" sz="1200" b="1" dirty="0"/>
                        <a:t>Agent ↔ Azure Monitor</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Private Endpoint + TLS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Prevents public exposure of telemetry.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7097415"/>
                  </a:ext>
                </a:extLst>
              </a:tr>
              <a:tr h="413294">
                <a:tc>
                  <a:txBody>
                    <a:bodyPr/>
                    <a:lstStyle/>
                    <a:p>
                      <a:pPr>
                        <a:buNone/>
                      </a:pPr>
                      <a:r>
                        <a:rPr lang="en-IN" sz="1200" b="1"/>
                        <a:t>Agent ↔ Key Vault</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Managed Identity token + RBAC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Secure secret retrieval without credentials.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2231202"/>
                  </a:ext>
                </a:extLst>
              </a:tr>
              <a:tr h="413294">
                <a:tc>
                  <a:txBody>
                    <a:bodyPr/>
                    <a:lstStyle/>
                    <a:p>
                      <a:pPr>
                        <a:buNone/>
                      </a:pPr>
                      <a:r>
                        <a:rPr lang="en-IN" sz="1200" b="1"/>
                        <a:t>Agent ↔ ServiceNow API</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OAuth2 client credentials + API Management policy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Ensures scoped, auditable ticket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1617923"/>
                  </a:ext>
                </a:extLst>
              </a:tr>
              <a:tr h="413294">
                <a:tc>
                  <a:txBody>
                    <a:bodyPr/>
                    <a:lstStyle/>
                    <a:p>
                      <a:pPr>
                        <a:buNone/>
                      </a:pPr>
                      <a:r>
                        <a:rPr lang="en-IN" sz="1200" b="1"/>
                        <a:t>Agent ↔ Sentinel SIEM</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Syslog over TLS / Event Hub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Enables audit and anomaly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7873846"/>
                  </a:ext>
                </a:extLst>
              </a:tr>
            </a:tbl>
          </a:graphicData>
        </a:graphic>
      </p:graphicFrame>
      <p:sp>
        <p:nvSpPr>
          <p:cNvPr id="9" name="TextBox 8">
            <a:extLst>
              <a:ext uri="{FF2B5EF4-FFF2-40B4-BE49-F238E27FC236}">
                <a16:creationId xmlns:a16="http://schemas.microsoft.com/office/drawing/2014/main" id="{16543E95-74E4-19A8-6318-ECA80A9F0841}"/>
              </a:ext>
            </a:extLst>
          </p:cNvPr>
          <p:cNvSpPr txBox="1"/>
          <p:nvPr/>
        </p:nvSpPr>
        <p:spPr>
          <a:xfrm>
            <a:off x="0" y="314927"/>
            <a:ext cx="6097712" cy="369332"/>
          </a:xfrm>
          <a:prstGeom prst="rect">
            <a:avLst/>
          </a:prstGeom>
          <a:noFill/>
        </p:spPr>
        <p:txBody>
          <a:bodyPr wrap="square">
            <a:spAutoFit/>
          </a:bodyPr>
          <a:lstStyle/>
          <a:p>
            <a:pPr>
              <a:buNone/>
            </a:pPr>
            <a:r>
              <a:rPr lang="en-IN" b="1" dirty="0"/>
              <a:t>🧩 1️⃣ Data Security</a:t>
            </a:r>
          </a:p>
        </p:txBody>
      </p:sp>
      <p:sp>
        <p:nvSpPr>
          <p:cNvPr id="11" name="TextBox 10">
            <a:extLst>
              <a:ext uri="{FF2B5EF4-FFF2-40B4-BE49-F238E27FC236}">
                <a16:creationId xmlns:a16="http://schemas.microsoft.com/office/drawing/2014/main" id="{8ACF9AAF-C620-828D-9BA9-651638641155}"/>
              </a:ext>
            </a:extLst>
          </p:cNvPr>
          <p:cNvSpPr txBox="1"/>
          <p:nvPr/>
        </p:nvSpPr>
        <p:spPr>
          <a:xfrm>
            <a:off x="211477" y="5342744"/>
            <a:ext cx="10783607" cy="830997"/>
          </a:xfrm>
          <a:prstGeom prst="rect">
            <a:avLst/>
          </a:prstGeom>
          <a:noFill/>
        </p:spPr>
        <p:txBody>
          <a:bodyPr wrap="square">
            <a:spAutoFit/>
          </a:bodyPr>
          <a:lstStyle/>
          <a:p>
            <a:pPr>
              <a:buNone/>
            </a:pPr>
            <a:r>
              <a:rPr lang="en-IN" sz="1200" b="1" dirty="0"/>
              <a:t>3️⃣ Compliance &amp; Auditability</a:t>
            </a:r>
          </a:p>
          <a:p>
            <a:pPr>
              <a:buFont typeface="Arial" panose="020B0604020202020204" pitchFamily="34" charset="0"/>
              <a:buChar char="•"/>
            </a:pPr>
            <a:r>
              <a:rPr lang="en-IN" sz="1200" b="1" dirty="0">
                <a:effectLst/>
              </a:rPr>
              <a:t>ISO 27001 / SOC 2 Type II</a:t>
            </a:r>
            <a:r>
              <a:rPr lang="en-IN" sz="1200" dirty="0">
                <a:effectLst/>
              </a:rPr>
              <a:t> — Encryption + access control alignment.</a:t>
            </a:r>
            <a:endParaRPr lang="en-IN" sz="1200" dirty="0"/>
          </a:p>
          <a:p>
            <a:pPr>
              <a:buFont typeface="Arial" panose="020B0604020202020204" pitchFamily="34" charset="0"/>
              <a:buChar char="•"/>
            </a:pPr>
            <a:r>
              <a:rPr lang="en-IN" sz="1200" b="1" dirty="0">
                <a:effectLst/>
              </a:rPr>
              <a:t>GDPR / HIPAA</a:t>
            </a:r>
            <a:r>
              <a:rPr lang="en-IN" sz="1200" dirty="0">
                <a:effectLst/>
              </a:rPr>
              <a:t> — Data masking and retention policies.</a:t>
            </a:r>
            <a:endParaRPr lang="en-IN" sz="1200" dirty="0"/>
          </a:p>
          <a:p>
            <a:pPr>
              <a:buFont typeface="Arial" panose="020B0604020202020204" pitchFamily="34" charset="0"/>
              <a:buChar char="•"/>
            </a:pPr>
            <a:r>
              <a:rPr lang="en-IN" sz="1200" b="1" dirty="0">
                <a:effectLst/>
              </a:rPr>
              <a:t>Continuous Audit</a:t>
            </a:r>
            <a:r>
              <a:rPr lang="en-IN" sz="1200" dirty="0">
                <a:effectLst/>
              </a:rPr>
              <a:t> — Sentinel KQL queries to detect unauthorized log fetches or ticket escalations.</a:t>
            </a:r>
            <a:endParaRPr lang="en-IN" sz="1200" dirty="0"/>
          </a:p>
        </p:txBody>
      </p:sp>
    </p:spTree>
    <p:extLst>
      <p:ext uri="{BB962C8B-B14F-4D97-AF65-F5344CB8AC3E}">
        <p14:creationId xmlns:p14="http://schemas.microsoft.com/office/powerpoint/2010/main" val="1730583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44C7C-09DF-A6C4-5F34-9DCCE64F41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74E6E6-A260-CD33-6F9D-42C515D1138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55699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E0295D-6BEA-1532-7C19-65FF52563C64}"/>
              </a:ext>
            </a:extLst>
          </p:cNvPr>
          <p:cNvSpPr txBox="1"/>
          <p:nvPr/>
        </p:nvSpPr>
        <p:spPr>
          <a:xfrm>
            <a:off x="315073" y="795425"/>
            <a:ext cx="11013327" cy="5078313"/>
          </a:xfrm>
          <a:prstGeom prst="rect">
            <a:avLst/>
          </a:prstGeom>
          <a:noFill/>
        </p:spPr>
        <p:txBody>
          <a:bodyPr wrap="square">
            <a:spAutoFit/>
          </a:bodyPr>
          <a:lstStyle/>
          <a:p>
            <a:pPr>
              <a:buNone/>
            </a:pPr>
            <a:r>
              <a:rPr lang="en-IN" sz="1200" b="1" dirty="0"/>
              <a:t>🧩 Slide Title</a:t>
            </a:r>
          </a:p>
          <a:p>
            <a:pPr>
              <a:buNone/>
            </a:pPr>
            <a:r>
              <a:rPr lang="en-IN" sz="1200" b="1" dirty="0">
                <a:effectLst/>
              </a:rPr>
              <a:t>S1 Cloud Native — Security Architecture &amp; Governance</a:t>
            </a:r>
            <a:endParaRPr lang="en-IN" sz="1200" dirty="0"/>
          </a:p>
          <a:p>
            <a:pPr>
              <a:buNone/>
            </a:pPr>
            <a:r>
              <a:rPr lang="en-IN" sz="1200" b="1" dirty="0"/>
              <a:t>🔐 Visual Layout Structure</a:t>
            </a:r>
          </a:p>
          <a:p>
            <a:pPr>
              <a:buFont typeface="+mj-lt"/>
              <a:buAutoNum type="arabicPeriod"/>
            </a:pPr>
            <a:r>
              <a:rPr lang="en-IN" sz="1200" b="1" dirty="0">
                <a:effectLst/>
              </a:rPr>
              <a:t>Top Section — Identity &amp; Access</a:t>
            </a:r>
            <a:endParaRPr lang="en-IN" sz="1200" dirty="0"/>
          </a:p>
          <a:p>
            <a:pPr marL="742950" lvl="1" indent="-285750">
              <a:buFont typeface="+mj-lt"/>
              <a:buAutoNum type="arabicPeriod"/>
            </a:pPr>
            <a:r>
              <a:rPr lang="en-IN" sz="1200" dirty="0">
                <a:effectLst/>
              </a:rPr>
              <a:t>Icons: Azure Entra ID (Azure AD), Managed Identity, Key Vault.</a:t>
            </a:r>
            <a:endParaRPr lang="en-IN" sz="1200" dirty="0"/>
          </a:p>
          <a:p>
            <a:pPr marL="742950" lvl="1" indent="-285750">
              <a:buFont typeface="+mj-lt"/>
              <a:buAutoNum type="arabicPeriod"/>
            </a:pPr>
            <a:r>
              <a:rPr lang="en-IN" sz="1200" dirty="0">
                <a:effectLst/>
              </a:rPr>
              <a:t>Flow:</a:t>
            </a:r>
            <a:endParaRPr lang="en-IN" sz="1200" dirty="0"/>
          </a:p>
          <a:p>
            <a:pPr marL="1143000" lvl="2" indent="-228600">
              <a:buFont typeface="+mj-lt"/>
              <a:buAutoNum type="arabicPeriod"/>
            </a:pPr>
            <a:r>
              <a:rPr lang="en-IN" sz="1200" dirty="0">
                <a:effectLst/>
              </a:rPr>
              <a:t>AI Agent (Python LLM) → Authenticates via Managed Identity → Authorized by RBAC (Log Analytics Reader).</a:t>
            </a:r>
            <a:endParaRPr lang="en-IN" sz="1200" dirty="0"/>
          </a:p>
          <a:p>
            <a:pPr marL="1143000" lvl="2" indent="-228600">
              <a:buFont typeface="+mj-lt"/>
              <a:buAutoNum type="arabicPeriod"/>
            </a:pPr>
            <a:r>
              <a:rPr lang="en-IN" sz="1200" dirty="0">
                <a:effectLst/>
              </a:rPr>
              <a:t>Key Vault integration for secret retrieval (no stored credentials).</a:t>
            </a:r>
            <a:endParaRPr lang="en-IN" sz="1200" dirty="0"/>
          </a:p>
          <a:p>
            <a:pPr marL="742950" lvl="1" indent="-285750">
              <a:buFont typeface="+mj-lt"/>
              <a:buAutoNum type="arabicPeriod"/>
            </a:pPr>
            <a:r>
              <a:rPr lang="en-IN" sz="1200" dirty="0">
                <a:effectLst/>
              </a:rPr>
              <a:t>Caption: “Customer‑controlled Managed Identity ensures secure authentication and governance.”</a:t>
            </a:r>
            <a:endParaRPr lang="en-IN" sz="1200" dirty="0"/>
          </a:p>
          <a:p>
            <a:pPr>
              <a:buFont typeface="+mj-lt"/>
              <a:buAutoNum type="arabicPeriod"/>
            </a:pPr>
            <a:r>
              <a:rPr lang="en-IN" sz="1200" b="1" dirty="0">
                <a:effectLst/>
              </a:rPr>
              <a:t>Middle Section — Data Security</a:t>
            </a:r>
            <a:endParaRPr lang="en-IN" sz="1200" dirty="0"/>
          </a:p>
          <a:p>
            <a:pPr marL="742950" lvl="1" indent="-285750">
              <a:buFont typeface="+mj-lt"/>
              <a:buAutoNum type="arabicPeriod"/>
            </a:pPr>
            <a:r>
              <a:rPr lang="en-IN" sz="1200" dirty="0">
                <a:effectLst/>
              </a:rPr>
              <a:t>Icons: Storage Encryption, TLS Lock, Data Masking.</a:t>
            </a:r>
            <a:endParaRPr lang="en-IN" sz="1200" dirty="0"/>
          </a:p>
          <a:p>
            <a:pPr marL="742950" lvl="1" indent="-285750">
              <a:buFont typeface="+mj-lt"/>
              <a:buAutoNum type="arabicPeriod"/>
            </a:pPr>
            <a:r>
              <a:rPr lang="en-IN" sz="1200" dirty="0">
                <a:effectLst/>
              </a:rPr>
              <a:t>Flow:</a:t>
            </a:r>
            <a:endParaRPr lang="en-IN" sz="1200" dirty="0"/>
          </a:p>
          <a:p>
            <a:pPr marL="1143000" lvl="2" indent="-228600">
              <a:buFont typeface="+mj-lt"/>
              <a:buAutoNum type="arabicPeriod"/>
            </a:pPr>
            <a:r>
              <a:rPr lang="en-IN" sz="1200" dirty="0">
                <a:effectLst/>
              </a:rPr>
              <a:t>Logs and metrics encrypted at rest (Key Vault keys).</a:t>
            </a:r>
            <a:endParaRPr lang="en-IN" sz="1200" dirty="0"/>
          </a:p>
          <a:p>
            <a:pPr marL="1143000" lvl="2" indent="-228600">
              <a:buFont typeface="+mj-lt"/>
              <a:buAutoNum type="arabicPeriod"/>
            </a:pPr>
            <a:r>
              <a:rPr lang="en-IN" sz="1200" dirty="0">
                <a:effectLst/>
              </a:rPr>
              <a:t>TLS 1.2+ for all API calls between AI Agent, Log Analytics, and ServiceNow.</a:t>
            </a:r>
            <a:endParaRPr lang="en-IN" sz="1200" dirty="0"/>
          </a:p>
          <a:p>
            <a:pPr marL="1143000" lvl="2" indent="-228600">
              <a:buFont typeface="+mj-lt"/>
              <a:buAutoNum type="arabicPeriod"/>
            </a:pPr>
            <a:r>
              <a:rPr lang="en-IN" sz="1200" dirty="0">
                <a:effectLst/>
              </a:rPr>
              <a:t>Sensitive fields redacted before LLM processing.</a:t>
            </a:r>
            <a:endParaRPr lang="en-IN" sz="1200" dirty="0"/>
          </a:p>
          <a:p>
            <a:pPr marL="742950" lvl="1" indent="-285750">
              <a:buFont typeface="+mj-lt"/>
              <a:buAutoNum type="arabicPeriod"/>
            </a:pPr>
            <a:r>
              <a:rPr lang="en-IN" sz="1200" dirty="0">
                <a:effectLst/>
              </a:rPr>
              <a:t>Caption: “End‑to‑end data protection across observability and ticketing flows.”</a:t>
            </a:r>
            <a:endParaRPr lang="en-IN" sz="1200" dirty="0"/>
          </a:p>
          <a:p>
            <a:pPr>
              <a:buFont typeface="+mj-lt"/>
              <a:buAutoNum type="arabicPeriod"/>
            </a:pPr>
            <a:r>
              <a:rPr lang="en-IN" sz="1200" b="1" dirty="0">
                <a:effectLst/>
              </a:rPr>
              <a:t>Bottom Section — Communication &amp; Audit</a:t>
            </a:r>
            <a:endParaRPr lang="en-IN" sz="1200" dirty="0"/>
          </a:p>
          <a:p>
            <a:pPr marL="742950" lvl="1" indent="-285750">
              <a:buFont typeface="+mj-lt"/>
              <a:buAutoNum type="arabicPeriod"/>
            </a:pPr>
            <a:r>
              <a:rPr lang="en-IN" sz="1200" dirty="0">
                <a:effectLst/>
              </a:rPr>
              <a:t>Icons: Private Endpoint, Sentinel SIEM, Audit Trail.</a:t>
            </a:r>
            <a:endParaRPr lang="en-IN" sz="1200" dirty="0"/>
          </a:p>
          <a:p>
            <a:pPr marL="742950" lvl="1" indent="-285750">
              <a:buFont typeface="+mj-lt"/>
              <a:buAutoNum type="arabicPeriod"/>
            </a:pPr>
            <a:r>
              <a:rPr lang="en-IN" sz="1200" dirty="0">
                <a:effectLst/>
              </a:rPr>
              <a:t>Flow:</a:t>
            </a:r>
            <a:endParaRPr lang="en-IN" sz="1200" dirty="0"/>
          </a:p>
          <a:p>
            <a:pPr marL="1143000" lvl="2" indent="-228600">
              <a:buFont typeface="+mj-lt"/>
              <a:buAutoNum type="arabicPeriod"/>
            </a:pPr>
            <a:r>
              <a:rPr lang="en-IN" sz="1200" dirty="0">
                <a:effectLst/>
              </a:rPr>
              <a:t>Private network communication within same tenant.</a:t>
            </a:r>
            <a:endParaRPr lang="en-IN" sz="1200" dirty="0"/>
          </a:p>
          <a:p>
            <a:pPr marL="1143000" lvl="2" indent="-228600">
              <a:buFont typeface="+mj-lt"/>
              <a:buAutoNum type="arabicPeriod"/>
            </a:pPr>
            <a:r>
              <a:rPr lang="en-IN" sz="1200" dirty="0">
                <a:effectLst/>
              </a:rPr>
              <a:t>Sentinel monitors agent activity and auto‑ticket events.</a:t>
            </a:r>
            <a:endParaRPr lang="en-IN" sz="1200" dirty="0"/>
          </a:p>
          <a:p>
            <a:pPr marL="1143000" lvl="2" indent="-228600">
              <a:buFont typeface="+mj-lt"/>
              <a:buAutoNum type="arabicPeriod"/>
            </a:pPr>
            <a:r>
              <a:rPr lang="en-IN" sz="1200" dirty="0">
                <a:effectLst/>
              </a:rPr>
              <a:t>Compliance alignment (ISO 27001, SOC 2, GDPR).</a:t>
            </a:r>
            <a:endParaRPr lang="en-IN" sz="1200" dirty="0"/>
          </a:p>
          <a:p>
            <a:pPr marL="742950" lvl="1" indent="-285750">
              <a:buFont typeface="+mj-lt"/>
              <a:buAutoNum type="arabicPeriod"/>
            </a:pPr>
            <a:r>
              <a:rPr lang="en-IN" sz="1200" dirty="0">
                <a:effectLst/>
              </a:rPr>
              <a:t>Caption: “All actions authenticated, authorized, and monitored for audit and compliance.”</a:t>
            </a:r>
            <a:endParaRPr lang="en-IN" sz="1200" dirty="0"/>
          </a:p>
          <a:p>
            <a:pPr>
              <a:buFont typeface="+mj-lt"/>
              <a:buAutoNum type="arabicPeriod"/>
            </a:pPr>
            <a:r>
              <a:rPr lang="en-IN" sz="1200" b="1" dirty="0">
                <a:effectLst/>
              </a:rPr>
              <a:t>Right Sidebar — Customer Assurance</a:t>
            </a:r>
            <a:endParaRPr lang="en-IN" sz="1200" dirty="0"/>
          </a:p>
          <a:p>
            <a:pPr marL="742950" lvl="1" indent="-285750">
              <a:buFont typeface="+mj-lt"/>
              <a:buAutoNum type="arabicPeriod"/>
            </a:pPr>
            <a:r>
              <a:rPr lang="en-IN" sz="1200" dirty="0">
                <a:effectLst/>
              </a:rPr>
              <a:t>Quote‑style text:</a:t>
            </a:r>
            <a:endParaRPr lang="en-IN" sz="1200" dirty="0"/>
          </a:p>
          <a:p>
            <a:pPr marL="742950" lvl="1" indent="-285750">
              <a:buFont typeface="+mj-lt"/>
              <a:buAutoNum type="arabicPeriod"/>
            </a:pPr>
            <a:r>
              <a:rPr lang="en-IN" sz="1200" dirty="0">
                <a:effectLst/>
              </a:rPr>
              <a:t>“Our AI agent operates inside your cloud tenant using Managed Identity for authentication, TLS for communication, and Key Vault for encryption. All data movement is secured, monitored, and compliant with enterprise standards.”</a:t>
            </a:r>
            <a:endParaRPr lang="en-IN" sz="1200" dirty="0"/>
          </a:p>
        </p:txBody>
      </p:sp>
      <p:pic>
        <p:nvPicPr>
          <p:cNvPr id="6146" name="Picture 2">
            <a:extLst>
              <a:ext uri="{FF2B5EF4-FFF2-40B4-BE49-F238E27FC236}">
                <a16:creationId xmlns:a16="http://schemas.microsoft.com/office/drawing/2014/main" id="{E6891712-4CF4-35AA-02CA-9CE155C44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6575" y="590538"/>
            <a:ext cx="5657850"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619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2DD178-2CE1-4437-E2B2-FCE8DD22AAF1}"/>
              </a:ext>
            </a:extLst>
          </p:cNvPr>
          <p:cNvSpPr txBox="1"/>
          <p:nvPr/>
        </p:nvSpPr>
        <p:spPr>
          <a:xfrm>
            <a:off x="482600" y="211435"/>
            <a:ext cx="11709400" cy="646331"/>
          </a:xfrm>
          <a:prstGeom prst="rect">
            <a:avLst/>
          </a:prstGeom>
          <a:noFill/>
        </p:spPr>
        <p:txBody>
          <a:bodyPr wrap="square">
            <a:spAutoFit/>
          </a:bodyPr>
          <a:lstStyle/>
          <a:p>
            <a:r>
              <a:rPr lang="en-US" dirty="0"/>
              <a:t>Once </a:t>
            </a:r>
            <a:r>
              <a:rPr lang="en-US" b="1" dirty="0"/>
              <a:t>AI agent is deployed</a:t>
            </a:r>
            <a:r>
              <a:rPr lang="en-US" dirty="0"/>
              <a:t>, you can </a:t>
            </a:r>
            <a:r>
              <a:rPr lang="en-US" b="1" dirty="0"/>
              <a:t>prove its security posture</a:t>
            </a:r>
            <a:r>
              <a:rPr lang="en-US" dirty="0"/>
              <a:t> and </a:t>
            </a:r>
            <a:r>
              <a:rPr lang="en-US" b="1" dirty="0"/>
              <a:t>operational integrity</a:t>
            </a:r>
            <a:r>
              <a:rPr lang="en-US" dirty="0"/>
              <a:t> using </a:t>
            </a:r>
            <a:r>
              <a:rPr lang="en-US" b="1" dirty="0"/>
              <a:t>Azure Sentinel</a:t>
            </a:r>
            <a:r>
              <a:rPr lang="en-US" dirty="0"/>
              <a:t> and </a:t>
            </a:r>
            <a:r>
              <a:rPr lang="en-US" b="1" dirty="0"/>
              <a:t>Key Vault governance visuals</a:t>
            </a:r>
            <a:r>
              <a:rPr lang="en-US" dirty="0"/>
              <a:t>.</a:t>
            </a:r>
            <a:endParaRPr lang="en-IN" dirty="0"/>
          </a:p>
        </p:txBody>
      </p:sp>
      <p:sp>
        <p:nvSpPr>
          <p:cNvPr id="7" name="TextBox 6">
            <a:extLst>
              <a:ext uri="{FF2B5EF4-FFF2-40B4-BE49-F238E27FC236}">
                <a16:creationId xmlns:a16="http://schemas.microsoft.com/office/drawing/2014/main" id="{198867BE-A7AC-8A52-0F39-81EF586BA1CD}"/>
              </a:ext>
            </a:extLst>
          </p:cNvPr>
          <p:cNvSpPr txBox="1"/>
          <p:nvPr/>
        </p:nvSpPr>
        <p:spPr>
          <a:xfrm>
            <a:off x="482600" y="1581308"/>
            <a:ext cx="11353800" cy="1477328"/>
          </a:xfrm>
          <a:prstGeom prst="rect">
            <a:avLst/>
          </a:prstGeom>
          <a:noFill/>
        </p:spPr>
        <p:txBody>
          <a:bodyPr wrap="square">
            <a:spAutoFit/>
          </a:bodyPr>
          <a:lstStyle/>
          <a:p>
            <a:r>
              <a:rPr lang="en-IN" dirty="0" err="1"/>
              <a:t>AzureActivity</a:t>
            </a:r>
            <a:endParaRPr lang="en-IN" dirty="0"/>
          </a:p>
          <a:p>
            <a:r>
              <a:rPr lang="en-IN" dirty="0"/>
              <a:t>| where Caller == "AI-Agent-</a:t>
            </a:r>
            <a:r>
              <a:rPr lang="en-IN" dirty="0" err="1"/>
              <a:t>ManagedIdentity</a:t>
            </a:r>
            <a:r>
              <a:rPr lang="en-IN" dirty="0"/>
              <a:t>"</a:t>
            </a:r>
          </a:p>
          <a:p>
            <a:r>
              <a:rPr lang="en-IN" dirty="0"/>
              <a:t>| where </a:t>
            </a:r>
            <a:r>
              <a:rPr lang="en-IN" dirty="0" err="1"/>
              <a:t>OperationNameValue</a:t>
            </a:r>
            <a:r>
              <a:rPr lang="en-IN" dirty="0"/>
              <a:t> in ("</a:t>
            </a:r>
            <a:r>
              <a:rPr lang="en-IN" dirty="0" err="1"/>
              <a:t>ReadLogs</a:t>
            </a:r>
            <a:r>
              <a:rPr lang="en-IN" dirty="0"/>
              <a:t>", "</a:t>
            </a:r>
            <a:r>
              <a:rPr lang="en-IN" dirty="0" err="1"/>
              <a:t>CreateTicket</a:t>
            </a:r>
            <a:r>
              <a:rPr lang="en-IN" dirty="0"/>
              <a:t>")</a:t>
            </a:r>
          </a:p>
          <a:p>
            <a:r>
              <a:rPr lang="en-IN" dirty="0"/>
              <a:t>| project </a:t>
            </a:r>
            <a:r>
              <a:rPr lang="en-IN" dirty="0" err="1"/>
              <a:t>TimeGenerated</a:t>
            </a:r>
            <a:r>
              <a:rPr lang="en-IN" dirty="0"/>
              <a:t>, Caller, </a:t>
            </a:r>
            <a:r>
              <a:rPr lang="en-IN" dirty="0" err="1"/>
              <a:t>OperationNameValue</a:t>
            </a:r>
            <a:r>
              <a:rPr lang="en-IN" dirty="0"/>
              <a:t>, </a:t>
            </a:r>
            <a:r>
              <a:rPr lang="en-IN" dirty="0" err="1"/>
              <a:t>ResourceGroup</a:t>
            </a:r>
            <a:r>
              <a:rPr lang="en-IN" dirty="0"/>
              <a:t>, Status</a:t>
            </a:r>
          </a:p>
          <a:p>
            <a:r>
              <a:rPr lang="en-IN" dirty="0"/>
              <a:t>| order by </a:t>
            </a:r>
            <a:r>
              <a:rPr lang="en-IN" dirty="0" err="1"/>
              <a:t>TimeGenerated</a:t>
            </a:r>
            <a:r>
              <a:rPr lang="en-IN" dirty="0"/>
              <a:t> </a:t>
            </a:r>
            <a:r>
              <a:rPr lang="en-IN" dirty="0" err="1"/>
              <a:t>desc</a:t>
            </a:r>
            <a:endParaRPr lang="en-IN" dirty="0"/>
          </a:p>
        </p:txBody>
      </p:sp>
      <p:sp>
        <p:nvSpPr>
          <p:cNvPr id="9" name="TextBox 8">
            <a:extLst>
              <a:ext uri="{FF2B5EF4-FFF2-40B4-BE49-F238E27FC236}">
                <a16:creationId xmlns:a16="http://schemas.microsoft.com/office/drawing/2014/main" id="{524A5CA1-F892-237C-CAAE-75FFC5D3B15D}"/>
              </a:ext>
            </a:extLst>
          </p:cNvPr>
          <p:cNvSpPr txBox="1"/>
          <p:nvPr/>
        </p:nvSpPr>
        <p:spPr>
          <a:xfrm>
            <a:off x="584200" y="1034871"/>
            <a:ext cx="11709400" cy="369332"/>
          </a:xfrm>
          <a:prstGeom prst="rect">
            <a:avLst/>
          </a:prstGeom>
          <a:noFill/>
        </p:spPr>
        <p:txBody>
          <a:bodyPr wrap="square">
            <a:spAutoFit/>
          </a:bodyPr>
          <a:lstStyle/>
          <a:p>
            <a:pPr>
              <a:buNone/>
            </a:pPr>
            <a:r>
              <a:rPr lang="en-US" dirty="0">
                <a:effectLst/>
              </a:rPr>
              <a:t>Use a simple query to demonstrate that every log fetch and auto‑ticket action is monitored:</a:t>
            </a:r>
            <a:endParaRPr lang="en-US" dirty="0"/>
          </a:p>
        </p:txBody>
      </p:sp>
      <p:sp>
        <p:nvSpPr>
          <p:cNvPr id="11" name="TextBox 10">
            <a:extLst>
              <a:ext uri="{FF2B5EF4-FFF2-40B4-BE49-F238E27FC236}">
                <a16:creationId xmlns:a16="http://schemas.microsoft.com/office/drawing/2014/main" id="{E1742379-8764-AF13-169E-B45D7B1ECB61}"/>
              </a:ext>
            </a:extLst>
          </p:cNvPr>
          <p:cNvSpPr txBox="1"/>
          <p:nvPr/>
        </p:nvSpPr>
        <p:spPr>
          <a:xfrm>
            <a:off x="393700" y="3429000"/>
            <a:ext cx="6146800" cy="1477328"/>
          </a:xfrm>
          <a:prstGeom prst="rect">
            <a:avLst/>
          </a:prstGeom>
          <a:noFill/>
        </p:spPr>
        <p:txBody>
          <a:bodyPr wrap="square">
            <a:spAutoFit/>
          </a:bodyPr>
          <a:lstStyle/>
          <a:p>
            <a:pPr>
              <a:buNone/>
            </a:pPr>
            <a:r>
              <a:rPr lang="en-US" b="1" dirty="0">
                <a:effectLst/>
              </a:rPr>
              <a:t>Purpose:</a:t>
            </a:r>
            <a:endParaRPr lang="en-US" dirty="0"/>
          </a:p>
          <a:p>
            <a:pPr>
              <a:buFont typeface="Arial" panose="020B0604020202020204" pitchFamily="34" charset="0"/>
              <a:buChar char="•"/>
            </a:pPr>
            <a:r>
              <a:rPr lang="en-US" dirty="0">
                <a:effectLst/>
              </a:rPr>
              <a:t>Shows authenticated actions by the Managed Identity.</a:t>
            </a:r>
            <a:endParaRPr lang="en-US" dirty="0"/>
          </a:p>
          <a:p>
            <a:pPr>
              <a:buFont typeface="Arial" panose="020B0604020202020204" pitchFamily="34" charset="0"/>
              <a:buChar char="•"/>
            </a:pPr>
            <a:r>
              <a:rPr lang="en-US" dirty="0">
                <a:effectLst/>
              </a:rPr>
              <a:t>Confirms that only approved operations (log read, ticket create) occurred.</a:t>
            </a:r>
            <a:endParaRPr lang="en-US" dirty="0"/>
          </a:p>
          <a:p>
            <a:pPr>
              <a:buFont typeface="Arial" panose="020B0604020202020204" pitchFamily="34" charset="0"/>
              <a:buChar char="•"/>
            </a:pPr>
            <a:r>
              <a:rPr lang="en-US" dirty="0">
                <a:effectLst/>
              </a:rPr>
              <a:t>Provides audit trail for compliance and customer assurance.</a:t>
            </a:r>
            <a:endParaRPr lang="en-US" dirty="0"/>
          </a:p>
        </p:txBody>
      </p:sp>
      <p:sp>
        <p:nvSpPr>
          <p:cNvPr id="13" name="TextBox 12">
            <a:extLst>
              <a:ext uri="{FF2B5EF4-FFF2-40B4-BE49-F238E27FC236}">
                <a16:creationId xmlns:a16="http://schemas.microsoft.com/office/drawing/2014/main" id="{7BE08884-D135-06A7-C292-99A0046B49A8}"/>
              </a:ext>
            </a:extLst>
          </p:cNvPr>
          <p:cNvSpPr txBox="1"/>
          <p:nvPr/>
        </p:nvSpPr>
        <p:spPr>
          <a:xfrm>
            <a:off x="482600" y="5103674"/>
            <a:ext cx="10109200" cy="1754326"/>
          </a:xfrm>
          <a:prstGeom prst="rect">
            <a:avLst/>
          </a:prstGeom>
          <a:noFill/>
        </p:spPr>
        <p:txBody>
          <a:bodyPr wrap="square">
            <a:spAutoFit/>
          </a:bodyPr>
          <a:lstStyle/>
          <a:p>
            <a:pPr>
              <a:buNone/>
            </a:pPr>
            <a:r>
              <a:rPr lang="en-IN" b="1" dirty="0"/>
              <a:t>2️⃣ Key Vault Access Policy Diagram</a:t>
            </a:r>
          </a:p>
          <a:p>
            <a:pPr>
              <a:buNone/>
            </a:pPr>
            <a:r>
              <a:rPr lang="en-IN" dirty="0">
                <a:effectLst/>
              </a:rPr>
              <a:t>Visualize how secrets are protected and accessed:</a:t>
            </a:r>
            <a:endParaRPr lang="en-IN" dirty="0"/>
          </a:p>
          <a:p>
            <a:pPr>
              <a:buFont typeface="Arial" panose="020B0604020202020204" pitchFamily="34" charset="0"/>
              <a:buChar char="•"/>
            </a:pPr>
            <a:r>
              <a:rPr lang="en-IN" b="1" dirty="0">
                <a:effectLst/>
              </a:rPr>
              <a:t>AI Agent Managed Identity</a:t>
            </a:r>
            <a:r>
              <a:rPr lang="en-IN" dirty="0">
                <a:effectLst/>
              </a:rPr>
              <a:t> → “Get Secret” permission only.</a:t>
            </a:r>
            <a:endParaRPr lang="en-IN" dirty="0"/>
          </a:p>
          <a:p>
            <a:pPr>
              <a:buFont typeface="Arial" panose="020B0604020202020204" pitchFamily="34" charset="0"/>
              <a:buChar char="•"/>
            </a:pPr>
            <a:r>
              <a:rPr lang="en-IN" b="1" dirty="0">
                <a:effectLst/>
              </a:rPr>
              <a:t>Customer Security Admin</a:t>
            </a:r>
            <a:r>
              <a:rPr lang="en-IN" dirty="0">
                <a:effectLst/>
              </a:rPr>
              <a:t> → “List Keys” + “Set Policy.”</a:t>
            </a:r>
            <a:endParaRPr lang="en-IN" dirty="0"/>
          </a:p>
          <a:p>
            <a:pPr>
              <a:buFont typeface="Arial" panose="020B0604020202020204" pitchFamily="34" charset="0"/>
              <a:buChar char="•"/>
            </a:pPr>
            <a:r>
              <a:rPr lang="en-IN" b="1" dirty="0">
                <a:effectLst/>
              </a:rPr>
              <a:t>Azure Monitor Service</a:t>
            </a:r>
            <a:r>
              <a:rPr lang="en-IN" dirty="0">
                <a:effectLst/>
              </a:rPr>
              <a:t> → “Read Logs” permission.</a:t>
            </a:r>
            <a:endParaRPr lang="en-IN" dirty="0"/>
          </a:p>
          <a:p>
            <a:pPr>
              <a:buFont typeface="Arial" panose="020B0604020202020204" pitchFamily="34" charset="0"/>
              <a:buChar char="•"/>
            </a:pPr>
            <a:r>
              <a:rPr lang="en-IN" b="1" dirty="0">
                <a:effectLst/>
              </a:rPr>
              <a:t>Sentinel SIEM</a:t>
            </a:r>
            <a:r>
              <a:rPr lang="en-IN" dirty="0">
                <a:effectLst/>
              </a:rPr>
              <a:t> → “Audit Access” permission.</a:t>
            </a:r>
            <a:endParaRPr lang="en-IN" dirty="0"/>
          </a:p>
        </p:txBody>
      </p:sp>
      <p:sp>
        <p:nvSpPr>
          <p:cNvPr id="14" name="Rectangle 1">
            <a:extLst>
              <a:ext uri="{FF2B5EF4-FFF2-40B4-BE49-F238E27FC236}">
                <a16:creationId xmlns:a16="http://schemas.microsoft.com/office/drawing/2014/main" id="{465EED66-C15D-BE86-67E8-0158E24F8F86}"/>
              </a:ext>
            </a:extLst>
          </p:cNvPr>
          <p:cNvSpPr>
            <a:spLocks noChangeArrowheads="1"/>
          </p:cNvSpPr>
          <p:nvPr/>
        </p:nvSpPr>
        <p:spPr bwMode="auto">
          <a:xfrm>
            <a:off x="6883400" y="4305638"/>
            <a:ext cx="51435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agent authenticates via </a:t>
            </a:r>
            <a:r>
              <a:rPr kumimoji="0" lang="en-US" altLang="en-US" sz="1800" b="1" i="0" u="none" strike="noStrike" cap="none" normalizeH="0" baseline="0" dirty="0">
                <a:ln>
                  <a:noFill/>
                </a:ln>
                <a:solidFill>
                  <a:schemeClr val="tx1"/>
                </a:solidFill>
                <a:effectLst/>
                <a:latin typeface="Arial" panose="020B0604020202020204" pitchFamily="34" charset="0"/>
              </a:rPr>
              <a:t>Managed Identity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Key Vault issues a token only for </a:t>
            </a:r>
            <a:r>
              <a:rPr kumimoji="0" lang="en-US" altLang="en-US" sz="1800" b="1" i="0" u="none" strike="noStrike" cap="none" normalizeH="0" baseline="0" dirty="0">
                <a:ln>
                  <a:noFill/>
                </a:ln>
                <a:solidFill>
                  <a:schemeClr val="tx1"/>
                </a:solidFill>
                <a:effectLst/>
                <a:latin typeface="Arial" panose="020B0604020202020204" pitchFamily="34" charset="0"/>
              </a:rPr>
              <a:t>Get Secret</a:t>
            </a:r>
            <a:r>
              <a:rPr kumimoji="0" lang="en-US" altLang="en-US" sz="1800" b="0" i="0" u="none" strike="noStrike" cap="none" normalizeH="0" baseline="0" dirty="0">
                <a:ln>
                  <a:noFill/>
                </a:ln>
                <a:solidFill>
                  <a:schemeClr val="tx1"/>
                </a:solidFill>
                <a:effectLst/>
                <a:latin typeface="Arial" panose="020B0604020202020204" pitchFamily="34" charset="0"/>
              </a:rPr>
              <a:t> — no write/delete.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 admin retains full control of policies.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Sentinel ingests Key Vault audit logs to detect anomalies (e.g., agent requesting secrets outside scope).</a:t>
            </a:r>
          </a:p>
        </p:txBody>
      </p:sp>
    </p:spTree>
    <p:extLst>
      <p:ext uri="{BB962C8B-B14F-4D97-AF65-F5344CB8AC3E}">
        <p14:creationId xmlns:p14="http://schemas.microsoft.com/office/powerpoint/2010/main" val="707203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396E-EE2C-2D62-C45D-E5BB55F0FA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86852F-F240-ADB5-B391-4FE1A00BFBDC}"/>
              </a:ext>
            </a:extLst>
          </p:cNvPr>
          <p:cNvSpPr>
            <a:spLocks noGrp="1"/>
          </p:cNvSpPr>
          <p:nvPr>
            <p:ph idx="1"/>
          </p:nvPr>
        </p:nvSpPr>
        <p:spPr/>
        <p:txBody>
          <a:bodyPr/>
          <a:lstStyle/>
          <a:p>
            <a:endParaRPr lang="en-IN"/>
          </a:p>
        </p:txBody>
      </p:sp>
      <p:pic>
        <p:nvPicPr>
          <p:cNvPr id="8194" name="Picture 2" descr="Sentinel and Key Vault Proof Diagram">
            <a:extLst>
              <a:ext uri="{FF2B5EF4-FFF2-40B4-BE49-F238E27FC236}">
                <a16:creationId xmlns:a16="http://schemas.microsoft.com/office/drawing/2014/main" id="{16543D1D-B098-C43D-B834-461E8D9B0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598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6666802-75BE-D51B-7280-38575EC7143B}"/>
              </a:ext>
            </a:extLst>
          </p:cNvPr>
          <p:cNvGraphicFramePr>
            <a:graphicFrameLocks noGrp="1"/>
          </p:cNvGraphicFramePr>
          <p:nvPr/>
        </p:nvGraphicFramePr>
        <p:xfrm>
          <a:off x="347074" y="1084411"/>
          <a:ext cx="11413127" cy="5401455"/>
        </p:xfrm>
        <a:graphic>
          <a:graphicData uri="http://schemas.openxmlformats.org/drawingml/2006/table">
            <a:tbl>
              <a:tblPr/>
              <a:tblGrid>
                <a:gridCol w="2647723">
                  <a:extLst>
                    <a:ext uri="{9D8B030D-6E8A-4147-A177-3AD203B41FA5}">
                      <a16:colId xmlns:a16="http://schemas.microsoft.com/office/drawing/2014/main" val="2679009168"/>
                    </a:ext>
                  </a:extLst>
                </a:gridCol>
                <a:gridCol w="5742803">
                  <a:extLst>
                    <a:ext uri="{9D8B030D-6E8A-4147-A177-3AD203B41FA5}">
                      <a16:colId xmlns:a16="http://schemas.microsoft.com/office/drawing/2014/main" val="3012729699"/>
                    </a:ext>
                  </a:extLst>
                </a:gridCol>
                <a:gridCol w="3022601">
                  <a:extLst>
                    <a:ext uri="{9D8B030D-6E8A-4147-A177-3AD203B41FA5}">
                      <a16:colId xmlns:a16="http://schemas.microsoft.com/office/drawing/2014/main" val="3659774402"/>
                    </a:ext>
                  </a:extLst>
                </a:gridCol>
              </a:tblGrid>
              <a:tr h="363065">
                <a:tc>
                  <a:txBody>
                    <a:bodyPr/>
                    <a:lstStyle/>
                    <a:p>
                      <a:pPr>
                        <a:buNone/>
                      </a:pPr>
                      <a:r>
                        <a:rPr lang="en-IN" sz="2000"/>
                        <a:t>Layer</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Description</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Azure Component</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5769140"/>
                  </a:ext>
                </a:extLst>
              </a:tr>
              <a:tr h="945767">
                <a:tc>
                  <a:txBody>
                    <a:bodyPr/>
                    <a:lstStyle/>
                    <a:p>
                      <a:pPr>
                        <a:buNone/>
                      </a:pPr>
                      <a:r>
                        <a:rPr lang="en-IN" sz="2000" b="1" dirty="0"/>
                        <a:t>Network Isolation</a:t>
                      </a:r>
                      <a:endParaRPr lang="en-IN" sz="2000" dirty="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Deploy AI agent in a new </a:t>
                      </a:r>
                      <a:r>
                        <a:rPr lang="en-US" sz="2000" dirty="0" err="1"/>
                        <a:t>VNet</a:t>
                      </a:r>
                      <a:r>
                        <a:rPr lang="en-US" sz="2000" dirty="0"/>
                        <a:t> (Solution </a:t>
                      </a:r>
                      <a:r>
                        <a:rPr lang="en-US" sz="2000" dirty="0" err="1"/>
                        <a:t>VNet</a:t>
                      </a:r>
                      <a:r>
                        <a:rPr lang="en-US" sz="2000" dirty="0"/>
                        <a:t>) separate from production.</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Azure Virtual Network</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6517550"/>
                  </a:ext>
                </a:extLst>
              </a:tr>
              <a:tr h="845290">
                <a:tc>
                  <a:txBody>
                    <a:bodyPr/>
                    <a:lstStyle/>
                    <a:p>
                      <a:pPr>
                        <a:buNone/>
                      </a:pPr>
                      <a:r>
                        <a:rPr lang="en-IN" sz="2000" b="1"/>
                        <a:t>Secure Connectivity</a:t>
                      </a:r>
                      <a:endParaRPr lang="en-IN" sz="20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Establish </a:t>
                      </a:r>
                      <a:r>
                        <a:rPr lang="en-US" sz="2000" b="1" dirty="0" err="1"/>
                        <a:t>VNet</a:t>
                      </a:r>
                      <a:r>
                        <a:rPr lang="en-US" sz="2000" b="1" dirty="0"/>
                        <a:t> Peering</a:t>
                      </a:r>
                      <a:r>
                        <a:rPr lang="en-US" sz="2000" dirty="0"/>
                        <a:t> between Solution </a:t>
                      </a:r>
                      <a:r>
                        <a:rPr lang="en-US" sz="2000" dirty="0" err="1"/>
                        <a:t>VNet</a:t>
                      </a:r>
                      <a:r>
                        <a:rPr lang="en-US" sz="2000" dirty="0"/>
                        <a:t> and Production </a:t>
                      </a:r>
                      <a:r>
                        <a:rPr lang="en-US" sz="2000" dirty="0" err="1"/>
                        <a:t>VNet</a:t>
                      </a:r>
                      <a:r>
                        <a:rPr lang="en-US" sz="2000" dirty="0"/>
                        <a:t>.</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err="1"/>
                        <a:t>VNet</a:t>
                      </a:r>
                      <a:r>
                        <a:rPr lang="en-IN" sz="2000" dirty="0"/>
                        <a:t> Peering</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2128563"/>
                  </a:ext>
                </a:extLst>
              </a:tr>
              <a:tr h="945767">
                <a:tc>
                  <a:txBody>
                    <a:bodyPr/>
                    <a:lstStyle/>
                    <a:p>
                      <a:pPr>
                        <a:buNone/>
                      </a:pPr>
                      <a:r>
                        <a:rPr lang="en-IN" sz="2000" b="1" dirty="0"/>
                        <a:t>Controlled Access</a:t>
                      </a:r>
                      <a:endParaRPr lang="en-IN" sz="2000" dirty="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Restrict traffic using </a:t>
                      </a:r>
                      <a:r>
                        <a:rPr lang="en-US" sz="2000" b="1"/>
                        <a:t>NSGs</a:t>
                      </a:r>
                      <a:r>
                        <a:rPr lang="en-US" sz="2000"/>
                        <a:t> and </a:t>
                      </a:r>
                      <a:r>
                        <a:rPr lang="en-US" sz="2000" b="1"/>
                        <a:t>Route Tables</a:t>
                      </a:r>
                      <a:r>
                        <a:rPr lang="en-US" sz="2000"/>
                        <a:t> — only allow log/metric ports.</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Network Security Groups</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509842"/>
                  </a:ext>
                </a:extLst>
              </a:tr>
              <a:tr h="945767">
                <a:tc>
                  <a:txBody>
                    <a:bodyPr/>
                    <a:lstStyle/>
                    <a:p>
                      <a:pPr>
                        <a:buNone/>
                      </a:pPr>
                      <a:r>
                        <a:rPr lang="en-IN" sz="2000" b="1"/>
                        <a:t>Identity &amp; Access</a:t>
                      </a:r>
                      <a:endParaRPr lang="en-IN" sz="20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Continue using </a:t>
                      </a:r>
                      <a:r>
                        <a:rPr lang="en-US" sz="2000" b="1"/>
                        <a:t>Managed Identity</a:t>
                      </a:r>
                      <a:r>
                        <a:rPr lang="en-US" sz="2000"/>
                        <a:t> + </a:t>
                      </a:r>
                      <a:r>
                        <a:rPr lang="en-US" sz="2000" b="1"/>
                        <a:t>RBAC</a:t>
                      </a:r>
                      <a:r>
                        <a:rPr lang="en-US" sz="2000"/>
                        <a:t> for authentication and authorization.</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Entra ID (Azure AD)</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3449487"/>
                  </a:ext>
                </a:extLst>
              </a:tr>
              <a:tr h="654416">
                <a:tc>
                  <a:txBody>
                    <a:bodyPr/>
                    <a:lstStyle/>
                    <a:p>
                      <a:pPr>
                        <a:buNone/>
                      </a:pPr>
                      <a:r>
                        <a:rPr lang="en-IN" sz="2000" b="1"/>
                        <a:t>Data Protection</a:t>
                      </a:r>
                      <a:endParaRPr lang="en-IN" sz="20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TLS 1.2+ for all traffic; Key Vault for secret management.</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Key Vault + Private Endpoints</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7275881"/>
                  </a:ext>
                </a:extLst>
              </a:tr>
              <a:tr h="654416">
                <a:tc>
                  <a:txBody>
                    <a:bodyPr/>
                    <a:lstStyle/>
                    <a:p>
                      <a:pPr>
                        <a:buNone/>
                      </a:pPr>
                      <a:r>
                        <a:rPr lang="en-IN" sz="2000" b="1"/>
                        <a:t>Monitoring &amp; Audit</a:t>
                      </a:r>
                      <a:endParaRPr lang="en-IN" sz="20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Sentinel SIEM tracks all cross‑VNet activity.</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Microsoft Sentinel</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8506550"/>
                  </a:ext>
                </a:extLst>
              </a:tr>
            </a:tbl>
          </a:graphicData>
        </a:graphic>
      </p:graphicFrame>
      <p:sp>
        <p:nvSpPr>
          <p:cNvPr id="6" name="TextBox 5">
            <a:extLst>
              <a:ext uri="{FF2B5EF4-FFF2-40B4-BE49-F238E27FC236}">
                <a16:creationId xmlns:a16="http://schemas.microsoft.com/office/drawing/2014/main" id="{C9206B7F-C66D-8240-3E2A-8DF978D502FB}"/>
              </a:ext>
            </a:extLst>
          </p:cNvPr>
          <p:cNvSpPr txBox="1"/>
          <p:nvPr/>
        </p:nvSpPr>
        <p:spPr>
          <a:xfrm>
            <a:off x="152400" y="281690"/>
            <a:ext cx="6096000" cy="369332"/>
          </a:xfrm>
          <a:prstGeom prst="rect">
            <a:avLst/>
          </a:prstGeom>
          <a:noFill/>
        </p:spPr>
        <p:txBody>
          <a:bodyPr wrap="square">
            <a:spAutoFit/>
          </a:bodyPr>
          <a:lstStyle/>
          <a:p>
            <a:pPr>
              <a:buNone/>
            </a:pPr>
            <a:r>
              <a:rPr lang="en-IN" b="1" dirty="0"/>
              <a:t>🧩 S2 Cloud Native — </a:t>
            </a:r>
            <a:r>
              <a:rPr lang="en-IN" b="1" dirty="0" err="1"/>
              <a:t>VNet</a:t>
            </a:r>
            <a:r>
              <a:rPr lang="en-IN" b="1" dirty="0"/>
              <a:t> Peering Security Model</a:t>
            </a:r>
          </a:p>
        </p:txBody>
      </p:sp>
    </p:spTree>
    <p:extLst>
      <p:ext uri="{BB962C8B-B14F-4D97-AF65-F5344CB8AC3E}">
        <p14:creationId xmlns:p14="http://schemas.microsoft.com/office/powerpoint/2010/main" val="32568427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2079</Words>
  <Application>Microsoft Office PowerPoint</Application>
  <PresentationFormat>Widescreen</PresentationFormat>
  <Paragraphs>330</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Google Sans Text</vt:lpstr>
      <vt:lpstr>Office Theme</vt:lpstr>
      <vt:lpstr>PowerPoint Presentation</vt:lpstr>
      <vt:lpstr>PowerPoint Presentation</vt:lpstr>
      <vt:lpstr>PowerPoint Presentation</vt:lpstr>
      <vt:lpstr>PowerPoint Presentation</vt:lpstr>
      <vt:lpstr>Checkpointer is like auto save feature</vt:lpstr>
      <vt:lpstr>PowerPoint Presentation</vt:lpstr>
      <vt:lpstr>PowerPoint Presentation</vt:lpstr>
      <vt:lpstr>PowerPoint Presentation</vt:lpstr>
      <vt:lpstr>PowerPoint Presentation</vt:lpstr>
      <vt:lpstr>PowerPoint Presentation</vt:lpstr>
      <vt:lpstr>S1 Cloud Native — Security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gamer</dc:creator>
  <cp:lastModifiedBy>Mohit gamer</cp:lastModifiedBy>
  <cp:revision>1</cp:revision>
  <dcterms:created xsi:type="dcterms:W3CDTF">2026-08-18T02:21:59Z</dcterms:created>
  <dcterms:modified xsi:type="dcterms:W3CDTF">2026-08-18T02:22:00Z</dcterms:modified>
</cp:coreProperties>
</file>