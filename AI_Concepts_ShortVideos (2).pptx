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6858000" cy="12188952"/>
  <p:notesSz cx="12188952"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6858000" cy="12188952"/>
          </a:xfrm>
          <a:prstGeom prst="rect">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548640" y="2377440"/>
            <a:ext cx="1188720" cy="1188720"/>
          </a:xfrm>
          <a:prstGeom prst="rect">
            <a:avLst/>
          </a:prstGeom>
        </p:spPr>
      </p:pic>
      <p:sp>
        <p:nvSpPr>
          <p:cNvPr id="4" name="Text 1"/>
          <p:cNvSpPr txBox="1"/>
          <p:nvPr/>
        </p:nvSpPr>
        <p:spPr>
          <a:xfrm>
            <a:off x="548640" y="4206240"/>
            <a:ext cx="5760720" cy="1463040"/>
          </a:xfrm>
          <a:prstGeom prst="rect">
            <a:avLst/>
          </a:prstGeom>
          <a:noFill/>
          <a:ln/>
        </p:spPr>
        <p:txBody>
          <a:bodyPr wrap="square" lIns="0" tIns="0" rIns="0" bIns="0"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AI &amp; AGENTIC AI</a:t>
            </a:r>
            <a:endParaRPr lang="en-US" sz="4000" dirty="0"/>
          </a:p>
        </p:txBody>
      </p:sp>
      <p:sp>
        <p:nvSpPr>
          <p:cNvPr id="5" name="Text 2"/>
          <p:cNvSpPr txBox="1"/>
          <p:nvPr/>
        </p:nvSpPr>
        <p:spPr>
          <a:xfrm>
            <a:off x="548640" y="5577840"/>
            <a:ext cx="5760720" cy="731520"/>
          </a:xfrm>
          <a:prstGeom prst="rect">
            <a:avLst/>
          </a:prstGeom>
          <a:noFill/>
          <a:ln/>
        </p:spPr>
        <p:txBody>
          <a:bodyPr wrap="square" lIns="0" tIns="0" rIns="0" bIns="0" rtlCol="0" anchor="ctr"/>
          <a:lstStyle/>
          <a:p>
            <a:pPr algn="l" indent="0" marL="0">
              <a:buNone/>
            </a:pPr>
            <a:r>
              <a:rPr lang="en-US" sz="2400" i="1" dirty="0">
                <a:solidFill>
                  <a:srgbClr val="FFC857"/>
                </a:solidFill>
                <a:latin typeface="Arial" pitchFamily="34" charset="0"/>
                <a:ea typeface="Arial" pitchFamily="34" charset="-122"/>
                <a:cs typeface="Arial" pitchFamily="34" charset="-120"/>
              </a:rPr>
              <a:t>Explained in 60 Seconds</a:t>
            </a:r>
            <a:endParaRPr lang="en-US" sz="2400" dirty="0"/>
          </a:p>
        </p:txBody>
      </p:sp>
      <p:sp>
        <p:nvSpPr>
          <p:cNvPr id="6" name="Text 3"/>
          <p:cNvSpPr txBox="1"/>
          <p:nvPr/>
        </p:nvSpPr>
        <p:spPr>
          <a:xfrm>
            <a:off x="548640" y="6492240"/>
            <a:ext cx="5760720" cy="548640"/>
          </a:xfrm>
          <a:prstGeom prst="rect">
            <a:avLst/>
          </a:prstGeom>
          <a:noFill/>
          <a:ln/>
        </p:spPr>
        <p:txBody>
          <a:bodyPr wrap="square" lIns="0" tIns="0" rIns="0" bIns="0" rtlCol="0" anchor="ctr"/>
          <a:lstStyle/>
          <a:p>
            <a:pPr algn="l" indent="0" marL="0">
              <a:buNone/>
            </a:pPr>
            <a:r>
              <a:rPr lang="en-US" sz="1600" dirty="0">
                <a:solidFill>
                  <a:srgbClr val="CADCFC"/>
                </a:solidFill>
                <a:latin typeface="Arial" pitchFamily="34" charset="0"/>
                <a:ea typeface="Arial" pitchFamily="34" charset="-122"/>
                <a:cs typeface="Arial" pitchFamily="34" charset="-120"/>
              </a:rPr>
              <a:t>58 concepts. One minute each.</a:t>
            </a:r>
            <a:endParaRPr lang="en-US" sz="1600" dirty="0"/>
          </a:p>
        </p:txBody>
      </p:sp>
      <p:sp>
        <p:nvSpPr>
          <p:cNvPr id="7" name="Shape 4"/>
          <p:cNvSpPr/>
          <p:nvPr/>
        </p:nvSpPr>
        <p:spPr>
          <a:xfrm>
            <a:off x="548640" y="10607040"/>
            <a:ext cx="1097280" cy="0"/>
          </a:xfrm>
          <a:prstGeom prst="line">
            <a:avLst/>
          </a:prstGeom>
          <a:noFill/>
          <a:ln w="25400">
            <a:solidFill>
              <a:srgbClr val="FFC857"/>
            </a:solidFill>
            <a:prstDash val="solid"/>
          </a:ln>
        </p:spPr>
      </p:sp>
      <p:sp>
        <p:nvSpPr>
          <p:cNvPr id="8" name="Text 5"/>
          <p:cNvSpPr txBox="1"/>
          <p:nvPr/>
        </p:nvSpPr>
        <p:spPr>
          <a:xfrm>
            <a:off x="548640" y="10744200"/>
            <a:ext cx="576072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RAJNEESH HAJELA</a:t>
            </a:r>
            <a:endParaRPr lang="en-US" sz="1400" dirty="0"/>
          </a:p>
        </p:txBody>
      </p:sp>
      <p:sp>
        <p:nvSpPr>
          <p:cNvPr id="9" name="Text 6"/>
          <p:cNvSpPr txBox="1"/>
          <p:nvPr/>
        </p:nvSpPr>
        <p:spPr>
          <a:xfrm>
            <a:off x="548640" y="11064240"/>
            <a:ext cx="5760720" cy="457200"/>
          </a:xfrm>
          <a:prstGeom prst="rect">
            <a:avLst/>
          </a:prstGeom>
          <a:noFill/>
          <a:ln/>
        </p:spPr>
        <p:txBody>
          <a:bodyPr wrap="square" lIns="0" tIns="0" rIns="0" bIns="0" rtlCol="0" anchor="ctr"/>
          <a:lstStyle/>
          <a:p>
            <a:pPr indent="0" marL="0">
              <a:buNone/>
            </a:pPr>
            <a:r>
              <a:rPr lang="en-US" sz="1200" dirty="0">
                <a:solidFill>
                  <a:srgbClr val="8C9BD6"/>
                </a:solidFill>
                <a:latin typeface="Arial" pitchFamily="34" charset="0"/>
                <a:ea typeface="Arial" pitchFamily="34" charset="-122"/>
                <a:cs typeface="Arial" pitchFamily="34" charset="-120"/>
              </a:rPr>
              <a:t>Enterprise Architect | Agentic AI &amp; Cloud Transformation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01</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Neural Networks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Thousands of tiny switches, learning together.</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neural network is layers of simple math units (neurons) that learn patterns from data by adjusting the strength of their connections. Stack enough layers and it can recognize images, understand language, or predict outcomes.</a:t>
            </a:r>
            <a:endParaRPr lang="en-US" sz="1900" dirty="0"/>
          </a:p>
        </p:txBody>
      </p:sp>
      <p:sp>
        <p:nvSpPr>
          <p:cNvPr id="9" name="Shape 6"/>
          <p:cNvSpPr/>
          <p:nvPr/>
        </p:nvSpPr>
        <p:spPr>
          <a:xfrm>
            <a:off x="777240" y="8092440"/>
            <a:ext cx="1767840" cy="228600"/>
          </a:xfrm>
          <a:prstGeom prst="line">
            <a:avLst/>
          </a:prstGeom>
          <a:noFill/>
          <a:ln w="6350">
            <a:solidFill>
              <a:srgbClr val="CADCFC">
                <a:alpha val="45000"/>
              </a:srgbClr>
            </a:solidFill>
            <a:prstDash val="solid"/>
          </a:ln>
        </p:spPr>
      </p:sp>
      <p:sp>
        <p:nvSpPr>
          <p:cNvPr id="10" name="Shape 7"/>
          <p:cNvSpPr/>
          <p:nvPr/>
        </p:nvSpPr>
        <p:spPr>
          <a:xfrm>
            <a:off x="777240" y="8321040"/>
            <a:ext cx="1767840" cy="228600"/>
          </a:xfrm>
          <a:prstGeom prst="line">
            <a:avLst/>
          </a:prstGeom>
          <a:noFill/>
          <a:ln w="6350">
            <a:solidFill>
              <a:srgbClr val="CADCFC">
                <a:alpha val="45000"/>
              </a:srgbClr>
            </a:solidFill>
            <a:prstDash val="solid"/>
          </a:ln>
        </p:spPr>
      </p:sp>
      <p:sp>
        <p:nvSpPr>
          <p:cNvPr id="11" name="Shape 8"/>
          <p:cNvSpPr/>
          <p:nvPr/>
        </p:nvSpPr>
        <p:spPr>
          <a:xfrm>
            <a:off x="777240" y="8321040"/>
            <a:ext cx="1767840" cy="685800"/>
          </a:xfrm>
          <a:prstGeom prst="line">
            <a:avLst/>
          </a:prstGeom>
          <a:noFill/>
          <a:ln w="6350">
            <a:solidFill>
              <a:srgbClr val="CADCFC">
                <a:alpha val="45000"/>
              </a:srgbClr>
            </a:solidFill>
            <a:prstDash val="solid"/>
          </a:ln>
        </p:spPr>
      </p:sp>
      <p:sp>
        <p:nvSpPr>
          <p:cNvPr id="12" name="Shape 9"/>
          <p:cNvSpPr/>
          <p:nvPr/>
        </p:nvSpPr>
        <p:spPr>
          <a:xfrm>
            <a:off x="777240" y="8321040"/>
            <a:ext cx="1767840" cy="1143000"/>
          </a:xfrm>
          <a:prstGeom prst="line">
            <a:avLst/>
          </a:prstGeom>
          <a:noFill/>
          <a:ln w="6350">
            <a:solidFill>
              <a:srgbClr val="CADCFC">
                <a:alpha val="45000"/>
              </a:srgbClr>
            </a:solidFill>
            <a:prstDash val="solid"/>
          </a:ln>
        </p:spPr>
      </p:sp>
      <p:sp>
        <p:nvSpPr>
          <p:cNvPr id="13" name="Shape 10"/>
          <p:cNvSpPr/>
          <p:nvPr/>
        </p:nvSpPr>
        <p:spPr>
          <a:xfrm>
            <a:off x="777240" y="8092440"/>
            <a:ext cx="1767840" cy="685800"/>
          </a:xfrm>
          <a:prstGeom prst="line">
            <a:avLst/>
          </a:prstGeom>
          <a:noFill/>
          <a:ln w="6350">
            <a:solidFill>
              <a:srgbClr val="CADCFC">
                <a:alpha val="45000"/>
              </a:srgbClr>
            </a:solidFill>
            <a:prstDash val="solid"/>
          </a:ln>
        </p:spPr>
      </p:sp>
      <p:sp>
        <p:nvSpPr>
          <p:cNvPr id="14" name="Shape 11"/>
          <p:cNvSpPr/>
          <p:nvPr/>
        </p:nvSpPr>
        <p:spPr>
          <a:xfrm>
            <a:off x="777240" y="8549640"/>
            <a:ext cx="1767840" cy="228600"/>
          </a:xfrm>
          <a:prstGeom prst="line">
            <a:avLst/>
          </a:prstGeom>
          <a:noFill/>
          <a:ln w="6350">
            <a:solidFill>
              <a:srgbClr val="CADCFC">
                <a:alpha val="45000"/>
              </a:srgbClr>
            </a:solidFill>
            <a:prstDash val="solid"/>
          </a:ln>
        </p:spPr>
      </p:sp>
      <p:sp>
        <p:nvSpPr>
          <p:cNvPr id="15" name="Shape 12"/>
          <p:cNvSpPr/>
          <p:nvPr/>
        </p:nvSpPr>
        <p:spPr>
          <a:xfrm>
            <a:off x="777240" y="8778240"/>
            <a:ext cx="1767840" cy="228600"/>
          </a:xfrm>
          <a:prstGeom prst="line">
            <a:avLst/>
          </a:prstGeom>
          <a:noFill/>
          <a:ln w="6350">
            <a:solidFill>
              <a:srgbClr val="CADCFC">
                <a:alpha val="45000"/>
              </a:srgbClr>
            </a:solidFill>
            <a:prstDash val="solid"/>
          </a:ln>
        </p:spPr>
      </p:sp>
      <p:sp>
        <p:nvSpPr>
          <p:cNvPr id="16" name="Shape 13"/>
          <p:cNvSpPr/>
          <p:nvPr/>
        </p:nvSpPr>
        <p:spPr>
          <a:xfrm>
            <a:off x="777240" y="8778240"/>
            <a:ext cx="1767840" cy="685800"/>
          </a:xfrm>
          <a:prstGeom prst="line">
            <a:avLst/>
          </a:prstGeom>
          <a:noFill/>
          <a:ln w="6350">
            <a:solidFill>
              <a:srgbClr val="CADCFC">
                <a:alpha val="45000"/>
              </a:srgbClr>
            </a:solidFill>
            <a:prstDash val="solid"/>
          </a:ln>
        </p:spPr>
      </p:sp>
      <p:sp>
        <p:nvSpPr>
          <p:cNvPr id="17" name="Shape 14"/>
          <p:cNvSpPr/>
          <p:nvPr/>
        </p:nvSpPr>
        <p:spPr>
          <a:xfrm>
            <a:off x="777240" y="8092440"/>
            <a:ext cx="1767840" cy="1143000"/>
          </a:xfrm>
          <a:prstGeom prst="line">
            <a:avLst/>
          </a:prstGeom>
          <a:noFill/>
          <a:ln w="6350">
            <a:solidFill>
              <a:srgbClr val="CADCFC">
                <a:alpha val="45000"/>
              </a:srgbClr>
            </a:solidFill>
            <a:prstDash val="solid"/>
          </a:ln>
        </p:spPr>
      </p:sp>
      <p:sp>
        <p:nvSpPr>
          <p:cNvPr id="18" name="Shape 15"/>
          <p:cNvSpPr/>
          <p:nvPr/>
        </p:nvSpPr>
        <p:spPr>
          <a:xfrm>
            <a:off x="777240" y="8549640"/>
            <a:ext cx="1767840" cy="685800"/>
          </a:xfrm>
          <a:prstGeom prst="line">
            <a:avLst/>
          </a:prstGeom>
          <a:noFill/>
          <a:ln w="6350">
            <a:solidFill>
              <a:srgbClr val="CADCFC">
                <a:alpha val="45000"/>
              </a:srgbClr>
            </a:solidFill>
            <a:prstDash val="solid"/>
          </a:ln>
        </p:spPr>
      </p:sp>
      <p:sp>
        <p:nvSpPr>
          <p:cNvPr id="19" name="Shape 16"/>
          <p:cNvSpPr/>
          <p:nvPr/>
        </p:nvSpPr>
        <p:spPr>
          <a:xfrm>
            <a:off x="777240" y="9006840"/>
            <a:ext cx="1767840" cy="228600"/>
          </a:xfrm>
          <a:prstGeom prst="line">
            <a:avLst/>
          </a:prstGeom>
          <a:noFill/>
          <a:ln w="6350">
            <a:solidFill>
              <a:srgbClr val="CADCFC">
                <a:alpha val="45000"/>
              </a:srgbClr>
            </a:solidFill>
            <a:prstDash val="solid"/>
          </a:ln>
        </p:spPr>
      </p:sp>
      <p:sp>
        <p:nvSpPr>
          <p:cNvPr id="20" name="Shape 17"/>
          <p:cNvSpPr/>
          <p:nvPr/>
        </p:nvSpPr>
        <p:spPr>
          <a:xfrm>
            <a:off x="777240" y="9235440"/>
            <a:ext cx="1767840" cy="228600"/>
          </a:xfrm>
          <a:prstGeom prst="line">
            <a:avLst/>
          </a:prstGeom>
          <a:noFill/>
          <a:ln w="6350">
            <a:solidFill>
              <a:srgbClr val="CADCFC">
                <a:alpha val="45000"/>
              </a:srgbClr>
            </a:solidFill>
            <a:prstDash val="solid"/>
          </a:ln>
        </p:spPr>
      </p:sp>
      <p:sp>
        <p:nvSpPr>
          <p:cNvPr id="21" name="Shape 18"/>
          <p:cNvSpPr/>
          <p:nvPr/>
        </p:nvSpPr>
        <p:spPr>
          <a:xfrm>
            <a:off x="2545080" y="8092440"/>
            <a:ext cx="1767840" cy="0"/>
          </a:xfrm>
          <a:prstGeom prst="line">
            <a:avLst/>
          </a:prstGeom>
          <a:noFill/>
          <a:ln w="6350">
            <a:solidFill>
              <a:srgbClr val="CADCFC">
                <a:alpha val="45000"/>
              </a:srgbClr>
            </a:solidFill>
            <a:prstDash val="solid"/>
          </a:ln>
        </p:spPr>
      </p:sp>
      <p:sp>
        <p:nvSpPr>
          <p:cNvPr id="22" name="Shape 19"/>
          <p:cNvSpPr/>
          <p:nvPr/>
        </p:nvSpPr>
        <p:spPr>
          <a:xfrm>
            <a:off x="2545080" y="8092440"/>
            <a:ext cx="1767840" cy="457200"/>
          </a:xfrm>
          <a:prstGeom prst="line">
            <a:avLst/>
          </a:prstGeom>
          <a:noFill/>
          <a:ln w="6350">
            <a:solidFill>
              <a:srgbClr val="CADCFC">
                <a:alpha val="45000"/>
              </a:srgbClr>
            </a:solidFill>
            <a:prstDash val="solid"/>
          </a:ln>
        </p:spPr>
      </p:sp>
      <p:sp>
        <p:nvSpPr>
          <p:cNvPr id="23" name="Shape 20"/>
          <p:cNvSpPr/>
          <p:nvPr/>
        </p:nvSpPr>
        <p:spPr>
          <a:xfrm>
            <a:off x="2545080" y="8092440"/>
            <a:ext cx="1767840" cy="914400"/>
          </a:xfrm>
          <a:prstGeom prst="line">
            <a:avLst/>
          </a:prstGeom>
          <a:noFill/>
          <a:ln w="6350">
            <a:solidFill>
              <a:srgbClr val="CADCFC">
                <a:alpha val="45000"/>
              </a:srgbClr>
            </a:solidFill>
            <a:prstDash val="solid"/>
          </a:ln>
        </p:spPr>
      </p:sp>
      <p:sp>
        <p:nvSpPr>
          <p:cNvPr id="24" name="Shape 21"/>
          <p:cNvSpPr/>
          <p:nvPr/>
        </p:nvSpPr>
        <p:spPr>
          <a:xfrm>
            <a:off x="2545080" y="8092440"/>
            <a:ext cx="1767840" cy="1371600"/>
          </a:xfrm>
          <a:prstGeom prst="line">
            <a:avLst/>
          </a:prstGeom>
          <a:noFill/>
          <a:ln w="6350">
            <a:solidFill>
              <a:srgbClr val="CADCFC">
                <a:alpha val="45000"/>
              </a:srgbClr>
            </a:solidFill>
            <a:prstDash val="solid"/>
          </a:ln>
        </p:spPr>
      </p:sp>
      <p:sp>
        <p:nvSpPr>
          <p:cNvPr id="25" name="Shape 22"/>
          <p:cNvSpPr/>
          <p:nvPr/>
        </p:nvSpPr>
        <p:spPr>
          <a:xfrm>
            <a:off x="2545080" y="8092440"/>
            <a:ext cx="1767840" cy="457200"/>
          </a:xfrm>
          <a:prstGeom prst="line">
            <a:avLst/>
          </a:prstGeom>
          <a:noFill/>
          <a:ln w="6350">
            <a:solidFill>
              <a:srgbClr val="CADCFC">
                <a:alpha val="45000"/>
              </a:srgbClr>
            </a:solidFill>
            <a:prstDash val="solid"/>
          </a:ln>
        </p:spPr>
      </p:sp>
      <p:sp>
        <p:nvSpPr>
          <p:cNvPr id="26" name="Shape 23"/>
          <p:cNvSpPr/>
          <p:nvPr/>
        </p:nvSpPr>
        <p:spPr>
          <a:xfrm>
            <a:off x="2545080" y="8549640"/>
            <a:ext cx="1767840" cy="0"/>
          </a:xfrm>
          <a:prstGeom prst="line">
            <a:avLst/>
          </a:prstGeom>
          <a:noFill/>
          <a:ln w="6350">
            <a:solidFill>
              <a:srgbClr val="CADCFC">
                <a:alpha val="45000"/>
              </a:srgbClr>
            </a:solidFill>
            <a:prstDash val="solid"/>
          </a:ln>
        </p:spPr>
      </p:sp>
      <p:sp>
        <p:nvSpPr>
          <p:cNvPr id="27" name="Shape 24"/>
          <p:cNvSpPr/>
          <p:nvPr/>
        </p:nvSpPr>
        <p:spPr>
          <a:xfrm>
            <a:off x="2545080" y="8549640"/>
            <a:ext cx="1767840" cy="457200"/>
          </a:xfrm>
          <a:prstGeom prst="line">
            <a:avLst/>
          </a:prstGeom>
          <a:noFill/>
          <a:ln w="6350">
            <a:solidFill>
              <a:srgbClr val="CADCFC">
                <a:alpha val="45000"/>
              </a:srgbClr>
            </a:solidFill>
            <a:prstDash val="solid"/>
          </a:ln>
        </p:spPr>
      </p:sp>
      <p:sp>
        <p:nvSpPr>
          <p:cNvPr id="28" name="Shape 25"/>
          <p:cNvSpPr/>
          <p:nvPr/>
        </p:nvSpPr>
        <p:spPr>
          <a:xfrm>
            <a:off x="2545080" y="8549640"/>
            <a:ext cx="1767840" cy="914400"/>
          </a:xfrm>
          <a:prstGeom prst="line">
            <a:avLst/>
          </a:prstGeom>
          <a:noFill/>
          <a:ln w="6350">
            <a:solidFill>
              <a:srgbClr val="CADCFC">
                <a:alpha val="45000"/>
              </a:srgbClr>
            </a:solidFill>
            <a:prstDash val="solid"/>
          </a:ln>
        </p:spPr>
      </p:sp>
      <p:sp>
        <p:nvSpPr>
          <p:cNvPr id="29" name="Shape 26"/>
          <p:cNvSpPr/>
          <p:nvPr/>
        </p:nvSpPr>
        <p:spPr>
          <a:xfrm>
            <a:off x="2545080" y="8092440"/>
            <a:ext cx="1767840" cy="914400"/>
          </a:xfrm>
          <a:prstGeom prst="line">
            <a:avLst/>
          </a:prstGeom>
          <a:noFill/>
          <a:ln w="6350">
            <a:solidFill>
              <a:srgbClr val="CADCFC">
                <a:alpha val="45000"/>
              </a:srgbClr>
            </a:solidFill>
            <a:prstDash val="solid"/>
          </a:ln>
        </p:spPr>
      </p:sp>
      <p:sp>
        <p:nvSpPr>
          <p:cNvPr id="30" name="Shape 27"/>
          <p:cNvSpPr/>
          <p:nvPr/>
        </p:nvSpPr>
        <p:spPr>
          <a:xfrm>
            <a:off x="2545080" y="8549640"/>
            <a:ext cx="1767840" cy="457200"/>
          </a:xfrm>
          <a:prstGeom prst="line">
            <a:avLst/>
          </a:prstGeom>
          <a:noFill/>
          <a:ln w="6350">
            <a:solidFill>
              <a:srgbClr val="CADCFC">
                <a:alpha val="45000"/>
              </a:srgbClr>
            </a:solidFill>
            <a:prstDash val="solid"/>
          </a:ln>
        </p:spPr>
      </p:sp>
      <p:sp>
        <p:nvSpPr>
          <p:cNvPr id="31" name="Shape 28"/>
          <p:cNvSpPr/>
          <p:nvPr/>
        </p:nvSpPr>
        <p:spPr>
          <a:xfrm>
            <a:off x="2545080" y="9006840"/>
            <a:ext cx="1767840" cy="0"/>
          </a:xfrm>
          <a:prstGeom prst="line">
            <a:avLst/>
          </a:prstGeom>
          <a:noFill/>
          <a:ln w="6350">
            <a:solidFill>
              <a:srgbClr val="CADCFC">
                <a:alpha val="45000"/>
              </a:srgbClr>
            </a:solidFill>
            <a:prstDash val="solid"/>
          </a:ln>
        </p:spPr>
      </p:sp>
      <p:sp>
        <p:nvSpPr>
          <p:cNvPr id="32" name="Shape 29"/>
          <p:cNvSpPr/>
          <p:nvPr/>
        </p:nvSpPr>
        <p:spPr>
          <a:xfrm>
            <a:off x="2545080" y="9006840"/>
            <a:ext cx="1767840" cy="457200"/>
          </a:xfrm>
          <a:prstGeom prst="line">
            <a:avLst/>
          </a:prstGeom>
          <a:noFill/>
          <a:ln w="6350">
            <a:solidFill>
              <a:srgbClr val="CADCFC">
                <a:alpha val="45000"/>
              </a:srgbClr>
            </a:solidFill>
            <a:prstDash val="solid"/>
          </a:ln>
        </p:spPr>
      </p:sp>
      <p:sp>
        <p:nvSpPr>
          <p:cNvPr id="33" name="Shape 30"/>
          <p:cNvSpPr/>
          <p:nvPr/>
        </p:nvSpPr>
        <p:spPr>
          <a:xfrm>
            <a:off x="2545080" y="8092440"/>
            <a:ext cx="1767840" cy="1371600"/>
          </a:xfrm>
          <a:prstGeom prst="line">
            <a:avLst/>
          </a:prstGeom>
          <a:noFill/>
          <a:ln w="6350">
            <a:solidFill>
              <a:srgbClr val="CADCFC">
                <a:alpha val="45000"/>
              </a:srgbClr>
            </a:solidFill>
            <a:prstDash val="solid"/>
          </a:ln>
        </p:spPr>
      </p:sp>
      <p:sp>
        <p:nvSpPr>
          <p:cNvPr id="34" name="Shape 31"/>
          <p:cNvSpPr/>
          <p:nvPr/>
        </p:nvSpPr>
        <p:spPr>
          <a:xfrm>
            <a:off x="2545080" y="8549640"/>
            <a:ext cx="1767840" cy="914400"/>
          </a:xfrm>
          <a:prstGeom prst="line">
            <a:avLst/>
          </a:prstGeom>
          <a:noFill/>
          <a:ln w="6350">
            <a:solidFill>
              <a:srgbClr val="CADCFC">
                <a:alpha val="45000"/>
              </a:srgbClr>
            </a:solidFill>
            <a:prstDash val="solid"/>
          </a:ln>
        </p:spPr>
      </p:sp>
      <p:sp>
        <p:nvSpPr>
          <p:cNvPr id="35" name="Shape 32"/>
          <p:cNvSpPr/>
          <p:nvPr/>
        </p:nvSpPr>
        <p:spPr>
          <a:xfrm>
            <a:off x="2545080" y="9006840"/>
            <a:ext cx="1767840" cy="457200"/>
          </a:xfrm>
          <a:prstGeom prst="line">
            <a:avLst/>
          </a:prstGeom>
          <a:noFill/>
          <a:ln w="6350">
            <a:solidFill>
              <a:srgbClr val="CADCFC">
                <a:alpha val="45000"/>
              </a:srgbClr>
            </a:solidFill>
            <a:prstDash val="solid"/>
          </a:ln>
        </p:spPr>
      </p:sp>
      <p:sp>
        <p:nvSpPr>
          <p:cNvPr id="36" name="Shape 33"/>
          <p:cNvSpPr/>
          <p:nvPr/>
        </p:nvSpPr>
        <p:spPr>
          <a:xfrm>
            <a:off x="2545080" y="9464040"/>
            <a:ext cx="1767840" cy="0"/>
          </a:xfrm>
          <a:prstGeom prst="line">
            <a:avLst/>
          </a:prstGeom>
          <a:noFill/>
          <a:ln w="6350">
            <a:solidFill>
              <a:srgbClr val="CADCFC">
                <a:alpha val="45000"/>
              </a:srgbClr>
            </a:solidFill>
            <a:prstDash val="solid"/>
          </a:ln>
        </p:spPr>
      </p:sp>
      <p:sp>
        <p:nvSpPr>
          <p:cNvPr id="37" name="Shape 34"/>
          <p:cNvSpPr/>
          <p:nvPr/>
        </p:nvSpPr>
        <p:spPr>
          <a:xfrm>
            <a:off x="4312920" y="8092440"/>
            <a:ext cx="1767840" cy="457200"/>
          </a:xfrm>
          <a:prstGeom prst="line">
            <a:avLst/>
          </a:prstGeom>
          <a:noFill/>
          <a:ln w="6350">
            <a:solidFill>
              <a:srgbClr val="CADCFC">
                <a:alpha val="45000"/>
              </a:srgbClr>
            </a:solidFill>
            <a:prstDash val="solid"/>
          </a:ln>
        </p:spPr>
      </p:sp>
      <p:sp>
        <p:nvSpPr>
          <p:cNvPr id="38" name="Shape 35"/>
          <p:cNvSpPr/>
          <p:nvPr/>
        </p:nvSpPr>
        <p:spPr>
          <a:xfrm>
            <a:off x="4312920" y="8092440"/>
            <a:ext cx="1767840" cy="914400"/>
          </a:xfrm>
          <a:prstGeom prst="line">
            <a:avLst/>
          </a:prstGeom>
          <a:noFill/>
          <a:ln w="6350">
            <a:solidFill>
              <a:srgbClr val="CADCFC">
                <a:alpha val="45000"/>
              </a:srgbClr>
            </a:solidFill>
            <a:prstDash val="solid"/>
          </a:ln>
        </p:spPr>
      </p:sp>
      <p:sp>
        <p:nvSpPr>
          <p:cNvPr id="39" name="Shape 36"/>
          <p:cNvSpPr/>
          <p:nvPr/>
        </p:nvSpPr>
        <p:spPr>
          <a:xfrm>
            <a:off x="4312920" y="8549640"/>
            <a:ext cx="1767840" cy="0"/>
          </a:xfrm>
          <a:prstGeom prst="line">
            <a:avLst/>
          </a:prstGeom>
          <a:noFill/>
          <a:ln w="6350">
            <a:solidFill>
              <a:srgbClr val="CADCFC">
                <a:alpha val="45000"/>
              </a:srgbClr>
            </a:solidFill>
            <a:prstDash val="solid"/>
          </a:ln>
        </p:spPr>
      </p:sp>
      <p:sp>
        <p:nvSpPr>
          <p:cNvPr id="40" name="Shape 37"/>
          <p:cNvSpPr/>
          <p:nvPr/>
        </p:nvSpPr>
        <p:spPr>
          <a:xfrm>
            <a:off x="4312920" y="8549640"/>
            <a:ext cx="1767840" cy="457200"/>
          </a:xfrm>
          <a:prstGeom prst="line">
            <a:avLst/>
          </a:prstGeom>
          <a:noFill/>
          <a:ln w="6350">
            <a:solidFill>
              <a:srgbClr val="CADCFC">
                <a:alpha val="45000"/>
              </a:srgbClr>
            </a:solidFill>
            <a:prstDash val="solid"/>
          </a:ln>
        </p:spPr>
      </p:sp>
      <p:sp>
        <p:nvSpPr>
          <p:cNvPr id="41" name="Shape 38"/>
          <p:cNvSpPr/>
          <p:nvPr/>
        </p:nvSpPr>
        <p:spPr>
          <a:xfrm>
            <a:off x="4312920" y="8549640"/>
            <a:ext cx="1767840" cy="457200"/>
          </a:xfrm>
          <a:prstGeom prst="line">
            <a:avLst/>
          </a:prstGeom>
          <a:noFill/>
          <a:ln w="6350">
            <a:solidFill>
              <a:srgbClr val="CADCFC">
                <a:alpha val="45000"/>
              </a:srgbClr>
            </a:solidFill>
            <a:prstDash val="solid"/>
          </a:ln>
        </p:spPr>
      </p:sp>
      <p:sp>
        <p:nvSpPr>
          <p:cNvPr id="42" name="Shape 39"/>
          <p:cNvSpPr/>
          <p:nvPr/>
        </p:nvSpPr>
        <p:spPr>
          <a:xfrm>
            <a:off x="4312920" y="9006840"/>
            <a:ext cx="1767840" cy="0"/>
          </a:xfrm>
          <a:prstGeom prst="line">
            <a:avLst/>
          </a:prstGeom>
          <a:noFill/>
          <a:ln w="6350">
            <a:solidFill>
              <a:srgbClr val="CADCFC">
                <a:alpha val="45000"/>
              </a:srgbClr>
            </a:solidFill>
            <a:prstDash val="solid"/>
          </a:ln>
        </p:spPr>
      </p:sp>
      <p:sp>
        <p:nvSpPr>
          <p:cNvPr id="43" name="Shape 40"/>
          <p:cNvSpPr/>
          <p:nvPr/>
        </p:nvSpPr>
        <p:spPr>
          <a:xfrm>
            <a:off x="4312920" y="8549640"/>
            <a:ext cx="1767840" cy="914400"/>
          </a:xfrm>
          <a:prstGeom prst="line">
            <a:avLst/>
          </a:prstGeom>
          <a:noFill/>
          <a:ln w="6350">
            <a:solidFill>
              <a:srgbClr val="CADCFC">
                <a:alpha val="45000"/>
              </a:srgbClr>
            </a:solidFill>
            <a:prstDash val="solid"/>
          </a:ln>
        </p:spPr>
      </p:sp>
      <p:sp>
        <p:nvSpPr>
          <p:cNvPr id="44" name="Shape 41"/>
          <p:cNvSpPr/>
          <p:nvPr/>
        </p:nvSpPr>
        <p:spPr>
          <a:xfrm>
            <a:off x="4312920" y="9006840"/>
            <a:ext cx="1767840" cy="457200"/>
          </a:xfrm>
          <a:prstGeom prst="line">
            <a:avLst/>
          </a:prstGeom>
          <a:noFill/>
          <a:ln w="6350">
            <a:solidFill>
              <a:srgbClr val="CADCFC">
                <a:alpha val="45000"/>
              </a:srgbClr>
            </a:solidFill>
            <a:prstDash val="solid"/>
          </a:ln>
        </p:spPr>
      </p:sp>
      <p:sp>
        <p:nvSpPr>
          <p:cNvPr id="45" name="Shape 42"/>
          <p:cNvSpPr/>
          <p:nvPr/>
        </p:nvSpPr>
        <p:spPr>
          <a:xfrm>
            <a:off x="676656" y="8220456"/>
            <a:ext cx="201168" cy="201168"/>
          </a:xfrm>
          <a:prstGeom prst="ellipse">
            <a:avLst/>
          </a:prstGeom>
          <a:solidFill>
            <a:srgbClr val="273571"/>
          </a:solidFill>
          <a:ln w="15240">
            <a:solidFill>
              <a:srgbClr val="CADCFC"/>
            </a:solidFill>
            <a:prstDash val="solid"/>
          </a:ln>
        </p:spPr>
      </p:sp>
      <p:sp>
        <p:nvSpPr>
          <p:cNvPr id="46" name="Shape 43"/>
          <p:cNvSpPr/>
          <p:nvPr/>
        </p:nvSpPr>
        <p:spPr>
          <a:xfrm>
            <a:off x="676656" y="8677656"/>
            <a:ext cx="201168" cy="201168"/>
          </a:xfrm>
          <a:prstGeom prst="ellipse">
            <a:avLst/>
          </a:prstGeom>
          <a:solidFill>
            <a:srgbClr val="273571"/>
          </a:solidFill>
          <a:ln w="15240">
            <a:solidFill>
              <a:srgbClr val="CADCFC"/>
            </a:solidFill>
            <a:prstDash val="solid"/>
          </a:ln>
        </p:spPr>
      </p:sp>
      <p:sp>
        <p:nvSpPr>
          <p:cNvPr id="47" name="Shape 44"/>
          <p:cNvSpPr/>
          <p:nvPr/>
        </p:nvSpPr>
        <p:spPr>
          <a:xfrm>
            <a:off x="676656" y="9134856"/>
            <a:ext cx="201168" cy="201168"/>
          </a:xfrm>
          <a:prstGeom prst="ellipse">
            <a:avLst/>
          </a:prstGeom>
          <a:solidFill>
            <a:srgbClr val="273571"/>
          </a:solidFill>
          <a:ln w="15240">
            <a:solidFill>
              <a:srgbClr val="CADCFC"/>
            </a:solidFill>
            <a:prstDash val="solid"/>
          </a:ln>
        </p:spPr>
      </p:sp>
      <p:sp>
        <p:nvSpPr>
          <p:cNvPr id="48" name="Shape 45"/>
          <p:cNvSpPr/>
          <p:nvPr/>
        </p:nvSpPr>
        <p:spPr>
          <a:xfrm>
            <a:off x="2444496" y="7991856"/>
            <a:ext cx="201168" cy="201168"/>
          </a:xfrm>
          <a:prstGeom prst="ellipse">
            <a:avLst/>
          </a:prstGeom>
          <a:solidFill>
            <a:srgbClr val="273571"/>
          </a:solidFill>
          <a:ln w="15240">
            <a:solidFill>
              <a:srgbClr val="CADCFC"/>
            </a:solidFill>
            <a:prstDash val="solid"/>
          </a:ln>
        </p:spPr>
      </p:sp>
      <p:sp>
        <p:nvSpPr>
          <p:cNvPr id="49" name="Shape 46"/>
          <p:cNvSpPr/>
          <p:nvPr/>
        </p:nvSpPr>
        <p:spPr>
          <a:xfrm>
            <a:off x="2444496" y="8449056"/>
            <a:ext cx="201168" cy="201168"/>
          </a:xfrm>
          <a:prstGeom prst="ellipse">
            <a:avLst/>
          </a:prstGeom>
          <a:solidFill>
            <a:srgbClr val="273571"/>
          </a:solidFill>
          <a:ln w="15240">
            <a:solidFill>
              <a:srgbClr val="CADCFC"/>
            </a:solidFill>
            <a:prstDash val="solid"/>
          </a:ln>
        </p:spPr>
      </p:sp>
      <p:sp>
        <p:nvSpPr>
          <p:cNvPr id="50" name="Shape 47"/>
          <p:cNvSpPr/>
          <p:nvPr/>
        </p:nvSpPr>
        <p:spPr>
          <a:xfrm>
            <a:off x="2444496" y="8906256"/>
            <a:ext cx="201168" cy="201168"/>
          </a:xfrm>
          <a:prstGeom prst="ellipse">
            <a:avLst/>
          </a:prstGeom>
          <a:solidFill>
            <a:srgbClr val="273571"/>
          </a:solidFill>
          <a:ln w="15240">
            <a:solidFill>
              <a:srgbClr val="CADCFC"/>
            </a:solidFill>
            <a:prstDash val="solid"/>
          </a:ln>
        </p:spPr>
      </p:sp>
      <p:sp>
        <p:nvSpPr>
          <p:cNvPr id="51" name="Shape 48"/>
          <p:cNvSpPr/>
          <p:nvPr/>
        </p:nvSpPr>
        <p:spPr>
          <a:xfrm>
            <a:off x="2444496" y="9363456"/>
            <a:ext cx="201168" cy="201168"/>
          </a:xfrm>
          <a:prstGeom prst="ellipse">
            <a:avLst/>
          </a:prstGeom>
          <a:solidFill>
            <a:srgbClr val="273571"/>
          </a:solidFill>
          <a:ln w="15240">
            <a:solidFill>
              <a:srgbClr val="CADCFC"/>
            </a:solidFill>
            <a:prstDash val="solid"/>
          </a:ln>
        </p:spPr>
      </p:sp>
      <p:sp>
        <p:nvSpPr>
          <p:cNvPr id="52" name="Shape 49"/>
          <p:cNvSpPr/>
          <p:nvPr/>
        </p:nvSpPr>
        <p:spPr>
          <a:xfrm>
            <a:off x="4212336" y="7991856"/>
            <a:ext cx="201168" cy="201168"/>
          </a:xfrm>
          <a:prstGeom prst="ellipse">
            <a:avLst/>
          </a:prstGeom>
          <a:solidFill>
            <a:srgbClr val="273571"/>
          </a:solidFill>
          <a:ln w="15240">
            <a:solidFill>
              <a:srgbClr val="CADCFC"/>
            </a:solidFill>
            <a:prstDash val="solid"/>
          </a:ln>
        </p:spPr>
      </p:sp>
      <p:sp>
        <p:nvSpPr>
          <p:cNvPr id="53" name="Shape 50"/>
          <p:cNvSpPr/>
          <p:nvPr/>
        </p:nvSpPr>
        <p:spPr>
          <a:xfrm>
            <a:off x="4212336" y="8449056"/>
            <a:ext cx="201168" cy="201168"/>
          </a:xfrm>
          <a:prstGeom prst="ellipse">
            <a:avLst/>
          </a:prstGeom>
          <a:solidFill>
            <a:srgbClr val="273571"/>
          </a:solidFill>
          <a:ln w="15240">
            <a:solidFill>
              <a:srgbClr val="CADCFC"/>
            </a:solidFill>
            <a:prstDash val="solid"/>
          </a:ln>
        </p:spPr>
      </p:sp>
      <p:sp>
        <p:nvSpPr>
          <p:cNvPr id="54" name="Shape 51"/>
          <p:cNvSpPr/>
          <p:nvPr/>
        </p:nvSpPr>
        <p:spPr>
          <a:xfrm>
            <a:off x="4212336" y="8906256"/>
            <a:ext cx="201168" cy="201168"/>
          </a:xfrm>
          <a:prstGeom prst="ellipse">
            <a:avLst/>
          </a:prstGeom>
          <a:solidFill>
            <a:srgbClr val="273571"/>
          </a:solidFill>
          <a:ln w="15240">
            <a:solidFill>
              <a:srgbClr val="CADCFC"/>
            </a:solidFill>
            <a:prstDash val="solid"/>
          </a:ln>
        </p:spPr>
      </p:sp>
      <p:sp>
        <p:nvSpPr>
          <p:cNvPr id="55" name="Shape 52"/>
          <p:cNvSpPr/>
          <p:nvPr/>
        </p:nvSpPr>
        <p:spPr>
          <a:xfrm>
            <a:off x="4212336" y="9363456"/>
            <a:ext cx="201168" cy="201168"/>
          </a:xfrm>
          <a:prstGeom prst="ellipse">
            <a:avLst/>
          </a:prstGeom>
          <a:solidFill>
            <a:srgbClr val="273571"/>
          </a:solidFill>
          <a:ln w="15240">
            <a:solidFill>
              <a:srgbClr val="CADCFC"/>
            </a:solidFill>
            <a:prstDash val="solid"/>
          </a:ln>
        </p:spPr>
      </p:sp>
      <p:sp>
        <p:nvSpPr>
          <p:cNvPr id="56" name="Shape 53"/>
          <p:cNvSpPr/>
          <p:nvPr/>
        </p:nvSpPr>
        <p:spPr>
          <a:xfrm>
            <a:off x="5980176" y="8449056"/>
            <a:ext cx="201168" cy="201168"/>
          </a:xfrm>
          <a:prstGeom prst="ellipse">
            <a:avLst/>
          </a:prstGeom>
          <a:solidFill>
            <a:srgbClr val="FFC857"/>
          </a:solidFill>
          <a:ln w="15240">
            <a:solidFill>
              <a:srgbClr val="CADCFC"/>
            </a:solidFill>
            <a:prstDash val="solid"/>
          </a:ln>
        </p:spPr>
      </p:sp>
      <p:sp>
        <p:nvSpPr>
          <p:cNvPr id="57" name="Shape 54"/>
          <p:cNvSpPr/>
          <p:nvPr/>
        </p:nvSpPr>
        <p:spPr>
          <a:xfrm>
            <a:off x="5980176" y="8906256"/>
            <a:ext cx="201168" cy="201168"/>
          </a:xfrm>
          <a:prstGeom prst="ellipse">
            <a:avLst/>
          </a:prstGeom>
          <a:solidFill>
            <a:srgbClr val="FFC857"/>
          </a:solidFill>
          <a:ln w="15240">
            <a:solidFill>
              <a:srgbClr val="CADCFC"/>
            </a:solidFill>
            <a:prstDash val="solid"/>
          </a:ln>
        </p:spPr>
      </p:sp>
      <p:sp>
        <p:nvSpPr>
          <p:cNvPr id="58" name="Text 5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01 / 58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02</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Large Language Model (LLM)</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Trained to predict the next word — at massive scale.</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An LLM is a neural network trained on huge amounts of text to predict the next word or token. That one skill, done at scale, lets it write, reason, summarize, and hold conversations.</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Massive</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Text Data</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Train to Predict</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Next Word</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Fluent</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Language Model</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02 / 58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03</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Tokens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Words get chopped into pieces before a model can read them.</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token is a chunk of text — often a word or part of one — that is the model's basic unit of input and output. Context limits and pricing are measured in tokens, not words.</a:t>
            </a:r>
            <a:endParaRPr lang="en-US" sz="1900" dirty="0"/>
          </a:p>
        </p:txBody>
      </p:sp>
      <p:sp>
        <p:nvSpPr>
          <p:cNvPr id="9" name="Shape 6"/>
          <p:cNvSpPr/>
          <p:nvPr/>
        </p:nvSpPr>
        <p:spPr>
          <a:xfrm>
            <a:off x="2240280" y="7589520"/>
            <a:ext cx="2377440" cy="502920"/>
          </a:xfrm>
          <a:prstGeom prst="roundRect">
            <a:avLst>
              <a:gd name="adj" fmla="val 10909"/>
            </a:avLst>
          </a:prstGeom>
          <a:solidFill>
            <a:srgbClr val="FFC857"/>
          </a:solidFill>
          <a:ln/>
        </p:spPr>
      </p:sp>
      <p:sp>
        <p:nvSpPr>
          <p:cNvPr id="10" name="Text 7"/>
          <p:cNvSpPr txBox="1"/>
          <p:nvPr/>
        </p:nvSpPr>
        <p:spPr>
          <a:xfrm>
            <a:off x="2240280" y="7589520"/>
            <a:ext cx="2377440"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“The cats sat”</a:t>
            </a:r>
            <a:endParaRPr lang="en-US" sz="1250" dirty="0"/>
          </a:p>
        </p:txBody>
      </p:sp>
      <p:sp>
        <p:nvSpPr>
          <p:cNvPr id="11" name="Shape 8"/>
          <p:cNvSpPr/>
          <p:nvPr/>
        </p:nvSpPr>
        <p:spPr>
          <a:xfrm>
            <a:off x="1165860" y="8092440"/>
            <a:ext cx="2263140" cy="868680"/>
          </a:xfrm>
          <a:prstGeom prst="line">
            <a:avLst/>
          </a:prstGeom>
          <a:noFill/>
          <a:ln w="16510">
            <a:solidFill>
              <a:srgbClr val="CADCFC"/>
            </a:solidFill>
            <a:prstDash val="solid"/>
          </a:ln>
        </p:spPr>
      </p:sp>
      <p:sp>
        <p:nvSpPr>
          <p:cNvPr id="12" name="Shape 9"/>
          <p:cNvSpPr/>
          <p:nvPr/>
        </p:nvSpPr>
        <p:spPr>
          <a:xfrm>
            <a:off x="548640" y="8961120"/>
            <a:ext cx="1234440" cy="502920"/>
          </a:xfrm>
          <a:prstGeom prst="roundRect">
            <a:avLst>
              <a:gd name="adj" fmla="val 10909"/>
            </a:avLst>
          </a:prstGeom>
          <a:solidFill>
            <a:srgbClr val="273571"/>
          </a:solidFill>
          <a:ln w="16510">
            <a:solidFill>
              <a:srgbClr val="CADCFC"/>
            </a:solidFill>
            <a:prstDash val="solid"/>
          </a:ln>
        </p:spPr>
      </p:sp>
      <p:sp>
        <p:nvSpPr>
          <p:cNvPr id="13" name="Text 10"/>
          <p:cNvSpPr txBox="1"/>
          <p:nvPr/>
        </p:nvSpPr>
        <p:spPr>
          <a:xfrm>
            <a:off x="57607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The</a:t>
            </a:r>
            <a:endParaRPr lang="en-US" sz="1000" dirty="0"/>
          </a:p>
        </p:txBody>
      </p:sp>
      <p:sp>
        <p:nvSpPr>
          <p:cNvPr id="14" name="Shape 11"/>
          <p:cNvSpPr/>
          <p:nvPr/>
        </p:nvSpPr>
        <p:spPr>
          <a:xfrm>
            <a:off x="2674620" y="8092440"/>
            <a:ext cx="754380" cy="868680"/>
          </a:xfrm>
          <a:prstGeom prst="line">
            <a:avLst/>
          </a:prstGeom>
          <a:noFill/>
          <a:ln w="16510">
            <a:solidFill>
              <a:srgbClr val="CADCFC"/>
            </a:solidFill>
            <a:prstDash val="solid"/>
          </a:ln>
        </p:spPr>
      </p:sp>
      <p:sp>
        <p:nvSpPr>
          <p:cNvPr id="15" name="Shape 12"/>
          <p:cNvSpPr/>
          <p:nvPr/>
        </p:nvSpPr>
        <p:spPr>
          <a:xfrm>
            <a:off x="2057400" y="8961120"/>
            <a:ext cx="1234440" cy="502920"/>
          </a:xfrm>
          <a:prstGeom prst="roundRect">
            <a:avLst>
              <a:gd name="adj" fmla="val 10909"/>
            </a:avLst>
          </a:prstGeom>
          <a:solidFill>
            <a:srgbClr val="273571"/>
          </a:solidFill>
          <a:ln w="16510">
            <a:solidFill>
              <a:srgbClr val="CADCFC"/>
            </a:solidFill>
            <a:prstDash val="solid"/>
          </a:ln>
        </p:spPr>
      </p:sp>
      <p:sp>
        <p:nvSpPr>
          <p:cNvPr id="16" name="Text 13"/>
          <p:cNvSpPr txBox="1"/>
          <p:nvPr/>
        </p:nvSpPr>
        <p:spPr>
          <a:xfrm>
            <a:off x="208483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cat</a:t>
            </a:r>
            <a:endParaRPr lang="en-US" sz="1000" dirty="0"/>
          </a:p>
        </p:txBody>
      </p:sp>
      <p:sp>
        <p:nvSpPr>
          <p:cNvPr id="17" name="Shape 14"/>
          <p:cNvSpPr/>
          <p:nvPr/>
        </p:nvSpPr>
        <p:spPr>
          <a:xfrm>
            <a:off x="3429000" y="8092440"/>
            <a:ext cx="754380" cy="868680"/>
          </a:xfrm>
          <a:prstGeom prst="line">
            <a:avLst/>
          </a:prstGeom>
          <a:noFill/>
          <a:ln w="16510">
            <a:solidFill>
              <a:srgbClr val="CADCFC"/>
            </a:solidFill>
            <a:prstDash val="solid"/>
          </a:ln>
        </p:spPr>
      </p:sp>
      <p:sp>
        <p:nvSpPr>
          <p:cNvPr id="18" name="Shape 15"/>
          <p:cNvSpPr/>
          <p:nvPr/>
        </p:nvSpPr>
        <p:spPr>
          <a:xfrm>
            <a:off x="3566160" y="8961120"/>
            <a:ext cx="1234440" cy="502920"/>
          </a:xfrm>
          <a:prstGeom prst="roundRect">
            <a:avLst>
              <a:gd name="adj" fmla="val 10909"/>
            </a:avLst>
          </a:prstGeom>
          <a:solidFill>
            <a:srgbClr val="273571"/>
          </a:solidFill>
          <a:ln w="16510">
            <a:solidFill>
              <a:srgbClr val="CADCFC"/>
            </a:solidFill>
            <a:prstDash val="solid"/>
          </a:ln>
        </p:spPr>
      </p:sp>
      <p:sp>
        <p:nvSpPr>
          <p:cNvPr id="19" name="Text 16"/>
          <p:cNvSpPr txBox="1"/>
          <p:nvPr/>
        </p:nvSpPr>
        <p:spPr>
          <a:xfrm>
            <a:off x="359359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s</a:t>
            </a:r>
            <a:endParaRPr lang="en-US" sz="1000" dirty="0"/>
          </a:p>
        </p:txBody>
      </p:sp>
      <p:sp>
        <p:nvSpPr>
          <p:cNvPr id="20" name="Shape 17"/>
          <p:cNvSpPr/>
          <p:nvPr/>
        </p:nvSpPr>
        <p:spPr>
          <a:xfrm>
            <a:off x="3429000" y="8092440"/>
            <a:ext cx="2263140" cy="868680"/>
          </a:xfrm>
          <a:prstGeom prst="line">
            <a:avLst/>
          </a:prstGeom>
          <a:noFill/>
          <a:ln w="16510">
            <a:solidFill>
              <a:srgbClr val="CADCFC"/>
            </a:solidFill>
            <a:prstDash val="solid"/>
          </a:ln>
        </p:spPr>
      </p:sp>
      <p:sp>
        <p:nvSpPr>
          <p:cNvPr id="21" name="Shape 18"/>
          <p:cNvSpPr/>
          <p:nvPr/>
        </p:nvSpPr>
        <p:spPr>
          <a:xfrm>
            <a:off x="5074920" y="8961120"/>
            <a:ext cx="1234440" cy="502920"/>
          </a:xfrm>
          <a:prstGeom prst="roundRect">
            <a:avLst>
              <a:gd name="adj" fmla="val 10909"/>
            </a:avLst>
          </a:prstGeom>
          <a:solidFill>
            <a:srgbClr val="273571"/>
          </a:solidFill>
          <a:ln w="16510">
            <a:solidFill>
              <a:srgbClr val="CADCFC"/>
            </a:solidFill>
            <a:prstDash val="solid"/>
          </a:ln>
        </p:spPr>
      </p:sp>
      <p:sp>
        <p:nvSpPr>
          <p:cNvPr id="22" name="Text 19"/>
          <p:cNvSpPr txBox="1"/>
          <p:nvPr/>
        </p:nvSpPr>
        <p:spPr>
          <a:xfrm>
            <a:off x="510235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sat</a:t>
            </a:r>
            <a:endParaRPr lang="en-US" sz="1000" dirty="0"/>
          </a:p>
        </p:txBody>
      </p:sp>
      <p:sp>
        <p:nvSpPr>
          <p:cNvPr id="23" name="Text 20"/>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03 / 58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04</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Context Window</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How much a model can ‘remember’ in one go.</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The context window is the maximum number of tokens a model can consider at once — prompt, chat history, and response combined. Go past it, and older content gets dropped.</a:t>
            </a:r>
            <a:endParaRPr lang="en-US" sz="1900" dirty="0"/>
          </a:p>
        </p:txBody>
      </p:sp>
      <p:sp>
        <p:nvSpPr>
          <p:cNvPr id="9" name="Text 6"/>
          <p:cNvSpPr txBox="1"/>
          <p:nvPr/>
        </p:nvSpPr>
        <p:spPr>
          <a:xfrm>
            <a:off x="1463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4K tokens</a:t>
            </a:r>
            <a:endParaRPr lang="en-US" sz="1200" dirty="0"/>
          </a:p>
        </p:txBody>
      </p:sp>
      <p:sp>
        <p:nvSpPr>
          <p:cNvPr id="10" name="Shape 7"/>
          <p:cNvSpPr/>
          <p:nvPr/>
        </p:nvSpPr>
        <p:spPr>
          <a:xfrm>
            <a:off x="1783080" y="8988552"/>
            <a:ext cx="1005840" cy="246888"/>
          </a:xfrm>
          <a:prstGeom prst="rect">
            <a:avLst/>
          </a:prstGeom>
          <a:solidFill>
            <a:srgbClr val="273571"/>
          </a:solidFill>
          <a:ln w="16510">
            <a:solidFill>
              <a:srgbClr val="CADCFC"/>
            </a:solidFill>
            <a:prstDash val="solid"/>
          </a:ln>
        </p:spPr>
      </p:sp>
      <p:sp>
        <p:nvSpPr>
          <p:cNvPr id="11" name="Text 8"/>
          <p:cNvSpPr txBox="1"/>
          <p:nvPr/>
        </p:nvSpPr>
        <p:spPr>
          <a:xfrm>
            <a:off x="1463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Short context window</a:t>
            </a:r>
            <a:endParaRPr lang="en-US" sz="1050" dirty="0"/>
          </a:p>
        </p:txBody>
      </p:sp>
      <p:sp>
        <p:nvSpPr>
          <p:cNvPr id="12" name="Text 9"/>
          <p:cNvSpPr txBox="1"/>
          <p:nvPr/>
        </p:nvSpPr>
        <p:spPr>
          <a:xfrm>
            <a:off x="3749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128K tokens</a:t>
            </a:r>
            <a:endParaRPr lang="en-US" sz="1200" dirty="0"/>
          </a:p>
        </p:txBody>
      </p:sp>
      <p:sp>
        <p:nvSpPr>
          <p:cNvPr id="13" name="Shape 10"/>
          <p:cNvSpPr/>
          <p:nvPr/>
        </p:nvSpPr>
        <p:spPr>
          <a:xfrm>
            <a:off x="4069080" y="7863840"/>
            <a:ext cx="1005840" cy="1371600"/>
          </a:xfrm>
          <a:prstGeom prst="rect">
            <a:avLst/>
          </a:prstGeom>
          <a:solidFill>
            <a:srgbClr val="FFC857"/>
          </a:solidFill>
          <a:ln w="16510">
            <a:solidFill>
              <a:srgbClr val="CADCFC"/>
            </a:solidFill>
            <a:prstDash val="solid"/>
          </a:ln>
        </p:spPr>
      </p:sp>
      <p:sp>
        <p:nvSpPr>
          <p:cNvPr id="14" name="Text 11"/>
          <p:cNvSpPr txBox="1"/>
          <p:nvPr/>
        </p:nvSpPr>
        <p:spPr>
          <a:xfrm>
            <a:off x="3749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Long context window</a:t>
            </a:r>
            <a:endParaRPr lang="en-US" sz="1050" dirty="0"/>
          </a:p>
        </p:txBody>
      </p:sp>
      <p:sp>
        <p:nvSpPr>
          <p:cNvPr id="15" name="Shape 12"/>
          <p:cNvSpPr/>
          <p:nvPr/>
        </p:nvSpPr>
        <p:spPr>
          <a:xfrm>
            <a:off x="548640" y="9235440"/>
            <a:ext cx="5760720" cy="0"/>
          </a:xfrm>
          <a:prstGeom prst="line">
            <a:avLst/>
          </a:prstGeom>
          <a:noFill/>
          <a:ln w="9525">
            <a:solidFill>
              <a:srgbClr val="CADCFC"/>
            </a:solidFill>
            <a:prstDash val="solid"/>
          </a:ln>
        </p:spPr>
      </p:sp>
      <p:sp>
        <p:nvSpPr>
          <p:cNvPr id="16" name="Text 1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04 / 58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05</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Vectors &amp; Embeddings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Turning meaning into coordinates on a map.</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An embedding converts text or images into a list of numbers (a vector) that captures meaning — similar meanings land close together, which is how machines compare ‘meaning’ mathematically.</a:t>
            </a:r>
            <a:endParaRPr lang="en-US" sz="1900" dirty="0"/>
          </a:p>
        </p:txBody>
      </p:sp>
      <p:sp>
        <p:nvSpPr>
          <p:cNvPr id="9" name="Shape 6"/>
          <p:cNvSpPr/>
          <p:nvPr/>
        </p:nvSpPr>
        <p:spPr>
          <a:xfrm>
            <a:off x="2075688" y="8156448"/>
            <a:ext cx="146304" cy="146304"/>
          </a:xfrm>
          <a:prstGeom prst="ellipse">
            <a:avLst/>
          </a:prstGeom>
          <a:solidFill>
            <a:srgbClr val="FFC857"/>
          </a:solidFill>
          <a:ln/>
        </p:spPr>
      </p:sp>
      <p:sp>
        <p:nvSpPr>
          <p:cNvPr id="10" name="Shape 7"/>
          <p:cNvSpPr/>
          <p:nvPr/>
        </p:nvSpPr>
        <p:spPr>
          <a:xfrm>
            <a:off x="2350008" y="8705088"/>
            <a:ext cx="146304" cy="146304"/>
          </a:xfrm>
          <a:prstGeom prst="ellipse">
            <a:avLst/>
          </a:prstGeom>
          <a:solidFill>
            <a:srgbClr val="FFC857"/>
          </a:solidFill>
          <a:ln/>
        </p:spPr>
      </p:sp>
      <p:sp>
        <p:nvSpPr>
          <p:cNvPr id="11" name="Shape 8"/>
          <p:cNvSpPr/>
          <p:nvPr/>
        </p:nvSpPr>
        <p:spPr>
          <a:xfrm>
            <a:off x="1892808" y="8887968"/>
            <a:ext cx="146304" cy="146304"/>
          </a:xfrm>
          <a:prstGeom prst="ellipse">
            <a:avLst/>
          </a:prstGeom>
          <a:solidFill>
            <a:srgbClr val="FFC857"/>
          </a:solidFill>
          <a:ln/>
        </p:spPr>
      </p:sp>
      <p:sp>
        <p:nvSpPr>
          <p:cNvPr id="12" name="Shape 9"/>
          <p:cNvSpPr/>
          <p:nvPr/>
        </p:nvSpPr>
        <p:spPr>
          <a:xfrm>
            <a:off x="2532888" y="8339328"/>
            <a:ext cx="146304" cy="146304"/>
          </a:xfrm>
          <a:prstGeom prst="ellipse">
            <a:avLst/>
          </a:prstGeom>
          <a:solidFill>
            <a:srgbClr val="FFC857"/>
          </a:solidFill>
          <a:ln/>
        </p:spPr>
      </p:sp>
      <p:sp>
        <p:nvSpPr>
          <p:cNvPr id="13" name="Shape 10"/>
          <p:cNvSpPr/>
          <p:nvPr/>
        </p:nvSpPr>
        <p:spPr>
          <a:xfrm>
            <a:off x="4453128" y="8247888"/>
            <a:ext cx="146304" cy="146304"/>
          </a:xfrm>
          <a:prstGeom prst="ellipse">
            <a:avLst/>
          </a:prstGeom>
          <a:solidFill>
            <a:srgbClr val="CADCFC"/>
          </a:solidFill>
          <a:ln/>
        </p:spPr>
      </p:sp>
      <p:sp>
        <p:nvSpPr>
          <p:cNvPr id="14" name="Shape 11"/>
          <p:cNvSpPr/>
          <p:nvPr/>
        </p:nvSpPr>
        <p:spPr>
          <a:xfrm>
            <a:off x="4727448" y="8796528"/>
            <a:ext cx="146304" cy="146304"/>
          </a:xfrm>
          <a:prstGeom prst="ellipse">
            <a:avLst/>
          </a:prstGeom>
          <a:solidFill>
            <a:srgbClr val="CADCFC"/>
          </a:solidFill>
          <a:ln/>
        </p:spPr>
      </p:sp>
      <p:sp>
        <p:nvSpPr>
          <p:cNvPr id="15" name="Shape 12"/>
          <p:cNvSpPr/>
          <p:nvPr/>
        </p:nvSpPr>
        <p:spPr>
          <a:xfrm>
            <a:off x="4270248" y="8979408"/>
            <a:ext cx="146304" cy="146304"/>
          </a:xfrm>
          <a:prstGeom prst="ellipse">
            <a:avLst/>
          </a:prstGeom>
          <a:solidFill>
            <a:srgbClr val="CADCFC"/>
          </a:solidFill>
          <a:ln/>
        </p:spPr>
      </p:sp>
      <p:sp>
        <p:nvSpPr>
          <p:cNvPr id="16" name="Shape 13"/>
          <p:cNvSpPr/>
          <p:nvPr/>
        </p:nvSpPr>
        <p:spPr>
          <a:xfrm>
            <a:off x="4818888" y="8430768"/>
            <a:ext cx="146304" cy="146304"/>
          </a:xfrm>
          <a:prstGeom prst="ellipse">
            <a:avLst/>
          </a:prstGeom>
          <a:solidFill>
            <a:srgbClr val="CADCFC"/>
          </a:solidFill>
          <a:ln/>
        </p:spPr>
      </p:sp>
      <p:sp>
        <p:nvSpPr>
          <p:cNvPr id="17" name="Shape 14"/>
          <p:cNvSpPr/>
          <p:nvPr/>
        </p:nvSpPr>
        <p:spPr>
          <a:xfrm>
            <a:off x="3447288" y="7836408"/>
            <a:ext cx="146304" cy="146304"/>
          </a:xfrm>
          <a:prstGeom prst="ellipse">
            <a:avLst/>
          </a:prstGeom>
          <a:solidFill>
            <a:srgbClr val="CADCFC"/>
          </a:solidFill>
          <a:ln/>
        </p:spPr>
      </p:sp>
      <p:sp>
        <p:nvSpPr>
          <p:cNvPr id="18" name="Shape 15"/>
          <p:cNvSpPr/>
          <p:nvPr/>
        </p:nvSpPr>
        <p:spPr>
          <a:xfrm>
            <a:off x="3081528" y="9116568"/>
            <a:ext cx="146304" cy="146304"/>
          </a:xfrm>
          <a:prstGeom prst="ellipse">
            <a:avLst/>
          </a:prstGeom>
          <a:solidFill>
            <a:srgbClr val="CADCFC"/>
          </a:solidFill>
          <a:ln/>
        </p:spPr>
      </p:sp>
      <p:sp>
        <p:nvSpPr>
          <p:cNvPr id="19" name="Text 16"/>
          <p:cNvSpPr txBox="1"/>
          <p:nvPr/>
        </p:nvSpPr>
        <p:spPr>
          <a:xfrm>
            <a:off x="548640" y="9372600"/>
            <a:ext cx="5760720" cy="365760"/>
          </a:xfrm>
          <a:prstGeom prst="rect">
            <a:avLst/>
          </a:prstGeom>
          <a:noFill/>
          <a:ln/>
        </p:spPr>
        <p:txBody>
          <a:bodyPr wrap="square" lIns="0" tIns="0" rIns="0" bIns="0" rtlCol="0" anchor="ctr"/>
          <a:lstStyle/>
          <a:p>
            <a:pPr algn="ctr" indent="0" marL="0">
              <a:buNone/>
            </a:pPr>
            <a:r>
              <a:rPr lang="en-US" sz="1150" i="1" dirty="0">
                <a:solidFill>
                  <a:srgbClr val="8C9BD6"/>
                </a:solidFill>
                <a:latin typeface="Cambria" pitchFamily="34" charset="0"/>
                <a:ea typeface="Cambria" pitchFamily="34" charset="-122"/>
                <a:cs typeface="Cambria" pitchFamily="34" charset="-120"/>
              </a:rPr>
              <a:t>similar meaning → clustered together</a:t>
            </a:r>
            <a:endParaRPr lang="en-US" sz="115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05 / 58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06</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Attention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Deciding which words matter most — for every word.</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Attention lets a model weigh how much every other word in the input matters when processing one word. It's why ‘bank’ near ‘river’ reads differently from ‘bank’ near ‘loan’.</a:t>
            </a:r>
            <a:endParaRPr lang="en-US" sz="1900" dirty="0"/>
          </a:p>
        </p:txBody>
      </p:sp>
      <p:sp>
        <p:nvSpPr>
          <p:cNvPr id="9" name="Text 6"/>
          <p:cNvSpPr txBox="1"/>
          <p:nvPr/>
        </p:nvSpPr>
        <p:spPr>
          <a:xfrm>
            <a:off x="548640" y="7726680"/>
            <a:ext cx="115214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a:t>
            </a:r>
            <a:endParaRPr lang="en-US" sz="1300" dirty="0"/>
          </a:p>
        </p:txBody>
      </p:sp>
      <p:sp>
        <p:nvSpPr>
          <p:cNvPr id="10" name="Text 7"/>
          <p:cNvSpPr txBox="1"/>
          <p:nvPr/>
        </p:nvSpPr>
        <p:spPr>
          <a:xfrm>
            <a:off x="1700784" y="7726680"/>
            <a:ext cx="115214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a:t>
            </a:r>
            <a:endParaRPr lang="en-US" sz="1300" dirty="0"/>
          </a:p>
        </p:txBody>
      </p:sp>
      <p:sp>
        <p:nvSpPr>
          <p:cNvPr id="11" name="Text 8"/>
          <p:cNvSpPr txBox="1"/>
          <p:nvPr/>
        </p:nvSpPr>
        <p:spPr>
          <a:xfrm>
            <a:off x="2852928" y="7726680"/>
            <a:ext cx="115214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sat</a:t>
            </a:r>
            <a:endParaRPr lang="en-US" sz="1300" dirty="0"/>
          </a:p>
        </p:txBody>
      </p:sp>
      <p:sp>
        <p:nvSpPr>
          <p:cNvPr id="12" name="Text 9"/>
          <p:cNvSpPr txBox="1"/>
          <p:nvPr/>
        </p:nvSpPr>
        <p:spPr>
          <a:xfrm>
            <a:off x="4005072" y="7726680"/>
            <a:ext cx="115214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on</a:t>
            </a:r>
            <a:endParaRPr lang="en-US" sz="1300" dirty="0"/>
          </a:p>
        </p:txBody>
      </p:sp>
      <p:sp>
        <p:nvSpPr>
          <p:cNvPr id="13" name="Text 10"/>
          <p:cNvSpPr txBox="1"/>
          <p:nvPr/>
        </p:nvSpPr>
        <p:spPr>
          <a:xfrm>
            <a:off x="5157216" y="7726680"/>
            <a:ext cx="1152144"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mat</a:t>
            </a:r>
            <a:endParaRPr lang="en-US" sz="1300" dirty="0"/>
          </a:p>
        </p:txBody>
      </p:sp>
      <p:sp>
        <p:nvSpPr>
          <p:cNvPr id="14" name="Shape 11"/>
          <p:cNvSpPr/>
          <p:nvPr/>
        </p:nvSpPr>
        <p:spPr>
          <a:xfrm>
            <a:off x="1124712" y="8229600"/>
            <a:ext cx="2304288" cy="502920"/>
          </a:xfrm>
          <a:prstGeom prst="line">
            <a:avLst/>
          </a:prstGeom>
          <a:noFill/>
          <a:ln w="14732">
            <a:solidFill>
              <a:srgbClr val="FFC857">
                <a:alpha val="30000"/>
              </a:srgbClr>
            </a:solidFill>
            <a:prstDash val="solid"/>
          </a:ln>
        </p:spPr>
      </p:sp>
      <p:sp>
        <p:nvSpPr>
          <p:cNvPr id="15" name="Shape 12"/>
          <p:cNvSpPr/>
          <p:nvPr/>
        </p:nvSpPr>
        <p:spPr>
          <a:xfrm>
            <a:off x="2276856" y="8229600"/>
            <a:ext cx="1152144" cy="502920"/>
          </a:xfrm>
          <a:prstGeom prst="line">
            <a:avLst/>
          </a:prstGeom>
          <a:noFill/>
          <a:ln w="31496">
            <a:solidFill>
              <a:srgbClr val="FFC857">
                <a:alpha val="90000"/>
              </a:srgbClr>
            </a:solidFill>
            <a:prstDash val="solid"/>
          </a:ln>
        </p:spPr>
      </p:sp>
      <p:sp>
        <p:nvSpPr>
          <p:cNvPr id="16" name="Shape 13"/>
          <p:cNvSpPr/>
          <p:nvPr/>
        </p:nvSpPr>
        <p:spPr>
          <a:xfrm>
            <a:off x="3429000" y="8229600"/>
            <a:ext cx="1152144" cy="502920"/>
          </a:xfrm>
          <a:prstGeom prst="line">
            <a:avLst/>
          </a:prstGeom>
          <a:noFill/>
          <a:ln w="17526">
            <a:solidFill>
              <a:srgbClr val="FFC857">
                <a:alpha val="40000"/>
              </a:srgbClr>
            </a:solidFill>
            <a:prstDash val="solid"/>
          </a:ln>
        </p:spPr>
      </p:sp>
      <p:sp>
        <p:nvSpPr>
          <p:cNvPr id="17" name="Shape 14"/>
          <p:cNvSpPr/>
          <p:nvPr/>
        </p:nvSpPr>
        <p:spPr>
          <a:xfrm>
            <a:off x="3429000" y="8229600"/>
            <a:ext cx="2304288" cy="502920"/>
          </a:xfrm>
          <a:prstGeom prst="line">
            <a:avLst/>
          </a:prstGeom>
          <a:noFill/>
          <a:ln w="23114">
            <a:solidFill>
              <a:srgbClr val="FFC857">
                <a:alpha val="60000"/>
              </a:srgbClr>
            </a:solidFill>
            <a:prstDash val="solid"/>
          </a:ln>
        </p:spPr>
      </p:sp>
      <p:sp>
        <p:nvSpPr>
          <p:cNvPr id="18" name="Text 15"/>
          <p:cNvSpPr txBox="1"/>
          <p:nvPr/>
        </p:nvSpPr>
        <p:spPr>
          <a:xfrm>
            <a:off x="548640" y="8915400"/>
            <a:ext cx="5760720" cy="365760"/>
          </a:xfrm>
          <a:prstGeom prst="rect">
            <a:avLst/>
          </a:prstGeom>
          <a:noFill/>
          <a:ln/>
        </p:spPr>
        <p:txBody>
          <a:bodyPr wrap="square" lIns="0" tIns="0" rIns="0" bIns="0" rtlCol="0" anchor="ctr"/>
          <a:lstStyle/>
          <a:p>
            <a:pPr algn="ctr" indent="0" marL="0">
              <a:buNone/>
            </a:pPr>
            <a:r>
              <a:rPr lang="en-US" sz="1150" i="1" dirty="0">
                <a:solidFill>
                  <a:srgbClr val="8C9BD6"/>
                </a:solidFill>
                <a:latin typeface="Cambria" pitchFamily="34" charset="0"/>
                <a:ea typeface="Cambria" pitchFamily="34" charset="-122"/>
                <a:cs typeface="Cambria" pitchFamily="34" charset="-120"/>
              </a:rPr>
              <a:t>thicker line = more attention paid</a:t>
            </a:r>
            <a:endParaRPr lang="en-US" sz="115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06 / 58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07</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Transformers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The architecture behind almost every modern AI model.</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Transformer is a neural network built entirely around the attention mechanism, processing all words in parallel instead of one by one — the backbone of GPT, Claude, and virtually every current LLM.</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Input</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Tokens</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N × Attention</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 Feed-Forward</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Output</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Tokens</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07 / 58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08</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Fine-Tuning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Taking a generalist model and specializing it for your job.</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Fine-tuning continues training a pretrained model on your own, smaller dataset so it adapts its tone or behaviour to a specific task — instead of training a new model from scratch.</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Pretrained</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Model</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 Your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Examples</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Specialized</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Model</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08 / 58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09</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Self-Supervised Learning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Learning without anyone labelling the data.</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The model creates its own training signal from raw data — for example, hiding a word and learning to predict it. It's how LLMs learn from the vast unlabeled text on the internet.</a:t>
            </a:r>
            <a:endParaRPr lang="en-US" sz="1900" dirty="0"/>
          </a:p>
        </p:txBody>
      </p:sp>
      <p:sp>
        <p:nvSpPr>
          <p:cNvPr id="9" name="Shape 6"/>
          <p:cNvSpPr/>
          <p:nvPr/>
        </p:nvSpPr>
        <p:spPr>
          <a:xfrm>
            <a:off x="548640" y="7680960"/>
            <a:ext cx="1676400" cy="594360"/>
          </a:xfrm>
          <a:prstGeom prst="roundRect">
            <a:avLst>
              <a:gd name="adj" fmla="val 12308"/>
            </a:avLst>
          </a:prstGeom>
          <a:solidFill>
            <a:srgbClr val="273571"/>
          </a:solidFill>
          <a:ln w="16510">
            <a:solidFill>
              <a:srgbClr val="CADCFC"/>
            </a:solidFill>
            <a:prstDash val="solid"/>
          </a:ln>
        </p:spPr>
      </p:sp>
      <p:sp>
        <p:nvSpPr>
          <p:cNvPr id="10" name="Text 7"/>
          <p:cNvSpPr txBox="1"/>
          <p:nvPr/>
        </p:nvSpPr>
        <p:spPr>
          <a:xfrm>
            <a:off x="585216" y="7680960"/>
            <a:ext cx="160324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Hide a Word</a:t>
            </a:r>
            <a:endParaRPr lang="en-US" sz="1150" dirty="0"/>
          </a:p>
        </p:txBody>
      </p:sp>
      <p:sp>
        <p:nvSpPr>
          <p:cNvPr id="11" name="Shape 8"/>
          <p:cNvSpPr/>
          <p:nvPr/>
        </p:nvSpPr>
        <p:spPr>
          <a:xfrm>
            <a:off x="2225040" y="7978140"/>
            <a:ext cx="365760" cy="0"/>
          </a:xfrm>
          <a:prstGeom prst="line">
            <a:avLst/>
          </a:prstGeom>
          <a:noFill/>
          <a:ln w="16510">
            <a:solidFill>
              <a:srgbClr val="CADCFC"/>
            </a:solidFill>
            <a:prstDash val="solid"/>
            <a:tailEnd type="triangle"/>
          </a:ln>
        </p:spPr>
      </p:sp>
      <p:sp>
        <p:nvSpPr>
          <p:cNvPr id="12" name="Shape 9"/>
          <p:cNvSpPr/>
          <p:nvPr/>
        </p:nvSpPr>
        <p:spPr>
          <a:xfrm>
            <a:off x="2590800" y="7680960"/>
            <a:ext cx="1676400" cy="594360"/>
          </a:xfrm>
          <a:prstGeom prst="roundRect">
            <a:avLst>
              <a:gd name="adj" fmla="val 12308"/>
            </a:avLst>
          </a:prstGeom>
          <a:solidFill>
            <a:srgbClr val="273571"/>
          </a:solidFill>
          <a:ln w="16510">
            <a:solidFill>
              <a:srgbClr val="CADCFC"/>
            </a:solidFill>
            <a:prstDash val="solid"/>
          </a:ln>
        </p:spPr>
      </p:sp>
      <p:sp>
        <p:nvSpPr>
          <p:cNvPr id="13" name="Text 10"/>
          <p:cNvSpPr txBox="1"/>
          <p:nvPr/>
        </p:nvSpPr>
        <p:spPr>
          <a:xfrm>
            <a:off x="2627376" y="7680960"/>
            <a:ext cx="160324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Predict It</a:t>
            </a:r>
            <a:endParaRPr lang="en-US" sz="1150" dirty="0"/>
          </a:p>
        </p:txBody>
      </p:sp>
      <p:sp>
        <p:nvSpPr>
          <p:cNvPr id="14" name="Shape 11"/>
          <p:cNvSpPr/>
          <p:nvPr/>
        </p:nvSpPr>
        <p:spPr>
          <a:xfrm>
            <a:off x="4267200" y="7978140"/>
            <a:ext cx="365760" cy="0"/>
          </a:xfrm>
          <a:prstGeom prst="line">
            <a:avLst/>
          </a:prstGeom>
          <a:noFill/>
          <a:ln w="16510">
            <a:solidFill>
              <a:srgbClr val="CADCFC"/>
            </a:solidFill>
            <a:prstDash val="solid"/>
            <a:tailEnd type="triangle"/>
          </a:ln>
        </p:spPr>
      </p:sp>
      <p:sp>
        <p:nvSpPr>
          <p:cNvPr id="15" name="Shape 12"/>
          <p:cNvSpPr/>
          <p:nvPr/>
        </p:nvSpPr>
        <p:spPr>
          <a:xfrm>
            <a:off x="4632960" y="7680960"/>
            <a:ext cx="1676400" cy="594360"/>
          </a:xfrm>
          <a:prstGeom prst="roundRect">
            <a:avLst>
              <a:gd name="adj" fmla="val 12308"/>
            </a:avLst>
          </a:prstGeom>
          <a:solidFill>
            <a:srgbClr val="273571"/>
          </a:solidFill>
          <a:ln w="16510">
            <a:solidFill>
              <a:srgbClr val="CADCFC"/>
            </a:solidFill>
            <a:prstDash val="solid"/>
          </a:ln>
        </p:spPr>
      </p:sp>
      <p:sp>
        <p:nvSpPr>
          <p:cNvPr id="16" name="Text 13"/>
          <p:cNvSpPr txBox="1"/>
          <p:nvPr/>
        </p:nvSpPr>
        <p:spPr>
          <a:xfrm>
            <a:off x="4669536" y="7680960"/>
            <a:ext cx="160324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Compare &amp; Adjust</a:t>
            </a:r>
            <a:endParaRPr lang="en-US" sz="1150" dirty="0"/>
          </a:p>
        </p:txBody>
      </p:sp>
      <p:sp>
        <p:nvSpPr>
          <p:cNvPr id="17" name="Text 14"/>
          <p:cNvSpPr txBox="1"/>
          <p:nvPr/>
        </p:nvSpPr>
        <p:spPr>
          <a:xfrm>
            <a:off x="548640" y="8549640"/>
            <a:ext cx="5760720" cy="457200"/>
          </a:xfrm>
          <a:prstGeom prst="rect">
            <a:avLst/>
          </a:prstGeom>
          <a:noFill/>
          <a:ln/>
        </p:spPr>
        <p:txBody>
          <a:bodyPr wrap="square" lIns="0" tIns="0" rIns="0" bIns="0" rtlCol="0" anchor="ctr"/>
          <a:lstStyle/>
          <a:p>
            <a:pPr algn="ctr" indent="0" marL="0">
              <a:buNone/>
            </a:pPr>
            <a:r>
              <a:rPr lang="en-US" sz="1250" i="1" dirty="0">
                <a:solidFill>
                  <a:srgbClr val="8C9BD6"/>
                </a:solidFill>
                <a:latin typeface="Cambria" pitchFamily="34" charset="0"/>
                <a:ea typeface="Cambria" pitchFamily="34" charset="-122"/>
                <a:cs typeface="Cambria" pitchFamily="34" charset="-120"/>
              </a:rPr>
              <a:t>↻  repeated across billions of examples</a:t>
            </a:r>
            <a:endParaRPr lang="en-US" sz="1250" dirty="0"/>
          </a:p>
        </p:txBody>
      </p:sp>
      <p:sp>
        <p:nvSpPr>
          <p:cNvPr id="18" name="Text 1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09 / 58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10</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Reinforcement Learning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Learning by trial, error, and reward.</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The model takes actions, gets a reward or penalty based on the outcome, and adjusts to earn more reward over time — the same idea used to train game-playing AI and to align chatbots.</a:t>
            </a:r>
            <a:endParaRPr lang="en-US" sz="1900" dirty="0"/>
          </a:p>
        </p:txBody>
      </p:sp>
      <p:sp>
        <p:nvSpPr>
          <p:cNvPr id="9" name="Shape 6"/>
          <p:cNvSpPr/>
          <p:nvPr/>
        </p:nvSpPr>
        <p:spPr>
          <a:xfrm>
            <a:off x="548640" y="7680960"/>
            <a:ext cx="1676400" cy="594360"/>
          </a:xfrm>
          <a:prstGeom prst="roundRect">
            <a:avLst>
              <a:gd name="adj" fmla="val 12308"/>
            </a:avLst>
          </a:prstGeom>
          <a:solidFill>
            <a:srgbClr val="273571"/>
          </a:solidFill>
          <a:ln w="16510">
            <a:solidFill>
              <a:srgbClr val="CADCFC"/>
            </a:solidFill>
            <a:prstDash val="solid"/>
          </a:ln>
        </p:spPr>
      </p:sp>
      <p:sp>
        <p:nvSpPr>
          <p:cNvPr id="10" name="Text 7"/>
          <p:cNvSpPr txBox="1"/>
          <p:nvPr/>
        </p:nvSpPr>
        <p:spPr>
          <a:xfrm>
            <a:off x="585216" y="7680960"/>
            <a:ext cx="160324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Take Action</a:t>
            </a:r>
            <a:endParaRPr lang="en-US" sz="1150" dirty="0"/>
          </a:p>
        </p:txBody>
      </p:sp>
      <p:sp>
        <p:nvSpPr>
          <p:cNvPr id="11" name="Shape 8"/>
          <p:cNvSpPr/>
          <p:nvPr/>
        </p:nvSpPr>
        <p:spPr>
          <a:xfrm>
            <a:off x="2225040" y="7978140"/>
            <a:ext cx="365760" cy="0"/>
          </a:xfrm>
          <a:prstGeom prst="line">
            <a:avLst/>
          </a:prstGeom>
          <a:noFill/>
          <a:ln w="16510">
            <a:solidFill>
              <a:srgbClr val="CADCFC"/>
            </a:solidFill>
            <a:prstDash val="solid"/>
            <a:tailEnd type="triangle"/>
          </a:ln>
        </p:spPr>
      </p:sp>
      <p:sp>
        <p:nvSpPr>
          <p:cNvPr id="12" name="Shape 9"/>
          <p:cNvSpPr/>
          <p:nvPr/>
        </p:nvSpPr>
        <p:spPr>
          <a:xfrm>
            <a:off x="2590800" y="7680960"/>
            <a:ext cx="1676400" cy="594360"/>
          </a:xfrm>
          <a:prstGeom prst="roundRect">
            <a:avLst>
              <a:gd name="adj" fmla="val 12308"/>
            </a:avLst>
          </a:prstGeom>
          <a:solidFill>
            <a:srgbClr val="273571"/>
          </a:solidFill>
          <a:ln w="16510">
            <a:solidFill>
              <a:srgbClr val="CADCFC"/>
            </a:solidFill>
            <a:prstDash val="solid"/>
          </a:ln>
        </p:spPr>
      </p:sp>
      <p:sp>
        <p:nvSpPr>
          <p:cNvPr id="13" name="Text 10"/>
          <p:cNvSpPr txBox="1"/>
          <p:nvPr/>
        </p:nvSpPr>
        <p:spPr>
          <a:xfrm>
            <a:off x="2627376" y="7680960"/>
            <a:ext cx="160324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Get Reward</a:t>
            </a:r>
            <a:endParaRPr lang="en-US" sz="1150" dirty="0"/>
          </a:p>
        </p:txBody>
      </p:sp>
      <p:sp>
        <p:nvSpPr>
          <p:cNvPr id="14" name="Shape 11"/>
          <p:cNvSpPr/>
          <p:nvPr/>
        </p:nvSpPr>
        <p:spPr>
          <a:xfrm>
            <a:off x="4267200" y="7978140"/>
            <a:ext cx="365760" cy="0"/>
          </a:xfrm>
          <a:prstGeom prst="line">
            <a:avLst/>
          </a:prstGeom>
          <a:noFill/>
          <a:ln w="16510">
            <a:solidFill>
              <a:srgbClr val="CADCFC"/>
            </a:solidFill>
            <a:prstDash val="solid"/>
            <a:tailEnd type="triangle"/>
          </a:ln>
        </p:spPr>
      </p:sp>
      <p:sp>
        <p:nvSpPr>
          <p:cNvPr id="15" name="Shape 12"/>
          <p:cNvSpPr/>
          <p:nvPr/>
        </p:nvSpPr>
        <p:spPr>
          <a:xfrm>
            <a:off x="4632960" y="7680960"/>
            <a:ext cx="1676400" cy="594360"/>
          </a:xfrm>
          <a:prstGeom prst="roundRect">
            <a:avLst>
              <a:gd name="adj" fmla="val 12308"/>
            </a:avLst>
          </a:prstGeom>
          <a:solidFill>
            <a:srgbClr val="273571"/>
          </a:solidFill>
          <a:ln w="16510">
            <a:solidFill>
              <a:srgbClr val="CADCFC"/>
            </a:solidFill>
            <a:prstDash val="solid"/>
          </a:ln>
        </p:spPr>
      </p:sp>
      <p:sp>
        <p:nvSpPr>
          <p:cNvPr id="16" name="Text 13"/>
          <p:cNvSpPr txBox="1"/>
          <p:nvPr/>
        </p:nvSpPr>
        <p:spPr>
          <a:xfrm>
            <a:off x="4669536" y="7680960"/>
            <a:ext cx="160324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Update Behaviour</a:t>
            </a:r>
            <a:endParaRPr lang="en-US" sz="1150" dirty="0"/>
          </a:p>
        </p:txBody>
      </p:sp>
      <p:sp>
        <p:nvSpPr>
          <p:cNvPr id="17" name="Text 14"/>
          <p:cNvSpPr txBox="1"/>
          <p:nvPr/>
        </p:nvSpPr>
        <p:spPr>
          <a:xfrm>
            <a:off x="548640" y="8549640"/>
            <a:ext cx="5760720" cy="457200"/>
          </a:xfrm>
          <a:prstGeom prst="rect">
            <a:avLst/>
          </a:prstGeom>
          <a:noFill/>
          <a:ln/>
        </p:spPr>
        <p:txBody>
          <a:bodyPr wrap="square" lIns="0" tIns="0" rIns="0" bIns="0" rtlCol="0" anchor="ctr"/>
          <a:lstStyle/>
          <a:p>
            <a:pPr algn="ctr" indent="0" marL="0">
              <a:buNone/>
            </a:pPr>
            <a:r>
              <a:rPr lang="en-US" sz="1250" i="1" dirty="0">
                <a:solidFill>
                  <a:srgbClr val="8C9BD6"/>
                </a:solidFill>
                <a:latin typeface="Cambria" pitchFamily="34" charset="0"/>
                <a:ea typeface="Cambria" pitchFamily="34" charset="-122"/>
                <a:cs typeface="Cambria" pitchFamily="34" charset="-120"/>
              </a:rPr>
              <a:t>↻  repeated until behaviour improves</a:t>
            </a:r>
            <a:endParaRPr lang="en-US" sz="1250" dirty="0"/>
          </a:p>
        </p:txBody>
      </p:sp>
      <p:sp>
        <p:nvSpPr>
          <p:cNvPr id="18" name="Text 1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10 / 58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11</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Retrieval-Augmented Generation (RAG)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An open-book exam, instead of answers from memory.</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RAG fetches relevant documents from a knowledge base at query time and feeds them to the model as context — so answers are grounded in your real data, not just the model's memory.</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User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Query</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Retrieve</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Documents</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Grounded</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Answer</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11 / 58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12</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Vector Database</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search engine that understands meaning, not just keywords.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vector database stores embeddings and finds the closest matches to a query vector — the retrieval engine that sits behind every RAG system.</a:t>
            </a:r>
            <a:endParaRPr lang="en-US" sz="1900" dirty="0"/>
          </a:p>
        </p:txBody>
      </p:sp>
      <p:sp>
        <p:nvSpPr>
          <p:cNvPr id="9" name="Shape 6"/>
          <p:cNvSpPr/>
          <p:nvPr/>
        </p:nvSpPr>
        <p:spPr>
          <a:xfrm>
            <a:off x="2468880" y="7955280"/>
            <a:ext cx="1920240" cy="1371600"/>
          </a:xfrm>
          <a:prstGeom prst="ellipse">
            <a:avLst/>
          </a:prstGeom>
          <a:ln w="16510">
            <a:solidFill>
              <a:srgbClr val="FFC857"/>
            </a:solidFill>
            <a:prstDash val="dash"/>
          </a:ln>
        </p:spPr>
      </p:sp>
      <p:sp>
        <p:nvSpPr>
          <p:cNvPr id="10" name="Shape 7"/>
          <p:cNvSpPr/>
          <p:nvPr/>
        </p:nvSpPr>
        <p:spPr>
          <a:xfrm>
            <a:off x="3035808" y="8339328"/>
            <a:ext cx="146304" cy="146304"/>
          </a:xfrm>
          <a:prstGeom prst="ellipse">
            <a:avLst/>
          </a:prstGeom>
          <a:solidFill>
            <a:srgbClr val="FFC857"/>
          </a:solidFill>
          <a:ln/>
        </p:spPr>
      </p:sp>
      <p:sp>
        <p:nvSpPr>
          <p:cNvPr id="11" name="Shape 8"/>
          <p:cNvSpPr/>
          <p:nvPr/>
        </p:nvSpPr>
        <p:spPr>
          <a:xfrm>
            <a:off x="3721608" y="8430768"/>
            <a:ext cx="146304" cy="146304"/>
          </a:xfrm>
          <a:prstGeom prst="ellipse">
            <a:avLst/>
          </a:prstGeom>
          <a:solidFill>
            <a:srgbClr val="FFC857"/>
          </a:solidFill>
          <a:ln/>
        </p:spPr>
      </p:sp>
      <p:sp>
        <p:nvSpPr>
          <p:cNvPr id="12" name="Shape 9"/>
          <p:cNvSpPr/>
          <p:nvPr/>
        </p:nvSpPr>
        <p:spPr>
          <a:xfrm>
            <a:off x="3264408" y="8933688"/>
            <a:ext cx="146304" cy="146304"/>
          </a:xfrm>
          <a:prstGeom prst="ellipse">
            <a:avLst/>
          </a:prstGeom>
          <a:solidFill>
            <a:srgbClr val="FFC857"/>
          </a:solidFill>
          <a:ln/>
        </p:spPr>
      </p:sp>
      <p:sp>
        <p:nvSpPr>
          <p:cNvPr id="13" name="Shape 10"/>
          <p:cNvSpPr/>
          <p:nvPr/>
        </p:nvSpPr>
        <p:spPr>
          <a:xfrm>
            <a:off x="3675888" y="8887968"/>
            <a:ext cx="146304" cy="146304"/>
          </a:xfrm>
          <a:prstGeom prst="ellipse">
            <a:avLst/>
          </a:prstGeom>
          <a:solidFill>
            <a:srgbClr val="FFC857"/>
          </a:solidFill>
          <a:ln/>
        </p:spPr>
      </p:sp>
      <p:sp>
        <p:nvSpPr>
          <p:cNvPr id="14" name="Shape 11"/>
          <p:cNvSpPr/>
          <p:nvPr/>
        </p:nvSpPr>
        <p:spPr>
          <a:xfrm>
            <a:off x="1801368" y="9025128"/>
            <a:ext cx="146304" cy="146304"/>
          </a:xfrm>
          <a:prstGeom prst="ellipse">
            <a:avLst/>
          </a:prstGeom>
          <a:solidFill>
            <a:srgbClr val="CADCFC"/>
          </a:solidFill>
          <a:ln/>
        </p:spPr>
      </p:sp>
      <p:sp>
        <p:nvSpPr>
          <p:cNvPr id="15" name="Shape 12"/>
          <p:cNvSpPr/>
          <p:nvPr/>
        </p:nvSpPr>
        <p:spPr>
          <a:xfrm>
            <a:off x="5001768" y="8110728"/>
            <a:ext cx="146304" cy="146304"/>
          </a:xfrm>
          <a:prstGeom prst="ellipse">
            <a:avLst/>
          </a:prstGeom>
          <a:solidFill>
            <a:srgbClr val="CADCFC"/>
          </a:solidFill>
          <a:ln/>
        </p:spPr>
      </p:sp>
      <p:sp>
        <p:nvSpPr>
          <p:cNvPr id="16" name="Shape 13"/>
          <p:cNvSpPr/>
          <p:nvPr/>
        </p:nvSpPr>
        <p:spPr>
          <a:xfrm>
            <a:off x="1892808" y="8019288"/>
            <a:ext cx="146304" cy="146304"/>
          </a:xfrm>
          <a:prstGeom prst="ellipse">
            <a:avLst/>
          </a:prstGeom>
          <a:solidFill>
            <a:srgbClr val="CADCFC"/>
          </a:solidFill>
          <a:ln/>
        </p:spPr>
      </p:sp>
      <p:sp>
        <p:nvSpPr>
          <p:cNvPr id="17" name="Shape 14"/>
          <p:cNvSpPr/>
          <p:nvPr/>
        </p:nvSpPr>
        <p:spPr>
          <a:xfrm>
            <a:off x="3328416" y="8540496"/>
            <a:ext cx="201168" cy="201168"/>
          </a:xfrm>
          <a:prstGeom prst="ellipse">
            <a:avLst/>
          </a:prstGeom>
          <a:solidFill>
            <a:srgbClr val="FFFFFF"/>
          </a:solidFill>
          <a:ln w="12700">
            <a:solidFill>
              <a:srgbClr val="1E2761"/>
            </a:solidFill>
            <a:prstDash val="solid"/>
          </a:ln>
        </p:spPr>
      </p:sp>
      <p:sp>
        <p:nvSpPr>
          <p:cNvPr id="18" name="Text 15"/>
          <p:cNvSpPr txBox="1"/>
          <p:nvPr/>
        </p:nvSpPr>
        <p:spPr>
          <a:xfrm>
            <a:off x="548640" y="9555480"/>
            <a:ext cx="5760720" cy="365760"/>
          </a:xfrm>
          <a:prstGeom prst="rect">
            <a:avLst/>
          </a:prstGeom>
          <a:noFill/>
          <a:ln/>
        </p:spPr>
        <p:txBody>
          <a:bodyPr wrap="square" lIns="0" tIns="0" rIns="0" bIns="0" rtlCol="0" anchor="ctr"/>
          <a:lstStyle/>
          <a:p>
            <a:pPr algn="ctr" indent="0" marL="0">
              <a:buNone/>
            </a:pPr>
            <a:r>
              <a:rPr lang="en-US" sz="1150" i="1" dirty="0">
                <a:solidFill>
                  <a:srgbClr val="8C9BD6"/>
                </a:solidFill>
                <a:latin typeface="Cambria" pitchFamily="34" charset="0"/>
                <a:ea typeface="Cambria" pitchFamily="34" charset="-122"/>
                <a:cs typeface="Cambria" pitchFamily="34" charset="-120"/>
              </a:rPr>
              <a:t>query → nearest matches returned</a:t>
            </a:r>
            <a:endParaRPr lang="en-US" sz="1150" dirty="0"/>
          </a:p>
        </p:txBody>
      </p:sp>
      <p:sp>
        <p:nvSpPr>
          <p:cNvPr id="19" name="Shape 16"/>
          <p:cNvSpPr/>
          <p:nvPr/>
        </p:nvSpPr>
        <p:spPr>
          <a:xfrm>
            <a:off x="548640" y="10195560"/>
            <a:ext cx="5760720" cy="594360"/>
          </a:xfrm>
          <a:prstGeom prst="rect">
            <a:avLst/>
          </a:prstGeom>
          <a:solidFill>
            <a:srgbClr val="273571"/>
          </a:solidFill>
          <a:ln/>
        </p:spPr>
      </p:sp>
      <p:sp>
        <p:nvSpPr>
          <p:cNvPr id="20" name="Text 17"/>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1" name="Text 18"/>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12 / 58</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13</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Few-Shot Prompting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Show, don't just tell.</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Few-shot prompting gives the model a handful of example input/output pairs directly in the prompt, so it learns the expected pattern for a task without any retraining.</a:t>
            </a:r>
            <a:endParaRPr lang="en-US" sz="1900" dirty="0"/>
          </a:p>
        </p:txBody>
      </p:sp>
      <p:sp>
        <p:nvSpPr>
          <p:cNvPr id="9" name="Shape 6"/>
          <p:cNvSpPr/>
          <p:nvPr/>
        </p:nvSpPr>
        <p:spPr>
          <a:xfrm>
            <a:off x="548640" y="8389620"/>
            <a:ext cx="120015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Example 1</a:t>
            </a:r>
            <a:endParaRPr lang="en-US" sz="1150" dirty="0"/>
          </a:p>
        </p:txBody>
      </p:sp>
      <p:sp>
        <p:nvSpPr>
          <p:cNvPr id="11" name="Shape 8"/>
          <p:cNvSpPr/>
          <p:nvPr/>
        </p:nvSpPr>
        <p:spPr>
          <a:xfrm>
            <a:off x="1748790" y="8778240"/>
            <a:ext cx="320040" cy="0"/>
          </a:xfrm>
          <a:prstGeom prst="line">
            <a:avLst/>
          </a:prstGeom>
          <a:noFill/>
          <a:ln w="16510">
            <a:solidFill>
              <a:srgbClr val="CADCFC"/>
            </a:solidFill>
            <a:prstDash val="solid"/>
            <a:tailEnd type="triangle"/>
          </a:ln>
        </p:spPr>
      </p:sp>
      <p:sp>
        <p:nvSpPr>
          <p:cNvPr id="12" name="Shape 9"/>
          <p:cNvSpPr/>
          <p:nvPr/>
        </p:nvSpPr>
        <p:spPr>
          <a:xfrm>
            <a:off x="2068830" y="8389620"/>
            <a:ext cx="120015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12369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Example 2</a:t>
            </a:r>
            <a:endParaRPr lang="en-US" sz="1150" dirty="0"/>
          </a:p>
        </p:txBody>
      </p:sp>
      <p:sp>
        <p:nvSpPr>
          <p:cNvPr id="14" name="Shape 11"/>
          <p:cNvSpPr/>
          <p:nvPr/>
        </p:nvSpPr>
        <p:spPr>
          <a:xfrm>
            <a:off x="3268980" y="8778240"/>
            <a:ext cx="320040" cy="0"/>
          </a:xfrm>
          <a:prstGeom prst="line">
            <a:avLst/>
          </a:prstGeom>
          <a:noFill/>
          <a:ln w="16510">
            <a:solidFill>
              <a:srgbClr val="CADCFC"/>
            </a:solidFill>
            <a:prstDash val="solid"/>
            <a:tailEnd type="triangle"/>
          </a:ln>
        </p:spPr>
      </p:sp>
      <p:sp>
        <p:nvSpPr>
          <p:cNvPr id="15" name="Shape 12"/>
          <p:cNvSpPr/>
          <p:nvPr/>
        </p:nvSpPr>
        <p:spPr>
          <a:xfrm>
            <a:off x="3589020" y="8389620"/>
            <a:ext cx="1200150" cy="777240"/>
          </a:xfrm>
          <a:prstGeom prst="roundRect">
            <a:avLst>
              <a:gd name="adj" fmla="val 8235"/>
            </a:avLst>
          </a:prstGeom>
          <a:solidFill>
            <a:srgbClr val="273571"/>
          </a:solidFill>
          <a:ln w="16510">
            <a:solidFill>
              <a:srgbClr val="CADCFC"/>
            </a:solidFill>
            <a:prstDash val="solid"/>
          </a:ln>
        </p:spPr>
      </p:sp>
      <p:sp>
        <p:nvSpPr>
          <p:cNvPr id="16" name="Text 13"/>
          <p:cNvSpPr txBox="1"/>
          <p:nvPr/>
        </p:nvSpPr>
        <p:spPr>
          <a:xfrm>
            <a:off x="364388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Example 3</a:t>
            </a:r>
            <a:endParaRPr lang="en-US" sz="1150" dirty="0"/>
          </a:p>
        </p:txBody>
      </p:sp>
      <p:sp>
        <p:nvSpPr>
          <p:cNvPr id="17" name="Shape 14"/>
          <p:cNvSpPr/>
          <p:nvPr/>
        </p:nvSpPr>
        <p:spPr>
          <a:xfrm>
            <a:off x="4789170" y="8778240"/>
            <a:ext cx="320040" cy="0"/>
          </a:xfrm>
          <a:prstGeom prst="line">
            <a:avLst/>
          </a:prstGeom>
          <a:noFill/>
          <a:ln w="16510">
            <a:solidFill>
              <a:srgbClr val="CADCFC"/>
            </a:solidFill>
            <a:prstDash val="solid"/>
            <a:tailEnd type="triangle"/>
          </a:ln>
        </p:spPr>
      </p:sp>
      <p:sp>
        <p:nvSpPr>
          <p:cNvPr id="18" name="Shape 15"/>
          <p:cNvSpPr/>
          <p:nvPr/>
        </p:nvSpPr>
        <p:spPr>
          <a:xfrm>
            <a:off x="5109210" y="8389620"/>
            <a:ext cx="1200150" cy="777240"/>
          </a:xfrm>
          <a:prstGeom prst="roundRect">
            <a:avLst>
              <a:gd name="adj" fmla="val 8235"/>
            </a:avLst>
          </a:prstGeom>
          <a:solidFill>
            <a:srgbClr val="FFC857"/>
          </a:solidFill>
          <a:ln w="16510">
            <a:solidFill>
              <a:srgbClr val="CADCFC"/>
            </a:solidFill>
            <a:prstDash val="solid"/>
          </a:ln>
        </p:spPr>
      </p:sp>
      <p:sp>
        <p:nvSpPr>
          <p:cNvPr id="19" name="Text 16"/>
          <p:cNvSpPr txBox="1"/>
          <p:nvPr/>
        </p:nvSpPr>
        <p:spPr>
          <a:xfrm>
            <a:off x="516407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New</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Input</a:t>
            </a:r>
            <a:endParaRPr lang="en-US" sz="115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13 / 58</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14</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Model Context Protocol (MCP)</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USB port that lets any AI model talk to any tool.</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MCP is an open standard that lets an AI application connect to external tools, files, and data sources through one common interface — instead of custom integration code for every tool.</a:t>
            </a:r>
            <a:endParaRPr lang="en-US" sz="1900" dirty="0"/>
          </a:p>
        </p:txBody>
      </p:sp>
      <p:sp>
        <p:nvSpPr>
          <p:cNvPr id="9" name="Shape 6"/>
          <p:cNvSpPr/>
          <p:nvPr/>
        </p:nvSpPr>
        <p:spPr>
          <a:xfrm>
            <a:off x="1179576" y="8961120"/>
            <a:ext cx="2249424" cy="-480060"/>
          </a:xfrm>
          <a:prstGeom prst="line">
            <a:avLst/>
          </a:prstGeom>
          <a:noFill/>
          <a:ln w="16510">
            <a:solidFill>
              <a:srgbClr val="CADCFC"/>
            </a:solidFill>
            <a:prstDash val="solid"/>
          </a:ln>
        </p:spPr>
      </p:sp>
      <p:sp>
        <p:nvSpPr>
          <p:cNvPr id="10" name="Shape 7"/>
          <p:cNvSpPr/>
          <p:nvPr/>
        </p:nvSpPr>
        <p:spPr>
          <a:xfrm>
            <a:off x="3429000" y="8481060"/>
            <a:ext cx="0" cy="480060"/>
          </a:xfrm>
          <a:prstGeom prst="line">
            <a:avLst/>
          </a:prstGeom>
          <a:noFill/>
          <a:ln w="16510">
            <a:solidFill>
              <a:srgbClr val="CADCFC"/>
            </a:solidFill>
            <a:prstDash val="solid"/>
          </a:ln>
        </p:spPr>
      </p:sp>
      <p:sp>
        <p:nvSpPr>
          <p:cNvPr id="11" name="Shape 8"/>
          <p:cNvSpPr/>
          <p:nvPr/>
        </p:nvSpPr>
        <p:spPr>
          <a:xfrm>
            <a:off x="3429000" y="8481060"/>
            <a:ext cx="2249424" cy="480060"/>
          </a:xfrm>
          <a:prstGeom prst="line">
            <a:avLst/>
          </a:prstGeom>
          <a:noFill/>
          <a:ln w="16510">
            <a:solidFill>
              <a:srgbClr val="CADCFC"/>
            </a:solidFill>
            <a:prstDash val="solid"/>
          </a:ln>
        </p:spPr>
      </p:sp>
      <p:sp>
        <p:nvSpPr>
          <p:cNvPr id="12" name="Shape 9"/>
          <p:cNvSpPr/>
          <p:nvPr/>
        </p:nvSpPr>
        <p:spPr>
          <a:xfrm>
            <a:off x="2948940" y="7520940"/>
            <a:ext cx="960120" cy="960120"/>
          </a:xfrm>
          <a:prstGeom prst="ellipse">
            <a:avLst/>
          </a:prstGeom>
          <a:solidFill>
            <a:srgbClr val="FFC857"/>
          </a:solidFill>
          <a:ln/>
        </p:spPr>
      </p:sp>
      <p:sp>
        <p:nvSpPr>
          <p:cNvPr id="13" name="Text 10"/>
          <p:cNvSpPr txBox="1"/>
          <p:nvPr/>
        </p:nvSpPr>
        <p:spPr>
          <a:xfrm>
            <a:off x="2948940" y="7520940"/>
            <a:ext cx="960120" cy="960120"/>
          </a:xfrm>
          <a:prstGeom prst="rect">
            <a:avLst/>
          </a:prstGeom>
          <a:noFill/>
          <a:ln/>
        </p:spPr>
        <p:txBody>
          <a:bodyPr wrap="square" lIns="0" tIns="0" rIns="0" bIns="0" rtlCol="0" anchor="ctr"/>
          <a:lstStyle/>
          <a:p>
            <a:pPr algn="ctr" indent="0" marL="0">
              <a:lnSpc>
                <a:spcPct val="100000"/>
              </a:lnSpc>
              <a:buNone/>
            </a:pPr>
            <a:r>
              <a:rPr lang="en-US" sz="1200" b="1" dirty="0">
                <a:solidFill>
                  <a:srgbClr val="1E2761"/>
                </a:solidFill>
                <a:latin typeface="Arial" pitchFamily="34" charset="0"/>
                <a:ea typeface="Arial" pitchFamily="34" charset="-122"/>
                <a:cs typeface="Arial" pitchFamily="34" charset="-120"/>
              </a:rPr>
              <a:t>AI</a:t>
            </a:r>
            <a:endParaRPr lang="en-US" sz="1200" dirty="0"/>
          </a:p>
          <a:p>
            <a:pPr algn="ctr" indent="0" marL="0">
              <a:lnSpc>
                <a:spcPct val="100000"/>
              </a:lnSpc>
              <a:buNone/>
            </a:pPr>
            <a:r>
              <a:rPr lang="en-US" sz="1200" b="1" dirty="0">
                <a:solidFill>
                  <a:srgbClr val="1E2761"/>
                </a:solidFill>
                <a:latin typeface="Arial" pitchFamily="34" charset="0"/>
                <a:ea typeface="Arial" pitchFamily="34" charset="-122"/>
                <a:cs typeface="Arial" pitchFamily="34" charset="-120"/>
              </a:rPr>
              <a:t>Model</a:t>
            </a:r>
            <a:endParaRPr lang="en-US" sz="1200" dirty="0"/>
          </a:p>
        </p:txBody>
      </p:sp>
      <p:sp>
        <p:nvSpPr>
          <p:cNvPr id="14" name="Shape 11"/>
          <p:cNvSpPr/>
          <p:nvPr/>
        </p:nvSpPr>
        <p:spPr>
          <a:xfrm>
            <a:off x="868680" y="8961120"/>
            <a:ext cx="621792" cy="621792"/>
          </a:xfrm>
          <a:prstGeom prst="ellipse">
            <a:avLst/>
          </a:prstGeom>
          <a:solidFill>
            <a:srgbClr val="273571"/>
          </a:solidFill>
          <a:ln w="16510">
            <a:solidFill>
              <a:srgbClr val="CADCFC"/>
            </a:solidFill>
            <a:prstDash val="solid"/>
          </a:ln>
        </p:spPr>
      </p:sp>
      <p:sp>
        <p:nvSpPr>
          <p:cNvPr id="15" name="Text 12"/>
          <p:cNvSpPr txBox="1"/>
          <p:nvPr/>
        </p:nvSpPr>
        <p:spPr>
          <a:xfrm>
            <a:off x="640080" y="8961120"/>
            <a:ext cx="1078992" cy="621792"/>
          </a:xfrm>
          <a:prstGeom prst="rect">
            <a:avLst/>
          </a:prstGeom>
          <a:noFill/>
          <a:ln/>
        </p:spPr>
        <p:txBody>
          <a:bodyPr wrap="square" lIns="0" tIns="0" rIns="0" bIns="0" rtlCol="0" anchor="ctr"/>
          <a:lstStyle/>
          <a:p>
            <a:pPr algn="ctr" indent="0" marL="0">
              <a:buNone/>
            </a:pPr>
            <a:r>
              <a:rPr lang="en-US" sz="1050" b="1" dirty="0">
                <a:solidFill>
                  <a:srgbClr val="CADCFC"/>
                </a:solidFill>
                <a:latin typeface="Arial" pitchFamily="34" charset="0"/>
                <a:ea typeface="Arial" pitchFamily="34" charset="-122"/>
                <a:cs typeface="Arial" pitchFamily="34" charset="-120"/>
              </a:rPr>
              <a:t>Tools</a:t>
            </a:r>
            <a:endParaRPr lang="en-US" sz="1050" dirty="0"/>
          </a:p>
        </p:txBody>
      </p:sp>
      <p:sp>
        <p:nvSpPr>
          <p:cNvPr id="16" name="Shape 13"/>
          <p:cNvSpPr/>
          <p:nvPr/>
        </p:nvSpPr>
        <p:spPr>
          <a:xfrm>
            <a:off x="3118104" y="8961120"/>
            <a:ext cx="621792" cy="621792"/>
          </a:xfrm>
          <a:prstGeom prst="ellipse">
            <a:avLst/>
          </a:prstGeom>
          <a:solidFill>
            <a:srgbClr val="273571"/>
          </a:solidFill>
          <a:ln w="16510">
            <a:solidFill>
              <a:srgbClr val="CADCFC"/>
            </a:solidFill>
            <a:prstDash val="solid"/>
          </a:ln>
        </p:spPr>
      </p:sp>
      <p:sp>
        <p:nvSpPr>
          <p:cNvPr id="17" name="Text 14"/>
          <p:cNvSpPr txBox="1"/>
          <p:nvPr/>
        </p:nvSpPr>
        <p:spPr>
          <a:xfrm>
            <a:off x="2889504" y="8961120"/>
            <a:ext cx="1078992" cy="621792"/>
          </a:xfrm>
          <a:prstGeom prst="rect">
            <a:avLst/>
          </a:prstGeom>
          <a:noFill/>
          <a:ln/>
        </p:spPr>
        <p:txBody>
          <a:bodyPr wrap="square" lIns="0" tIns="0" rIns="0" bIns="0" rtlCol="0" anchor="ctr"/>
          <a:lstStyle/>
          <a:p>
            <a:pPr algn="ctr" indent="0" marL="0">
              <a:buNone/>
            </a:pPr>
            <a:r>
              <a:rPr lang="en-US" sz="1050" b="1" dirty="0">
                <a:solidFill>
                  <a:srgbClr val="CADCFC"/>
                </a:solidFill>
                <a:latin typeface="Arial" pitchFamily="34" charset="0"/>
                <a:ea typeface="Arial" pitchFamily="34" charset="-122"/>
                <a:cs typeface="Arial" pitchFamily="34" charset="-120"/>
              </a:rPr>
              <a:t>APIs</a:t>
            </a:r>
            <a:endParaRPr lang="en-US" sz="1050" dirty="0"/>
          </a:p>
        </p:txBody>
      </p:sp>
      <p:sp>
        <p:nvSpPr>
          <p:cNvPr id="18" name="Shape 15"/>
          <p:cNvSpPr/>
          <p:nvPr/>
        </p:nvSpPr>
        <p:spPr>
          <a:xfrm>
            <a:off x="5367528" y="8961120"/>
            <a:ext cx="621792" cy="621792"/>
          </a:xfrm>
          <a:prstGeom prst="ellipse">
            <a:avLst/>
          </a:prstGeom>
          <a:solidFill>
            <a:srgbClr val="273571"/>
          </a:solidFill>
          <a:ln w="16510">
            <a:solidFill>
              <a:srgbClr val="CADCFC"/>
            </a:solidFill>
            <a:prstDash val="solid"/>
          </a:ln>
        </p:spPr>
      </p:sp>
      <p:sp>
        <p:nvSpPr>
          <p:cNvPr id="19" name="Text 16"/>
          <p:cNvSpPr txBox="1"/>
          <p:nvPr/>
        </p:nvSpPr>
        <p:spPr>
          <a:xfrm>
            <a:off x="5138928" y="8961120"/>
            <a:ext cx="1078992" cy="621792"/>
          </a:xfrm>
          <a:prstGeom prst="rect">
            <a:avLst/>
          </a:prstGeom>
          <a:noFill/>
          <a:ln/>
        </p:spPr>
        <p:txBody>
          <a:bodyPr wrap="square" lIns="0" tIns="0" rIns="0" bIns="0" rtlCol="0" anchor="ctr"/>
          <a:lstStyle/>
          <a:p>
            <a:pPr algn="ctr" indent="0" marL="0">
              <a:buNone/>
            </a:pPr>
            <a:r>
              <a:rPr lang="en-US" sz="1050" b="1" dirty="0">
                <a:solidFill>
                  <a:srgbClr val="CADCFC"/>
                </a:solidFill>
                <a:latin typeface="Arial" pitchFamily="34" charset="0"/>
                <a:ea typeface="Arial" pitchFamily="34" charset="-122"/>
                <a:cs typeface="Arial" pitchFamily="34" charset="-120"/>
              </a:rPr>
              <a:t>Files</a:t>
            </a:r>
            <a:endParaRPr lang="en-US" sz="1050" dirty="0"/>
          </a:p>
        </p:txBody>
      </p:sp>
      <p:sp>
        <p:nvSpPr>
          <p:cNvPr id="20" name="Shape 17"/>
          <p:cNvSpPr/>
          <p:nvPr/>
        </p:nvSpPr>
        <p:spPr>
          <a:xfrm>
            <a:off x="548640" y="10195560"/>
            <a:ext cx="5760720" cy="594360"/>
          </a:xfrm>
          <a:prstGeom prst="rect">
            <a:avLst/>
          </a:prstGeom>
          <a:solidFill>
            <a:srgbClr val="273571"/>
          </a:solidFill>
          <a:ln/>
        </p:spPr>
      </p:sp>
      <p:sp>
        <p:nvSpPr>
          <p:cNvPr id="21" name="Text 18"/>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2" name="Text 19"/>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14 / 58</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15</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Context Engineering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Designing everything the model sees, not just the question.</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Context engineering deliberately structures the full input to a model — instructions, retrieved data, memory, tool outputs — so it has exactly what it needs to perform well.</a:t>
            </a:r>
            <a:endParaRPr lang="en-US" sz="1900" dirty="0"/>
          </a:p>
        </p:txBody>
      </p:sp>
      <p:sp>
        <p:nvSpPr>
          <p:cNvPr id="9" name="Shape 6"/>
          <p:cNvSpPr/>
          <p:nvPr/>
        </p:nvSpPr>
        <p:spPr>
          <a:xfrm>
            <a:off x="548640" y="7589520"/>
            <a:ext cx="1371600" cy="502920"/>
          </a:xfrm>
          <a:prstGeom prst="roundRect">
            <a:avLst>
              <a:gd name="adj" fmla="val 10909"/>
            </a:avLst>
          </a:prstGeom>
          <a:solidFill>
            <a:srgbClr val="273571"/>
          </a:solidFill>
          <a:ln w="16510">
            <a:solidFill>
              <a:srgbClr val="CADCFC"/>
            </a:solidFill>
            <a:prstDash val="solid"/>
          </a:ln>
        </p:spPr>
      </p:sp>
      <p:sp>
        <p:nvSpPr>
          <p:cNvPr id="10" name="Text 7"/>
          <p:cNvSpPr txBox="1"/>
          <p:nvPr/>
        </p:nvSpPr>
        <p:spPr>
          <a:xfrm>
            <a:off x="585216" y="7589520"/>
            <a:ext cx="1298448"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CADCFC"/>
                </a:solidFill>
                <a:latin typeface="Arial" pitchFamily="34" charset="0"/>
                <a:ea typeface="Arial" pitchFamily="34" charset="-122"/>
                <a:cs typeface="Arial" pitchFamily="34" charset="-120"/>
              </a:rPr>
              <a:t>Instructions</a:t>
            </a:r>
            <a:endParaRPr lang="en-US" sz="1050" dirty="0"/>
          </a:p>
        </p:txBody>
      </p:sp>
      <p:sp>
        <p:nvSpPr>
          <p:cNvPr id="11" name="Shape 8"/>
          <p:cNvSpPr/>
          <p:nvPr/>
        </p:nvSpPr>
        <p:spPr>
          <a:xfrm>
            <a:off x="1234440" y="8092440"/>
            <a:ext cx="2194560" cy="868680"/>
          </a:xfrm>
          <a:prstGeom prst="line">
            <a:avLst/>
          </a:prstGeom>
          <a:noFill/>
          <a:ln w="16510">
            <a:solidFill>
              <a:srgbClr val="CADCFC"/>
            </a:solidFill>
            <a:prstDash val="solid"/>
          </a:ln>
        </p:spPr>
      </p:sp>
      <p:sp>
        <p:nvSpPr>
          <p:cNvPr id="12" name="Shape 9"/>
          <p:cNvSpPr/>
          <p:nvPr/>
        </p:nvSpPr>
        <p:spPr>
          <a:xfrm>
            <a:off x="2011680" y="7589520"/>
            <a:ext cx="1371600" cy="502920"/>
          </a:xfrm>
          <a:prstGeom prst="roundRect">
            <a:avLst>
              <a:gd name="adj" fmla="val 10909"/>
            </a:avLst>
          </a:prstGeom>
          <a:solidFill>
            <a:srgbClr val="273571"/>
          </a:solidFill>
          <a:ln w="16510">
            <a:solidFill>
              <a:srgbClr val="CADCFC"/>
            </a:solidFill>
            <a:prstDash val="solid"/>
          </a:ln>
        </p:spPr>
      </p:sp>
      <p:sp>
        <p:nvSpPr>
          <p:cNvPr id="13" name="Text 10"/>
          <p:cNvSpPr txBox="1"/>
          <p:nvPr/>
        </p:nvSpPr>
        <p:spPr>
          <a:xfrm>
            <a:off x="2048256" y="7589520"/>
            <a:ext cx="1298448"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CADCFC"/>
                </a:solidFill>
                <a:latin typeface="Arial" pitchFamily="34" charset="0"/>
                <a:ea typeface="Arial" pitchFamily="34" charset="-122"/>
                <a:cs typeface="Arial" pitchFamily="34" charset="-120"/>
              </a:rPr>
              <a:t>Retrieved Data</a:t>
            </a:r>
            <a:endParaRPr lang="en-US" sz="1050" dirty="0"/>
          </a:p>
        </p:txBody>
      </p:sp>
      <p:sp>
        <p:nvSpPr>
          <p:cNvPr id="14" name="Shape 11"/>
          <p:cNvSpPr/>
          <p:nvPr/>
        </p:nvSpPr>
        <p:spPr>
          <a:xfrm>
            <a:off x="2697480" y="8092440"/>
            <a:ext cx="731520" cy="868680"/>
          </a:xfrm>
          <a:prstGeom prst="line">
            <a:avLst/>
          </a:prstGeom>
          <a:noFill/>
          <a:ln w="16510">
            <a:solidFill>
              <a:srgbClr val="CADCFC"/>
            </a:solidFill>
            <a:prstDash val="solid"/>
          </a:ln>
        </p:spPr>
      </p:sp>
      <p:sp>
        <p:nvSpPr>
          <p:cNvPr id="15" name="Shape 12"/>
          <p:cNvSpPr/>
          <p:nvPr/>
        </p:nvSpPr>
        <p:spPr>
          <a:xfrm>
            <a:off x="3474720" y="7589520"/>
            <a:ext cx="1371600" cy="502920"/>
          </a:xfrm>
          <a:prstGeom prst="roundRect">
            <a:avLst>
              <a:gd name="adj" fmla="val 10909"/>
            </a:avLst>
          </a:prstGeom>
          <a:solidFill>
            <a:srgbClr val="273571"/>
          </a:solidFill>
          <a:ln w="16510">
            <a:solidFill>
              <a:srgbClr val="CADCFC"/>
            </a:solidFill>
            <a:prstDash val="solid"/>
          </a:ln>
        </p:spPr>
      </p:sp>
      <p:sp>
        <p:nvSpPr>
          <p:cNvPr id="16" name="Text 13"/>
          <p:cNvSpPr txBox="1"/>
          <p:nvPr/>
        </p:nvSpPr>
        <p:spPr>
          <a:xfrm>
            <a:off x="3511296" y="7589520"/>
            <a:ext cx="1298448"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CADCFC"/>
                </a:solidFill>
                <a:latin typeface="Arial" pitchFamily="34" charset="0"/>
                <a:ea typeface="Arial" pitchFamily="34" charset="-122"/>
                <a:cs typeface="Arial" pitchFamily="34" charset="-120"/>
              </a:rPr>
              <a:t>Memory</a:t>
            </a:r>
            <a:endParaRPr lang="en-US" sz="1050" dirty="0"/>
          </a:p>
        </p:txBody>
      </p:sp>
      <p:sp>
        <p:nvSpPr>
          <p:cNvPr id="17" name="Shape 14"/>
          <p:cNvSpPr/>
          <p:nvPr/>
        </p:nvSpPr>
        <p:spPr>
          <a:xfrm>
            <a:off x="3429000" y="8092440"/>
            <a:ext cx="731520" cy="868680"/>
          </a:xfrm>
          <a:prstGeom prst="line">
            <a:avLst/>
          </a:prstGeom>
          <a:noFill/>
          <a:ln w="16510">
            <a:solidFill>
              <a:srgbClr val="CADCFC"/>
            </a:solidFill>
            <a:prstDash val="solid"/>
          </a:ln>
        </p:spPr>
      </p:sp>
      <p:sp>
        <p:nvSpPr>
          <p:cNvPr id="18" name="Shape 15"/>
          <p:cNvSpPr/>
          <p:nvPr/>
        </p:nvSpPr>
        <p:spPr>
          <a:xfrm>
            <a:off x="4937760" y="7589520"/>
            <a:ext cx="1371600" cy="502920"/>
          </a:xfrm>
          <a:prstGeom prst="roundRect">
            <a:avLst>
              <a:gd name="adj" fmla="val 10909"/>
            </a:avLst>
          </a:prstGeom>
          <a:solidFill>
            <a:srgbClr val="273571"/>
          </a:solidFill>
          <a:ln w="16510">
            <a:solidFill>
              <a:srgbClr val="CADCFC"/>
            </a:solidFill>
            <a:prstDash val="solid"/>
          </a:ln>
        </p:spPr>
      </p:sp>
      <p:sp>
        <p:nvSpPr>
          <p:cNvPr id="19" name="Text 16"/>
          <p:cNvSpPr txBox="1"/>
          <p:nvPr/>
        </p:nvSpPr>
        <p:spPr>
          <a:xfrm>
            <a:off x="4974336" y="7589520"/>
            <a:ext cx="1298448"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CADCFC"/>
                </a:solidFill>
                <a:latin typeface="Arial" pitchFamily="34" charset="0"/>
                <a:ea typeface="Arial" pitchFamily="34" charset="-122"/>
                <a:cs typeface="Arial" pitchFamily="34" charset="-120"/>
              </a:rPr>
              <a:t>Tools</a:t>
            </a:r>
            <a:endParaRPr lang="en-US" sz="1050" dirty="0"/>
          </a:p>
        </p:txBody>
      </p:sp>
      <p:sp>
        <p:nvSpPr>
          <p:cNvPr id="20" name="Shape 17"/>
          <p:cNvSpPr/>
          <p:nvPr/>
        </p:nvSpPr>
        <p:spPr>
          <a:xfrm>
            <a:off x="3429000" y="8092440"/>
            <a:ext cx="2194560" cy="868680"/>
          </a:xfrm>
          <a:prstGeom prst="line">
            <a:avLst/>
          </a:prstGeom>
          <a:noFill/>
          <a:ln w="16510">
            <a:solidFill>
              <a:srgbClr val="CADCFC"/>
            </a:solidFill>
            <a:prstDash val="solid"/>
          </a:ln>
        </p:spPr>
      </p:sp>
      <p:sp>
        <p:nvSpPr>
          <p:cNvPr id="21" name="Shape 18"/>
          <p:cNvSpPr/>
          <p:nvPr/>
        </p:nvSpPr>
        <p:spPr>
          <a:xfrm>
            <a:off x="2331720" y="8961120"/>
            <a:ext cx="2194560" cy="594360"/>
          </a:xfrm>
          <a:prstGeom prst="roundRect">
            <a:avLst>
              <a:gd name="adj" fmla="val 10769"/>
            </a:avLst>
          </a:prstGeom>
          <a:solidFill>
            <a:srgbClr val="FFC857"/>
          </a:solidFill>
          <a:ln/>
        </p:spPr>
      </p:sp>
      <p:sp>
        <p:nvSpPr>
          <p:cNvPr id="22" name="Text 19"/>
          <p:cNvSpPr txBox="1"/>
          <p:nvPr/>
        </p:nvSpPr>
        <p:spPr>
          <a:xfrm>
            <a:off x="2331720" y="8961120"/>
            <a:ext cx="2194560" cy="59436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Final Model Context</a:t>
            </a:r>
            <a:endParaRPr lang="en-US" sz="1250" dirty="0"/>
          </a:p>
        </p:txBody>
      </p:sp>
      <p:sp>
        <p:nvSpPr>
          <p:cNvPr id="23" name="Shape 20"/>
          <p:cNvSpPr/>
          <p:nvPr/>
        </p:nvSpPr>
        <p:spPr>
          <a:xfrm>
            <a:off x="548640" y="10195560"/>
            <a:ext cx="5760720" cy="594360"/>
          </a:xfrm>
          <a:prstGeom prst="rect">
            <a:avLst/>
          </a:prstGeom>
          <a:solidFill>
            <a:srgbClr val="273571"/>
          </a:solidFill>
          <a:ln/>
        </p:spPr>
      </p:sp>
      <p:sp>
        <p:nvSpPr>
          <p:cNvPr id="24" name="Text 21"/>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5" name="Text 22"/>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15 / 58</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16</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Multi-Modal Model</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One model, many senses.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multi-modal model can understand and/or generate more than one type of data — text, images, audio, video — in a single system, instead of needing a separate model for each.</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3429000" y="8503920"/>
            <a:ext cx="0" cy="502920"/>
          </a:xfrm>
          <a:prstGeom prst="line">
            <a:avLst/>
          </a:prstGeom>
          <a:noFill/>
          <a:ln w="16510">
            <a:solidFill>
              <a:srgbClr val="CADCFC"/>
            </a:solidFill>
            <a:prstDash val="solid"/>
          </a:ln>
        </p:spPr>
      </p:sp>
      <p:sp>
        <p:nvSpPr>
          <p:cNvPr id="11" name="Shape 8"/>
          <p:cNvSpPr/>
          <p:nvPr/>
        </p:nvSpPr>
        <p:spPr>
          <a:xfrm>
            <a:off x="3429000" y="8503920"/>
            <a:ext cx="2596896" cy="502920"/>
          </a:xfrm>
          <a:prstGeom prst="line">
            <a:avLst/>
          </a:prstGeom>
          <a:noFill/>
          <a:ln w="16510">
            <a:solidFill>
              <a:srgbClr val="CADCFC"/>
            </a:solidFill>
            <a:prstDash val="solid"/>
          </a:ln>
        </p:spPr>
      </p:sp>
      <p:sp>
        <p:nvSpPr>
          <p:cNvPr id="12" name="Shape 9"/>
          <p:cNvSpPr/>
          <p:nvPr/>
        </p:nvSpPr>
        <p:spPr>
          <a:xfrm>
            <a:off x="2971800" y="7589520"/>
            <a:ext cx="914400" cy="914400"/>
          </a:xfrm>
          <a:prstGeom prst="ellipse">
            <a:avLst/>
          </a:prstGeom>
          <a:solidFill>
            <a:srgbClr val="FFC857"/>
          </a:solidFill>
          <a:ln/>
        </p:spPr>
      </p:sp>
      <p:sp>
        <p:nvSpPr>
          <p:cNvPr id="13" name="Text 10"/>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Model</a:t>
            </a:r>
            <a:endParaRPr lang="en-US" sz="1150" dirty="0"/>
          </a:p>
        </p:txBody>
      </p:sp>
      <p:sp>
        <p:nvSpPr>
          <p:cNvPr id="14" name="Shape 11"/>
          <p:cNvSpPr/>
          <p:nvPr/>
        </p:nvSpPr>
        <p:spPr>
          <a:xfrm>
            <a:off x="548640" y="9006840"/>
            <a:ext cx="566928" cy="566928"/>
          </a:xfrm>
          <a:prstGeom prst="ellipse">
            <a:avLst/>
          </a:prstGeom>
          <a:solidFill>
            <a:srgbClr val="273571"/>
          </a:solidFill>
          <a:ln w="16510">
            <a:solidFill>
              <a:srgbClr val="CADCFC"/>
            </a:solidFill>
            <a:prstDash val="solid"/>
          </a:ln>
        </p:spPr>
      </p:sp>
      <p:sp>
        <p:nvSpPr>
          <p:cNvPr id="15" name="Text 12"/>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Text</a:t>
            </a:r>
            <a:endParaRPr lang="en-US" sz="1000" dirty="0"/>
          </a:p>
        </p:txBody>
      </p:sp>
      <p:sp>
        <p:nvSpPr>
          <p:cNvPr id="16" name="Shape 13"/>
          <p:cNvSpPr/>
          <p:nvPr/>
        </p:nvSpPr>
        <p:spPr>
          <a:xfrm>
            <a:off x="3145536" y="9006840"/>
            <a:ext cx="566928" cy="566928"/>
          </a:xfrm>
          <a:prstGeom prst="ellipse">
            <a:avLst/>
          </a:prstGeom>
          <a:solidFill>
            <a:srgbClr val="273571"/>
          </a:solidFill>
          <a:ln w="16510">
            <a:solidFill>
              <a:srgbClr val="CADCFC"/>
            </a:solidFill>
            <a:prstDash val="solid"/>
          </a:ln>
        </p:spPr>
      </p:sp>
      <p:sp>
        <p:nvSpPr>
          <p:cNvPr id="17" name="Text 14"/>
          <p:cNvSpPr txBox="1"/>
          <p:nvPr/>
        </p:nvSpPr>
        <p:spPr>
          <a:xfrm>
            <a:off x="2871216"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Image</a:t>
            </a:r>
            <a:endParaRPr lang="en-US" sz="1000" dirty="0"/>
          </a:p>
        </p:txBody>
      </p:sp>
      <p:sp>
        <p:nvSpPr>
          <p:cNvPr id="18" name="Shape 15"/>
          <p:cNvSpPr/>
          <p:nvPr/>
        </p:nvSpPr>
        <p:spPr>
          <a:xfrm>
            <a:off x="5742432" y="9006840"/>
            <a:ext cx="566928" cy="566928"/>
          </a:xfrm>
          <a:prstGeom prst="ellipse">
            <a:avLst/>
          </a:prstGeom>
          <a:solidFill>
            <a:srgbClr val="273571"/>
          </a:solidFill>
          <a:ln w="16510">
            <a:solidFill>
              <a:srgbClr val="CADCFC"/>
            </a:solidFill>
            <a:prstDash val="solid"/>
          </a:ln>
        </p:spPr>
      </p:sp>
      <p:sp>
        <p:nvSpPr>
          <p:cNvPr id="19" name="Text 16"/>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Audio</a:t>
            </a:r>
            <a:endParaRPr lang="en-US" sz="100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16 / 58</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17</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AI Agent</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model that can act, not just answer.</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An AI agent uses an LLM to decide what to do, calls tools or APIs to take real actions, observes the result, and repeats — moving from ‘answering questions’ to ‘completing tasks’.</a:t>
            </a:r>
            <a:endParaRPr lang="en-US" sz="1900" dirty="0"/>
          </a:p>
        </p:txBody>
      </p:sp>
      <p:sp>
        <p:nvSpPr>
          <p:cNvPr id="9" name="Shape 6"/>
          <p:cNvSpPr/>
          <p:nvPr/>
        </p:nvSpPr>
        <p:spPr>
          <a:xfrm>
            <a:off x="548640" y="8389620"/>
            <a:ext cx="120015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Goal</a:t>
            </a:r>
            <a:endParaRPr lang="en-US" sz="1150" dirty="0"/>
          </a:p>
        </p:txBody>
      </p:sp>
      <p:sp>
        <p:nvSpPr>
          <p:cNvPr id="11" name="Shape 8"/>
          <p:cNvSpPr/>
          <p:nvPr/>
        </p:nvSpPr>
        <p:spPr>
          <a:xfrm>
            <a:off x="1748790" y="8778240"/>
            <a:ext cx="320040" cy="0"/>
          </a:xfrm>
          <a:prstGeom prst="line">
            <a:avLst/>
          </a:prstGeom>
          <a:noFill/>
          <a:ln w="16510">
            <a:solidFill>
              <a:srgbClr val="CADCFC"/>
            </a:solidFill>
            <a:prstDash val="solid"/>
            <a:tailEnd type="triangle"/>
          </a:ln>
        </p:spPr>
      </p:sp>
      <p:sp>
        <p:nvSpPr>
          <p:cNvPr id="12" name="Shape 9"/>
          <p:cNvSpPr/>
          <p:nvPr/>
        </p:nvSpPr>
        <p:spPr>
          <a:xfrm>
            <a:off x="2068830" y="8389620"/>
            <a:ext cx="120015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12369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Plan</a:t>
            </a:r>
            <a:endParaRPr lang="en-US" sz="1150" dirty="0"/>
          </a:p>
        </p:txBody>
      </p:sp>
      <p:sp>
        <p:nvSpPr>
          <p:cNvPr id="14" name="Shape 11"/>
          <p:cNvSpPr/>
          <p:nvPr/>
        </p:nvSpPr>
        <p:spPr>
          <a:xfrm>
            <a:off x="3268980" y="8778240"/>
            <a:ext cx="320040" cy="0"/>
          </a:xfrm>
          <a:prstGeom prst="line">
            <a:avLst/>
          </a:prstGeom>
          <a:noFill/>
          <a:ln w="16510">
            <a:solidFill>
              <a:srgbClr val="CADCFC"/>
            </a:solidFill>
            <a:prstDash val="solid"/>
            <a:tailEnd type="triangle"/>
          </a:ln>
        </p:spPr>
      </p:sp>
      <p:sp>
        <p:nvSpPr>
          <p:cNvPr id="15" name="Shape 12"/>
          <p:cNvSpPr/>
          <p:nvPr/>
        </p:nvSpPr>
        <p:spPr>
          <a:xfrm>
            <a:off x="3589020" y="8389620"/>
            <a:ext cx="1200150" cy="777240"/>
          </a:xfrm>
          <a:prstGeom prst="roundRect">
            <a:avLst>
              <a:gd name="adj" fmla="val 8235"/>
            </a:avLst>
          </a:prstGeom>
          <a:solidFill>
            <a:srgbClr val="273571"/>
          </a:solidFill>
          <a:ln w="16510">
            <a:solidFill>
              <a:srgbClr val="CADCFC"/>
            </a:solidFill>
            <a:prstDash val="solid"/>
          </a:ln>
        </p:spPr>
      </p:sp>
      <p:sp>
        <p:nvSpPr>
          <p:cNvPr id="16" name="Text 13"/>
          <p:cNvSpPr txBox="1"/>
          <p:nvPr/>
        </p:nvSpPr>
        <p:spPr>
          <a:xfrm>
            <a:off x="364388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Tool</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Call</a:t>
            </a:r>
            <a:endParaRPr lang="en-US" sz="1150" dirty="0"/>
          </a:p>
        </p:txBody>
      </p:sp>
      <p:sp>
        <p:nvSpPr>
          <p:cNvPr id="17" name="Shape 14"/>
          <p:cNvSpPr/>
          <p:nvPr/>
        </p:nvSpPr>
        <p:spPr>
          <a:xfrm>
            <a:off x="4789170" y="8778240"/>
            <a:ext cx="320040" cy="0"/>
          </a:xfrm>
          <a:prstGeom prst="line">
            <a:avLst/>
          </a:prstGeom>
          <a:noFill/>
          <a:ln w="16510">
            <a:solidFill>
              <a:srgbClr val="CADCFC"/>
            </a:solidFill>
            <a:prstDash val="solid"/>
            <a:tailEnd type="triangle"/>
          </a:ln>
        </p:spPr>
      </p:sp>
      <p:sp>
        <p:nvSpPr>
          <p:cNvPr id="18" name="Shape 15"/>
          <p:cNvSpPr/>
          <p:nvPr/>
        </p:nvSpPr>
        <p:spPr>
          <a:xfrm>
            <a:off x="5109210" y="8389620"/>
            <a:ext cx="1200150" cy="777240"/>
          </a:xfrm>
          <a:prstGeom prst="roundRect">
            <a:avLst>
              <a:gd name="adj" fmla="val 8235"/>
            </a:avLst>
          </a:prstGeom>
          <a:solidFill>
            <a:srgbClr val="FFC857"/>
          </a:solidFill>
          <a:ln w="16510">
            <a:solidFill>
              <a:srgbClr val="CADCFC"/>
            </a:solidFill>
            <a:prstDash val="solid"/>
          </a:ln>
        </p:spPr>
      </p:sp>
      <p:sp>
        <p:nvSpPr>
          <p:cNvPr id="19" name="Text 16"/>
          <p:cNvSpPr txBox="1"/>
          <p:nvPr/>
        </p:nvSpPr>
        <p:spPr>
          <a:xfrm>
            <a:off x="516407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Answer</a:t>
            </a:r>
            <a:endParaRPr lang="en-US" sz="1150" dirty="0"/>
          </a:p>
        </p:txBody>
      </p:sp>
      <p:sp>
        <p:nvSpPr>
          <p:cNvPr id="20" name="Shape 17"/>
          <p:cNvSpPr/>
          <p:nvPr/>
        </p:nvSpPr>
        <p:spPr>
          <a:xfrm>
            <a:off x="548640" y="10195560"/>
            <a:ext cx="5760720" cy="594360"/>
          </a:xfrm>
          <a:prstGeom prst="rect">
            <a:avLst/>
          </a:prstGeom>
          <a:solidFill>
            <a:srgbClr val="273571"/>
          </a:solidFill>
          <a:ln/>
        </p:spPr>
      </p:sp>
      <p:sp>
        <p:nvSpPr>
          <p:cNvPr id="21" name="Text 18"/>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2" name="Text 19"/>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17 / 58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18</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Hallucination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confident answer that's simply wrong.</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hallucination is when a model generates plausible-sounding but false or fabricated information — the key risk that RAG, grounding, and evaluation all try to reduce.</a:t>
            </a:r>
            <a:endParaRPr lang="en-US" sz="1900" dirty="0"/>
          </a:p>
        </p:txBody>
      </p:sp>
      <p:sp>
        <p:nvSpPr>
          <p:cNvPr id="9" name="Shape 6"/>
          <p:cNvSpPr/>
          <p:nvPr/>
        </p:nvSpPr>
        <p:spPr>
          <a:xfrm>
            <a:off x="548640" y="7680960"/>
            <a:ext cx="2697480" cy="1554480"/>
          </a:xfrm>
          <a:prstGeom prst="roundRect">
            <a:avLst>
              <a:gd name="adj" fmla="val 4706"/>
            </a:avLst>
          </a:prstGeom>
          <a:solidFill>
            <a:srgbClr val="273571"/>
          </a:solidFill>
          <a:ln w="16510">
            <a:solidFill>
              <a:srgbClr val="CADCFC"/>
            </a:solidFill>
            <a:prstDash val="solid"/>
          </a:ln>
        </p:spPr>
      </p:sp>
      <p:sp>
        <p:nvSpPr>
          <p:cNvPr id="10" name="Text 7"/>
          <p:cNvSpPr txBox="1"/>
          <p:nvPr/>
        </p:nvSpPr>
        <p:spPr>
          <a:xfrm>
            <a:off x="548640" y="7818120"/>
            <a:ext cx="2697480" cy="548640"/>
          </a:xfrm>
          <a:prstGeom prst="rect">
            <a:avLst/>
          </a:prstGeom>
          <a:noFill/>
          <a:ln/>
        </p:spPr>
        <p:txBody>
          <a:bodyPr wrap="square" lIns="0" tIns="0" rIns="0" bIns="0" rtlCol="0" anchor="ctr"/>
          <a:lstStyle/>
          <a:p>
            <a:pPr algn="ctr" indent="0" marL="0">
              <a:buNone/>
            </a:pPr>
            <a:r>
              <a:rPr lang="en-US" sz="3000" b="1" dirty="0">
                <a:solidFill>
                  <a:srgbClr val="FFC857"/>
                </a:solidFill>
                <a:latin typeface="Arial" pitchFamily="34" charset="0"/>
                <a:ea typeface="Arial" pitchFamily="34" charset="-122"/>
                <a:cs typeface="Arial" pitchFamily="34" charset="-120"/>
              </a:rPr>
              <a:t>✓</a:t>
            </a:r>
            <a:endParaRPr lang="en-US" sz="3000" dirty="0"/>
          </a:p>
        </p:txBody>
      </p:sp>
      <p:sp>
        <p:nvSpPr>
          <p:cNvPr id="11" name="Text 8"/>
          <p:cNvSpPr txBox="1"/>
          <p:nvPr/>
        </p:nvSpPr>
        <p:spPr>
          <a:xfrm>
            <a:off x="640080" y="8366760"/>
            <a:ext cx="25146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Grounded Answer</a:t>
            </a:r>
            <a:endParaRPr lang="en-US" sz="1200" dirty="0"/>
          </a:p>
        </p:txBody>
      </p:sp>
      <p:sp>
        <p:nvSpPr>
          <p:cNvPr id="12" name="Text 9"/>
          <p:cNvSpPr txBox="1"/>
          <p:nvPr/>
        </p:nvSpPr>
        <p:spPr>
          <a:xfrm>
            <a:off x="685800" y="8686800"/>
            <a:ext cx="2423160" cy="50292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Backed by retrieved source data</a:t>
            </a:r>
            <a:endParaRPr lang="en-US" sz="950" dirty="0"/>
          </a:p>
        </p:txBody>
      </p:sp>
      <p:sp>
        <p:nvSpPr>
          <p:cNvPr id="13" name="Shape 10"/>
          <p:cNvSpPr/>
          <p:nvPr/>
        </p:nvSpPr>
        <p:spPr>
          <a:xfrm>
            <a:off x="3611880" y="7680960"/>
            <a:ext cx="2697480" cy="1554480"/>
          </a:xfrm>
          <a:prstGeom prst="roundRect">
            <a:avLst>
              <a:gd name="adj" fmla="val 4706"/>
            </a:avLst>
          </a:prstGeom>
          <a:ln w="16510">
            <a:solidFill>
              <a:srgbClr val="CADCFC"/>
            </a:solidFill>
            <a:prstDash val="dash"/>
          </a:ln>
        </p:spPr>
      </p:sp>
      <p:sp>
        <p:nvSpPr>
          <p:cNvPr id="14" name="Text 11"/>
          <p:cNvSpPr txBox="1"/>
          <p:nvPr/>
        </p:nvSpPr>
        <p:spPr>
          <a:xfrm>
            <a:off x="3611880" y="7818120"/>
            <a:ext cx="2697480" cy="548640"/>
          </a:xfrm>
          <a:prstGeom prst="rect">
            <a:avLst/>
          </a:prstGeom>
          <a:noFill/>
          <a:ln/>
        </p:spPr>
        <p:txBody>
          <a:bodyPr wrap="square" lIns="0" tIns="0" rIns="0" bIns="0" rtlCol="0" anchor="ctr"/>
          <a:lstStyle/>
          <a:p>
            <a:pPr algn="ctr" indent="0" marL="0">
              <a:buNone/>
            </a:pPr>
            <a:r>
              <a:rPr lang="en-US" sz="3000" b="1" dirty="0">
                <a:solidFill>
                  <a:srgbClr val="CADCFC"/>
                </a:solidFill>
                <a:latin typeface="Arial" pitchFamily="34" charset="0"/>
                <a:ea typeface="Arial" pitchFamily="34" charset="-122"/>
                <a:cs typeface="Arial" pitchFamily="34" charset="-120"/>
              </a:rPr>
              <a:t>⚠</a:t>
            </a:r>
            <a:endParaRPr lang="en-US" sz="3000" dirty="0"/>
          </a:p>
        </p:txBody>
      </p:sp>
      <p:sp>
        <p:nvSpPr>
          <p:cNvPr id="15" name="Text 12"/>
          <p:cNvSpPr txBox="1"/>
          <p:nvPr/>
        </p:nvSpPr>
        <p:spPr>
          <a:xfrm>
            <a:off x="3703320" y="8366760"/>
            <a:ext cx="25146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Hallucinated Answer</a:t>
            </a:r>
            <a:endParaRPr lang="en-US" sz="1200" dirty="0"/>
          </a:p>
        </p:txBody>
      </p:sp>
      <p:sp>
        <p:nvSpPr>
          <p:cNvPr id="16" name="Text 13"/>
          <p:cNvSpPr txBox="1"/>
          <p:nvPr/>
        </p:nvSpPr>
        <p:spPr>
          <a:xfrm>
            <a:off x="3749040" y="8686800"/>
            <a:ext cx="2423160" cy="50292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Fabricated, sounds confident anyway</a:t>
            </a:r>
            <a:endParaRPr lang="en-US" sz="9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18 / 58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19</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FastAPI</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The Python framework that turns your AI code into a live API.</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FastAPI is a modern Python web framework for building APIs quickly, with automatic request validation and docs — the backend layer that lets an AI model be called by an app.</a:t>
            </a:r>
            <a:endParaRPr lang="en-US" sz="1900" dirty="0"/>
          </a:p>
        </p:txBody>
      </p:sp>
      <p:sp>
        <p:nvSpPr>
          <p:cNvPr id="9" name="Shape 6"/>
          <p:cNvSpPr/>
          <p:nvPr/>
        </p:nvSpPr>
        <p:spPr>
          <a:xfrm>
            <a:off x="548640" y="8389620"/>
            <a:ext cx="120015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Client</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Request</a:t>
            </a:r>
            <a:endParaRPr lang="en-US" sz="1150" dirty="0"/>
          </a:p>
        </p:txBody>
      </p:sp>
      <p:sp>
        <p:nvSpPr>
          <p:cNvPr id="11" name="Shape 8"/>
          <p:cNvSpPr/>
          <p:nvPr/>
        </p:nvSpPr>
        <p:spPr>
          <a:xfrm>
            <a:off x="1748790" y="8778240"/>
            <a:ext cx="320040" cy="0"/>
          </a:xfrm>
          <a:prstGeom prst="line">
            <a:avLst/>
          </a:prstGeom>
          <a:noFill/>
          <a:ln w="16510">
            <a:solidFill>
              <a:srgbClr val="CADCFC"/>
            </a:solidFill>
            <a:prstDash val="solid"/>
            <a:tailEnd type="triangle"/>
          </a:ln>
        </p:spPr>
      </p:sp>
      <p:sp>
        <p:nvSpPr>
          <p:cNvPr id="12" name="Shape 9"/>
          <p:cNvSpPr/>
          <p:nvPr/>
        </p:nvSpPr>
        <p:spPr>
          <a:xfrm>
            <a:off x="2068830" y="8389620"/>
            <a:ext cx="120015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12369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FastAPI</a:t>
            </a:r>
            <a:endParaRPr lang="en-US" sz="1150" dirty="0"/>
          </a:p>
        </p:txBody>
      </p:sp>
      <p:sp>
        <p:nvSpPr>
          <p:cNvPr id="14" name="Shape 11"/>
          <p:cNvSpPr/>
          <p:nvPr/>
        </p:nvSpPr>
        <p:spPr>
          <a:xfrm>
            <a:off x="3268980" y="8778240"/>
            <a:ext cx="320040" cy="0"/>
          </a:xfrm>
          <a:prstGeom prst="line">
            <a:avLst/>
          </a:prstGeom>
          <a:noFill/>
          <a:ln w="16510">
            <a:solidFill>
              <a:srgbClr val="CADCFC"/>
            </a:solidFill>
            <a:prstDash val="solid"/>
            <a:tailEnd type="triangle"/>
          </a:ln>
        </p:spPr>
      </p:sp>
      <p:sp>
        <p:nvSpPr>
          <p:cNvPr id="15" name="Shape 12"/>
          <p:cNvSpPr/>
          <p:nvPr/>
        </p:nvSpPr>
        <p:spPr>
          <a:xfrm>
            <a:off x="3589020" y="8389620"/>
            <a:ext cx="1200150" cy="777240"/>
          </a:xfrm>
          <a:prstGeom prst="roundRect">
            <a:avLst>
              <a:gd name="adj" fmla="val 8235"/>
            </a:avLst>
          </a:prstGeom>
          <a:solidFill>
            <a:srgbClr val="273571"/>
          </a:solidFill>
          <a:ln w="16510">
            <a:solidFill>
              <a:srgbClr val="CADCFC"/>
            </a:solidFill>
            <a:prstDash val="solid"/>
          </a:ln>
        </p:spPr>
      </p:sp>
      <p:sp>
        <p:nvSpPr>
          <p:cNvPr id="16" name="Text 13"/>
          <p:cNvSpPr txBox="1"/>
          <p:nvPr/>
        </p:nvSpPr>
        <p:spPr>
          <a:xfrm>
            <a:off x="364388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Your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Logic</a:t>
            </a:r>
            <a:endParaRPr lang="en-US" sz="1150" dirty="0"/>
          </a:p>
        </p:txBody>
      </p:sp>
      <p:sp>
        <p:nvSpPr>
          <p:cNvPr id="17" name="Shape 14"/>
          <p:cNvSpPr/>
          <p:nvPr/>
        </p:nvSpPr>
        <p:spPr>
          <a:xfrm>
            <a:off x="4789170" y="8778240"/>
            <a:ext cx="320040" cy="0"/>
          </a:xfrm>
          <a:prstGeom prst="line">
            <a:avLst/>
          </a:prstGeom>
          <a:noFill/>
          <a:ln w="16510">
            <a:solidFill>
              <a:srgbClr val="CADCFC"/>
            </a:solidFill>
            <a:prstDash val="solid"/>
            <a:tailEnd type="triangle"/>
          </a:ln>
        </p:spPr>
      </p:sp>
      <p:sp>
        <p:nvSpPr>
          <p:cNvPr id="18" name="Shape 15"/>
          <p:cNvSpPr/>
          <p:nvPr/>
        </p:nvSpPr>
        <p:spPr>
          <a:xfrm>
            <a:off x="5109210" y="8389620"/>
            <a:ext cx="1200150" cy="777240"/>
          </a:xfrm>
          <a:prstGeom prst="roundRect">
            <a:avLst>
              <a:gd name="adj" fmla="val 8235"/>
            </a:avLst>
          </a:prstGeom>
          <a:solidFill>
            <a:srgbClr val="FFC857"/>
          </a:solidFill>
          <a:ln w="16510">
            <a:solidFill>
              <a:srgbClr val="CADCFC"/>
            </a:solidFill>
            <a:prstDash val="solid"/>
          </a:ln>
        </p:spPr>
      </p:sp>
      <p:sp>
        <p:nvSpPr>
          <p:cNvPr id="19" name="Text 16"/>
          <p:cNvSpPr txBox="1"/>
          <p:nvPr/>
        </p:nvSpPr>
        <p:spPr>
          <a:xfrm>
            <a:off x="516407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Response</a:t>
            </a:r>
            <a:endParaRPr lang="en-US" sz="1150" dirty="0"/>
          </a:p>
        </p:txBody>
      </p:sp>
      <p:sp>
        <p:nvSpPr>
          <p:cNvPr id="20" name="Shape 17"/>
          <p:cNvSpPr/>
          <p:nvPr/>
        </p:nvSpPr>
        <p:spPr>
          <a:xfrm>
            <a:off x="548640" y="10195560"/>
            <a:ext cx="5760720" cy="594360"/>
          </a:xfrm>
          <a:prstGeom prst="rect">
            <a:avLst/>
          </a:prstGeom>
          <a:solidFill>
            <a:srgbClr val="273571"/>
          </a:solidFill>
          <a:ln/>
        </p:spPr>
      </p:sp>
      <p:sp>
        <p:nvSpPr>
          <p:cNvPr id="21" name="Text 18"/>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2" name="Text 19"/>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19 / 58</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20</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LoRA</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Fine-tuning a giant model by touching only a tiny slice of it.</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Low-Rank Adaptation fine-tunes a small number of extra parameters instead of the whole model — dramatically cheaper and faster, while the base model stays frozen.</a:t>
            </a:r>
            <a:endParaRPr lang="en-US" sz="1900" dirty="0"/>
          </a:p>
        </p:txBody>
      </p:sp>
      <p:sp>
        <p:nvSpPr>
          <p:cNvPr id="9" name="Text 6"/>
          <p:cNvSpPr txBox="1"/>
          <p:nvPr/>
        </p:nvSpPr>
        <p:spPr>
          <a:xfrm>
            <a:off x="548640" y="7452360"/>
            <a:ext cx="2651760" cy="320040"/>
          </a:xfrm>
          <a:prstGeom prst="rect">
            <a:avLst/>
          </a:prstGeom>
          <a:noFill/>
          <a:ln/>
        </p:spPr>
        <p:txBody>
          <a:bodyPr wrap="square" lIns="0" tIns="0" rIns="0" bIns="0" rtlCol="0" anchor="ctr"/>
          <a:lstStyle/>
          <a:p>
            <a:pPr algn="ctr" indent="0" marL="0">
              <a:buNone/>
            </a:pPr>
            <a:r>
              <a:rPr lang="en-US" sz="1400" b="1" dirty="0">
                <a:solidFill>
                  <a:srgbClr val="FFC857"/>
                </a:solidFill>
                <a:latin typeface="Arial" pitchFamily="34" charset="0"/>
                <a:ea typeface="Arial" pitchFamily="34" charset="-122"/>
                <a:cs typeface="Arial" pitchFamily="34" charset="-120"/>
              </a:rPr>
              <a:t>Full Fine-Tuning</a:t>
            </a:r>
            <a:endParaRPr lang="en-US" sz="1400" dirty="0"/>
          </a:p>
        </p:txBody>
      </p:sp>
      <p:sp>
        <p:nvSpPr>
          <p:cNvPr id="10" name="Text 7"/>
          <p:cNvSpPr txBox="1"/>
          <p:nvPr/>
        </p:nvSpPr>
        <p:spPr>
          <a:xfrm>
            <a:off x="3657600" y="7452360"/>
            <a:ext cx="2651760" cy="320040"/>
          </a:xfrm>
          <a:prstGeom prst="rect">
            <a:avLst/>
          </a:prstGeom>
          <a:noFill/>
          <a:ln/>
        </p:spPr>
        <p:txBody>
          <a:bodyPr wrap="square" lIns="0" tIns="0" rIns="0" bIns="0" rtlCol="0" anchor="ctr"/>
          <a:lstStyle/>
          <a:p>
            <a:pPr algn="ctr" indent="0" marL="0">
              <a:buNone/>
            </a:pPr>
            <a:r>
              <a:rPr lang="en-US" sz="1400" b="1" dirty="0">
                <a:solidFill>
                  <a:srgbClr val="FFC857"/>
                </a:solidFill>
                <a:latin typeface="Arial" pitchFamily="34" charset="0"/>
                <a:ea typeface="Arial" pitchFamily="34" charset="-122"/>
                <a:cs typeface="Arial" pitchFamily="34" charset="-120"/>
              </a:rPr>
              <a:t>LoRA</a:t>
            </a:r>
            <a:endParaRPr lang="en-US" sz="1400" dirty="0"/>
          </a:p>
        </p:txBody>
      </p:sp>
      <p:sp>
        <p:nvSpPr>
          <p:cNvPr id="11" name="Shape 8"/>
          <p:cNvSpPr/>
          <p:nvPr/>
        </p:nvSpPr>
        <p:spPr>
          <a:xfrm>
            <a:off x="548640" y="7909560"/>
            <a:ext cx="2651760" cy="914400"/>
          </a:xfrm>
          <a:prstGeom prst="rect">
            <a:avLst/>
          </a:prstGeom>
          <a:solidFill>
            <a:srgbClr val="FFC857"/>
          </a:solidFill>
          <a:ln/>
        </p:spPr>
      </p:sp>
      <p:sp>
        <p:nvSpPr>
          <p:cNvPr id="12" name="Shape 9"/>
          <p:cNvSpPr/>
          <p:nvPr/>
        </p:nvSpPr>
        <p:spPr>
          <a:xfrm>
            <a:off x="3657600" y="7909560"/>
            <a:ext cx="2651760" cy="914400"/>
          </a:xfrm>
          <a:prstGeom prst="rect">
            <a:avLst/>
          </a:prstGeom>
          <a:ln w="19050">
            <a:solidFill>
              <a:srgbClr val="CADCFC"/>
            </a:solidFill>
            <a:prstDash val="dash"/>
          </a:ln>
        </p:spPr>
      </p:sp>
      <p:sp>
        <p:nvSpPr>
          <p:cNvPr id="13" name="Shape 10"/>
          <p:cNvSpPr/>
          <p:nvPr/>
        </p:nvSpPr>
        <p:spPr>
          <a:xfrm>
            <a:off x="3657600" y="8695944"/>
            <a:ext cx="2651760" cy="128016"/>
          </a:xfrm>
          <a:prstGeom prst="rect">
            <a:avLst/>
          </a:prstGeom>
          <a:solidFill>
            <a:srgbClr val="FFC857"/>
          </a:solidFill>
          <a:ln/>
        </p:spPr>
      </p:sp>
      <p:sp>
        <p:nvSpPr>
          <p:cNvPr id="14" name="Text 11"/>
          <p:cNvSpPr txBox="1"/>
          <p:nvPr/>
        </p:nvSpPr>
        <p:spPr>
          <a:xfrm>
            <a:off x="548640" y="8933688"/>
            <a:ext cx="2651760" cy="50292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175B params updated</a:t>
            </a:r>
            <a:endParaRPr lang="en-US" sz="1200" dirty="0"/>
          </a:p>
        </p:txBody>
      </p:sp>
      <p:sp>
        <p:nvSpPr>
          <p:cNvPr id="15" name="Text 12"/>
          <p:cNvSpPr txBox="1"/>
          <p:nvPr/>
        </p:nvSpPr>
        <p:spPr>
          <a:xfrm>
            <a:off x="3657600" y="8933688"/>
            <a:ext cx="2651760" cy="50292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17M adapter params</a:t>
            </a:r>
            <a:endParaRPr lang="en-US" sz="1200" dirty="0"/>
          </a:p>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(base frozen)</a:t>
            </a:r>
            <a:endParaRPr lang="en-US" sz="1200" dirty="0"/>
          </a:p>
        </p:txBody>
      </p:sp>
      <p:sp>
        <p:nvSpPr>
          <p:cNvPr id="16" name="Text 13"/>
          <p:cNvSpPr txBox="1"/>
          <p:nvPr/>
        </p:nvSpPr>
        <p:spPr>
          <a:xfrm>
            <a:off x="548640" y="9509760"/>
            <a:ext cx="2651760" cy="457200"/>
          </a:xfrm>
          <a:prstGeom prst="rect">
            <a:avLst/>
          </a:prstGeom>
          <a:noFill/>
          <a:ln/>
        </p:spPr>
        <p:txBody>
          <a:bodyPr wrap="square" lIns="0" tIns="0" rIns="0" bIns="0" rtlCol="0" anchor="ctr"/>
          <a:lstStyle/>
          <a:p>
            <a:pPr algn="ctr" indent="0" marL="0">
              <a:lnSpc>
                <a:spcPct val="120000"/>
              </a:lnSpc>
              <a:buNone/>
            </a:pPr>
            <a:r>
              <a:rPr lang="en-US" sz="1050" i="1" dirty="0">
                <a:solidFill>
                  <a:srgbClr val="8C9BD6"/>
                </a:solidFill>
                <a:latin typeface="Arial" pitchFamily="34" charset="0"/>
                <a:ea typeface="Arial" pitchFamily="34" charset="-122"/>
                <a:cs typeface="Arial" pitchFamily="34" charset="-120"/>
              </a:rPr>
              <a:t>Storage: Huge · Compute: High · Speed: Slow</a:t>
            </a:r>
            <a:endParaRPr lang="en-US" sz="1050" dirty="0"/>
          </a:p>
        </p:txBody>
      </p:sp>
      <p:sp>
        <p:nvSpPr>
          <p:cNvPr id="17" name="Text 14"/>
          <p:cNvSpPr txBox="1"/>
          <p:nvPr/>
        </p:nvSpPr>
        <p:spPr>
          <a:xfrm>
            <a:off x="3657600" y="9509760"/>
            <a:ext cx="2651760" cy="457200"/>
          </a:xfrm>
          <a:prstGeom prst="rect">
            <a:avLst/>
          </a:prstGeom>
          <a:noFill/>
          <a:ln/>
        </p:spPr>
        <p:txBody>
          <a:bodyPr wrap="square" lIns="0" tIns="0" rIns="0" bIns="0" rtlCol="0" anchor="ctr"/>
          <a:lstStyle/>
          <a:p>
            <a:pPr algn="ctr" indent="0" marL="0">
              <a:lnSpc>
                <a:spcPct val="120000"/>
              </a:lnSpc>
              <a:buNone/>
            </a:pPr>
            <a:r>
              <a:rPr lang="en-US" sz="1050" i="1" dirty="0">
                <a:solidFill>
                  <a:srgbClr val="8C9BD6"/>
                </a:solidFill>
                <a:latin typeface="Arial" pitchFamily="34" charset="0"/>
                <a:ea typeface="Arial" pitchFamily="34" charset="-122"/>
                <a:cs typeface="Arial" pitchFamily="34" charset="-120"/>
              </a:rPr>
              <a:t>Storage: Minimal · Compute: Low · Speed: Fast</a:t>
            </a:r>
            <a:endParaRPr lang="en-US" sz="1050" dirty="0"/>
          </a:p>
        </p:txBody>
      </p:sp>
      <p:sp>
        <p:nvSpPr>
          <p:cNvPr id="18" name="Text 1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20 / 58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21</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QLoRA</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LoRA's frugal cousin.</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Quantized LoRA compresses the base model's precision before applying LoRA fine-tuning — so you can fine-tune large models on much smaller, cheaper hardware.</a:t>
            </a:r>
            <a:endParaRPr lang="en-US" sz="1900" dirty="0"/>
          </a:p>
        </p:txBody>
      </p:sp>
      <p:sp>
        <p:nvSpPr>
          <p:cNvPr id="9" name="Text 6"/>
          <p:cNvSpPr txBox="1"/>
          <p:nvPr/>
        </p:nvSpPr>
        <p:spPr>
          <a:xfrm>
            <a:off x="1463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LoRA</a:t>
            </a:r>
            <a:endParaRPr lang="en-US" sz="1200" dirty="0"/>
          </a:p>
        </p:txBody>
      </p:sp>
      <p:sp>
        <p:nvSpPr>
          <p:cNvPr id="10" name="Shape 7"/>
          <p:cNvSpPr/>
          <p:nvPr/>
        </p:nvSpPr>
        <p:spPr>
          <a:xfrm>
            <a:off x="1783080" y="8549640"/>
            <a:ext cx="1005840" cy="685800"/>
          </a:xfrm>
          <a:prstGeom prst="rect">
            <a:avLst/>
          </a:prstGeom>
          <a:solidFill>
            <a:srgbClr val="FFC857"/>
          </a:solidFill>
          <a:ln w="16510">
            <a:solidFill>
              <a:srgbClr val="CADCFC"/>
            </a:solidFill>
            <a:prstDash val="solid"/>
          </a:ln>
        </p:spPr>
      </p:sp>
      <p:sp>
        <p:nvSpPr>
          <p:cNvPr id="11" name="Text 8"/>
          <p:cNvSpPr txBox="1"/>
          <p:nvPr/>
        </p:nvSpPr>
        <p:spPr>
          <a:xfrm>
            <a:off x="1463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16-bit frozen base + adapter</a:t>
            </a:r>
            <a:endParaRPr lang="en-US" sz="1050" dirty="0"/>
          </a:p>
        </p:txBody>
      </p:sp>
      <p:sp>
        <p:nvSpPr>
          <p:cNvPr id="12" name="Text 9"/>
          <p:cNvSpPr txBox="1"/>
          <p:nvPr/>
        </p:nvSpPr>
        <p:spPr>
          <a:xfrm>
            <a:off x="3749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QLoRA</a:t>
            </a:r>
            <a:endParaRPr lang="en-US" sz="1200" dirty="0"/>
          </a:p>
        </p:txBody>
      </p:sp>
      <p:sp>
        <p:nvSpPr>
          <p:cNvPr id="13" name="Shape 10"/>
          <p:cNvSpPr/>
          <p:nvPr/>
        </p:nvSpPr>
        <p:spPr>
          <a:xfrm>
            <a:off x="4069080" y="8961120"/>
            <a:ext cx="1005840" cy="274320"/>
          </a:xfrm>
          <a:prstGeom prst="rect">
            <a:avLst/>
          </a:prstGeom>
          <a:solidFill>
            <a:srgbClr val="273571"/>
          </a:solidFill>
          <a:ln w="16510">
            <a:solidFill>
              <a:srgbClr val="CADCFC"/>
            </a:solidFill>
            <a:prstDash val="solid"/>
          </a:ln>
        </p:spPr>
      </p:sp>
      <p:sp>
        <p:nvSpPr>
          <p:cNvPr id="14" name="Text 11"/>
          <p:cNvSpPr txBox="1"/>
          <p:nvPr/>
        </p:nvSpPr>
        <p:spPr>
          <a:xfrm>
            <a:off x="3749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4-bit frozen base + adapter</a:t>
            </a:r>
            <a:endParaRPr lang="en-US" sz="1050" dirty="0"/>
          </a:p>
        </p:txBody>
      </p:sp>
      <p:sp>
        <p:nvSpPr>
          <p:cNvPr id="15" name="Shape 12"/>
          <p:cNvSpPr/>
          <p:nvPr/>
        </p:nvSpPr>
        <p:spPr>
          <a:xfrm>
            <a:off x="548640" y="9235440"/>
            <a:ext cx="5760720" cy="0"/>
          </a:xfrm>
          <a:prstGeom prst="line">
            <a:avLst/>
          </a:prstGeom>
          <a:noFill/>
          <a:ln w="9525">
            <a:solidFill>
              <a:srgbClr val="CADCFC"/>
            </a:solidFill>
            <a:prstDash val="solid"/>
          </a:ln>
        </p:spPr>
      </p:sp>
      <p:sp>
        <p:nvSpPr>
          <p:cNvPr id="16" name="Text 1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21 / 58</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22</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PEFT (Parameter-Efficient Fine-Tuning)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Fine-tune smart, not everything.</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PEFT is a family of techniques — LoRA, QLoRA, adapters, prompt tuning — that adjust only a small fraction of a model's parameters, saving compute and storage.</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2563368" y="8503920"/>
            <a:ext cx="865632" cy="502920"/>
          </a:xfrm>
          <a:prstGeom prst="line">
            <a:avLst/>
          </a:prstGeom>
          <a:noFill/>
          <a:ln w="16510">
            <a:solidFill>
              <a:srgbClr val="CADCFC"/>
            </a:solidFill>
            <a:prstDash val="solid"/>
          </a:ln>
        </p:spPr>
      </p:sp>
      <p:sp>
        <p:nvSpPr>
          <p:cNvPr id="11" name="Shape 8"/>
          <p:cNvSpPr/>
          <p:nvPr/>
        </p:nvSpPr>
        <p:spPr>
          <a:xfrm>
            <a:off x="3429000" y="8503920"/>
            <a:ext cx="865632" cy="502920"/>
          </a:xfrm>
          <a:prstGeom prst="line">
            <a:avLst/>
          </a:prstGeom>
          <a:noFill/>
          <a:ln w="16510">
            <a:solidFill>
              <a:srgbClr val="CADCFC"/>
            </a:solidFill>
            <a:prstDash val="solid"/>
          </a:ln>
        </p:spPr>
      </p:sp>
      <p:sp>
        <p:nvSpPr>
          <p:cNvPr id="12" name="Shape 9"/>
          <p:cNvSpPr/>
          <p:nvPr/>
        </p:nvSpPr>
        <p:spPr>
          <a:xfrm>
            <a:off x="3429000" y="8503920"/>
            <a:ext cx="2596896" cy="502920"/>
          </a:xfrm>
          <a:prstGeom prst="line">
            <a:avLst/>
          </a:prstGeom>
          <a:noFill/>
          <a:ln w="16510">
            <a:solidFill>
              <a:srgbClr val="CADCFC"/>
            </a:solidFill>
            <a:prstDash val="solid"/>
          </a:ln>
        </p:spPr>
      </p:sp>
      <p:sp>
        <p:nvSpPr>
          <p:cNvPr id="13" name="Shape 10"/>
          <p:cNvSpPr/>
          <p:nvPr/>
        </p:nvSpPr>
        <p:spPr>
          <a:xfrm>
            <a:off x="2971800" y="7589520"/>
            <a:ext cx="914400" cy="914400"/>
          </a:xfrm>
          <a:prstGeom prst="ellipse">
            <a:avLst/>
          </a:prstGeom>
          <a:solidFill>
            <a:srgbClr val="FFC857"/>
          </a:solidFill>
          <a:ln/>
        </p:spPr>
      </p:sp>
      <p:sp>
        <p:nvSpPr>
          <p:cNvPr id="14" name="Text 11"/>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PEFT</a:t>
            </a:r>
            <a:endParaRPr lang="en-US" sz="1150" dirty="0"/>
          </a:p>
        </p:txBody>
      </p:sp>
      <p:sp>
        <p:nvSpPr>
          <p:cNvPr id="15" name="Shape 12"/>
          <p:cNvSpPr/>
          <p:nvPr/>
        </p:nvSpPr>
        <p:spPr>
          <a:xfrm>
            <a:off x="548640" y="9006840"/>
            <a:ext cx="566928" cy="566928"/>
          </a:xfrm>
          <a:prstGeom prst="ellipse">
            <a:avLst/>
          </a:prstGeom>
          <a:solidFill>
            <a:srgbClr val="273571"/>
          </a:solidFill>
          <a:ln w="16510">
            <a:solidFill>
              <a:srgbClr val="CADCFC"/>
            </a:solidFill>
            <a:prstDash val="solid"/>
          </a:ln>
        </p:spPr>
      </p:sp>
      <p:sp>
        <p:nvSpPr>
          <p:cNvPr id="16" name="Text 13"/>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LoRA</a:t>
            </a:r>
            <a:endParaRPr lang="en-US" sz="1000" dirty="0"/>
          </a:p>
        </p:txBody>
      </p:sp>
      <p:sp>
        <p:nvSpPr>
          <p:cNvPr id="17" name="Shape 14"/>
          <p:cNvSpPr/>
          <p:nvPr/>
        </p:nvSpPr>
        <p:spPr>
          <a:xfrm>
            <a:off x="2279904" y="9006840"/>
            <a:ext cx="566928" cy="566928"/>
          </a:xfrm>
          <a:prstGeom prst="ellipse">
            <a:avLst/>
          </a:prstGeom>
          <a:solidFill>
            <a:srgbClr val="273571"/>
          </a:solidFill>
          <a:ln w="16510">
            <a:solidFill>
              <a:srgbClr val="CADCFC"/>
            </a:solidFill>
            <a:prstDash val="solid"/>
          </a:ln>
        </p:spPr>
      </p:sp>
      <p:sp>
        <p:nvSpPr>
          <p:cNvPr id="18" name="Text 15"/>
          <p:cNvSpPr txBox="1"/>
          <p:nvPr/>
        </p:nvSpPr>
        <p:spPr>
          <a:xfrm>
            <a:off x="2005584"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QLoRA</a:t>
            </a:r>
            <a:endParaRPr lang="en-US" sz="1000" dirty="0"/>
          </a:p>
        </p:txBody>
      </p:sp>
      <p:sp>
        <p:nvSpPr>
          <p:cNvPr id="19" name="Shape 16"/>
          <p:cNvSpPr/>
          <p:nvPr/>
        </p:nvSpPr>
        <p:spPr>
          <a:xfrm>
            <a:off x="4011168" y="9006840"/>
            <a:ext cx="566928" cy="566928"/>
          </a:xfrm>
          <a:prstGeom prst="ellipse">
            <a:avLst/>
          </a:prstGeom>
          <a:solidFill>
            <a:srgbClr val="273571"/>
          </a:solidFill>
          <a:ln w="16510">
            <a:solidFill>
              <a:srgbClr val="CADCFC"/>
            </a:solidFill>
            <a:prstDash val="solid"/>
          </a:ln>
        </p:spPr>
      </p:sp>
      <p:sp>
        <p:nvSpPr>
          <p:cNvPr id="20" name="Text 17"/>
          <p:cNvSpPr txBox="1"/>
          <p:nvPr/>
        </p:nvSpPr>
        <p:spPr>
          <a:xfrm>
            <a:off x="3736848"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Adapters</a:t>
            </a:r>
            <a:endParaRPr lang="en-US" sz="1000" dirty="0"/>
          </a:p>
        </p:txBody>
      </p:sp>
      <p:sp>
        <p:nvSpPr>
          <p:cNvPr id="21" name="Shape 18"/>
          <p:cNvSpPr/>
          <p:nvPr/>
        </p:nvSpPr>
        <p:spPr>
          <a:xfrm>
            <a:off x="5742432" y="9006840"/>
            <a:ext cx="566928" cy="566928"/>
          </a:xfrm>
          <a:prstGeom prst="ellipse">
            <a:avLst/>
          </a:prstGeom>
          <a:solidFill>
            <a:srgbClr val="273571"/>
          </a:solidFill>
          <a:ln w="16510">
            <a:solidFill>
              <a:srgbClr val="CADCFC"/>
            </a:solidFill>
            <a:prstDash val="solid"/>
          </a:ln>
        </p:spPr>
      </p:sp>
      <p:sp>
        <p:nvSpPr>
          <p:cNvPr id="22" name="Text 19"/>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Prompt</a:t>
            </a:r>
            <a:endParaRPr lang="en-US" sz="1000" dirty="0"/>
          </a:p>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Tuning</a:t>
            </a:r>
            <a:endParaRPr lang="en-US" sz="1000" dirty="0"/>
          </a:p>
        </p:txBody>
      </p:sp>
      <p:sp>
        <p:nvSpPr>
          <p:cNvPr id="23" name="Text 20"/>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22 / 58</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23</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RLHF</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Teaching a model human preferences, not just facts.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Reinforcement Learning from Human Feedback trains a model using human ratings of its outputs as the reward signal — a big reason modern chat models feel helpful, not just fluent.</a:t>
            </a:r>
            <a:endParaRPr lang="en-US" sz="1900" dirty="0"/>
          </a:p>
        </p:txBody>
      </p:sp>
      <p:sp>
        <p:nvSpPr>
          <p:cNvPr id="9" name="Shape 6"/>
          <p:cNvSpPr/>
          <p:nvPr/>
        </p:nvSpPr>
        <p:spPr>
          <a:xfrm>
            <a:off x="548640" y="7680960"/>
            <a:ext cx="1165860" cy="594360"/>
          </a:xfrm>
          <a:prstGeom prst="roundRect">
            <a:avLst>
              <a:gd name="adj" fmla="val 12308"/>
            </a:avLst>
          </a:prstGeom>
          <a:solidFill>
            <a:srgbClr val="273571"/>
          </a:solidFill>
          <a:ln w="16510">
            <a:solidFill>
              <a:srgbClr val="CADCFC"/>
            </a:solidFill>
            <a:prstDash val="solid"/>
          </a:ln>
        </p:spPr>
      </p:sp>
      <p:sp>
        <p:nvSpPr>
          <p:cNvPr id="10" name="Text 7"/>
          <p:cNvSpPr txBox="1"/>
          <p:nvPr/>
        </p:nvSpPr>
        <p:spPr>
          <a:xfrm>
            <a:off x="585216" y="7680960"/>
            <a:ext cx="109270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Model</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Output</a:t>
            </a:r>
            <a:endParaRPr lang="en-US" sz="1150" dirty="0"/>
          </a:p>
        </p:txBody>
      </p:sp>
      <p:sp>
        <p:nvSpPr>
          <p:cNvPr id="11" name="Shape 8"/>
          <p:cNvSpPr/>
          <p:nvPr/>
        </p:nvSpPr>
        <p:spPr>
          <a:xfrm>
            <a:off x="1714500" y="7978140"/>
            <a:ext cx="365760" cy="0"/>
          </a:xfrm>
          <a:prstGeom prst="line">
            <a:avLst/>
          </a:prstGeom>
          <a:noFill/>
          <a:ln w="16510">
            <a:solidFill>
              <a:srgbClr val="CADCFC"/>
            </a:solidFill>
            <a:prstDash val="solid"/>
            <a:tailEnd type="triangle"/>
          </a:ln>
        </p:spPr>
      </p:sp>
      <p:sp>
        <p:nvSpPr>
          <p:cNvPr id="12" name="Shape 9"/>
          <p:cNvSpPr/>
          <p:nvPr/>
        </p:nvSpPr>
        <p:spPr>
          <a:xfrm>
            <a:off x="2080260" y="7680960"/>
            <a:ext cx="1165860" cy="594360"/>
          </a:xfrm>
          <a:prstGeom prst="roundRect">
            <a:avLst>
              <a:gd name="adj" fmla="val 12308"/>
            </a:avLst>
          </a:prstGeom>
          <a:solidFill>
            <a:srgbClr val="273571"/>
          </a:solidFill>
          <a:ln w="16510">
            <a:solidFill>
              <a:srgbClr val="CADCFC"/>
            </a:solidFill>
            <a:prstDash val="solid"/>
          </a:ln>
        </p:spPr>
      </p:sp>
      <p:sp>
        <p:nvSpPr>
          <p:cNvPr id="13" name="Text 10"/>
          <p:cNvSpPr txBox="1"/>
          <p:nvPr/>
        </p:nvSpPr>
        <p:spPr>
          <a:xfrm>
            <a:off x="2116836" y="7680960"/>
            <a:ext cx="109270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Human</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Rating</a:t>
            </a:r>
            <a:endParaRPr lang="en-US" sz="1150" dirty="0"/>
          </a:p>
        </p:txBody>
      </p:sp>
      <p:sp>
        <p:nvSpPr>
          <p:cNvPr id="14" name="Shape 11"/>
          <p:cNvSpPr/>
          <p:nvPr/>
        </p:nvSpPr>
        <p:spPr>
          <a:xfrm>
            <a:off x="3246120" y="7978140"/>
            <a:ext cx="365760" cy="0"/>
          </a:xfrm>
          <a:prstGeom prst="line">
            <a:avLst/>
          </a:prstGeom>
          <a:noFill/>
          <a:ln w="16510">
            <a:solidFill>
              <a:srgbClr val="CADCFC"/>
            </a:solidFill>
            <a:prstDash val="solid"/>
            <a:tailEnd type="triangle"/>
          </a:ln>
        </p:spPr>
      </p:sp>
      <p:sp>
        <p:nvSpPr>
          <p:cNvPr id="15" name="Shape 12"/>
          <p:cNvSpPr/>
          <p:nvPr/>
        </p:nvSpPr>
        <p:spPr>
          <a:xfrm>
            <a:off x="3611880" y="7680960"/>
            <a:ext cx="1165860" cy="594360"/>
          </a:xfrm>
          <a:prstGeom prst="roundRect">
            <a:avLst>
              <a:gd name="adj" fmla="val 12308"/>
            </a:avLst>
          </a:prstGeom>
          <a:solidFill>
            <a:srgbClr val="273571"/>
          </a:solidFill>
          <a:ln w="16510">
            <a:solidFill>
              <a:srgbClr val="CADCFC"/>
            </a:solidFill>
            <a:prstDash val="solid"/>
          </a:ln>
        </p:spPr>
      </p:sp>
      <p:sp>
        <p:nvSpPr>
          <p:cNvPr id="16" name="Text 13"/>
          <p:cNvSpPr txBox="1"/>
          <p:nvPr/>
        </p:nvSpPr>
        <p:spPr>
          <a:xfrm>
            <a:off x="3648456" y="7680960"/>
            <a:ext cx="109270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Reward</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Model</a:t>
            </a:r>
            <a:endParaRPr lang="en-US" sz="1150" dirty="0"/>
          </a:p>
        </p:txBody>
      </p:sp>
      <p:sp>
        <p:nvSpPr>
          <p:cNvPr id="17" name="Shape 14"/>
          <p:cNvSpPr/>
          <p:nvPr/>
        </p:nvSpPr>
        <p:spPr>
          <a:xfrm>
            <a:off x="4777740" y="7978140"/>
            <a:ext cx="365760" cy="0"/>
          </a:xfrm>
          <a:prstGeom prst="line">
            <a:avLst/>
          </a:prstGeom>
          <a:noFill/>
          <a:ln w="16510">
            <a:solidFill>
              <a:srgbClr val="CADCFC"/>
            </a:solidFill>
            <a:prstDash val="solid"/>
            <a:tailEnd type="triangle"/>
          </a:ln>
        </p:spPr>
      </p:sp>
      <p:sp>
        <p:nvSpPr>
          <p:cNvPr id="18" name="Shape 15"/>
          <p:cNvSpPr/>
          <p:nvPr/>
        </p:nvSpPr>
        <p:spPr>
          <a:xfrm>
            <a:off x="5143500" y="7680960"/>
            <a:ext cx="1165860" cy="594360"/>
          </a:xfrm>
          <a:prstGeom prst="roundRect">
            <a:avLst>
              <a:gd name="adj" fmla="val 12308"/>
            </a:avLst>
          </a:prstGeom>
          <a:solidFill>
            <a:srgbClr val="273571"/>
          </a:solidFill>
          <a:ln w="16510">
            <a:solidFill>
              <a:srgbClr val="CADCFC"/>
            </a:solidFill>
            <a:prstDash val="solid"/>
          </a:ln>
        </p:spPr>
      </p:sp>
      <p:sp>
        <p:nvSpPr>
          <p:cNvPr id="19" name="Text 16"/>
          <p:cNvSpPr txBox="1"/>
          <p:nvPr/>
        </p:nvSpPr>
        <p:spPr>
          <a:xfrm>
            <a:off x="5180076" y="7680960"/>
            <a:ext cx="1092708" cy="59436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Policy</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Update</a:t>
            </a:r>
            <a:endParaRPr lang="en-US" sz="1150" dirty="0"/>
          </a:p>
        </p:txBody>
      </p:sp>
      <p:sp>
        <p:nvSpPr>
          <p:cNvPr id="20" name="Text 17"/>
          <p:cNvSpPr txBox="1"/>
          <p:nvPr/>
        </p:nvSpPr>
        <p:spPr>
          <a:xfrm>
            <a:off x="548640" y="8549640"/>
            <a:ext cx="5760720" cy="457200"/>
          </a:xfrm>
          <a:prstGeom prst="rect">
            <a:avLst/>
          </a:prstGeom>
          <a:noFill/>
          <a:ln/>
        </p:spPr>
        <p:txBody>
          <a:bodyPr wrap="square" lIns="0" tIns="0" rIns="0" bIns="0" rtlCol="0" anchor="ctr"/>
          <a:lstStyle/>
          <a:p>
            <a:pPr algn="ctr" indent="0" marL="0">
              <a:buNone/>
            </a:pPr>
            <a:r>
              <a:rPr lang="en-US" sz="1250" i="1" dirty="0">
                <a:solidFill>
                  <a:srgbClr val="8C9BD6"/>
                </a:solidFill>
                <a:latin typeface="Cambria" pitchFamily="34" charset="0"/>
                <a:ea typeface="Cambria" pitchFamily="34" charset="-122"/>
                <a:cs typeface="Cambria" pitchFamily="34" charset="-120"/>
              </a:rPr>
              <a:t>↻  repeated to align model behaviour</a:t>
            </a:r>
            <a:endParaRPr lang="en-US" sz="1250" dirty="0"/>
          </a:p>
        </p:txBody>
      </p:sp>
      <p:sp>
        <p:nvSpPr>
          <p:cNvPr id="21" name="Text 18"/>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23 / 58</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24</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Hybrid Search</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Best of both worlds — exact matches and meaning matches.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Hybrid search combines keyword search (like BM25) with semantic vector search, then merges the results — catching both exact terms and paraphrased meaning in one query.</a:t>
            </a:r>
            <a:endParaRPr lang="en-US" sz="1900" dirty="0"/>
          </a:p>
        </p:txBody>
      </p:sp>
      <p:sp>
        <p:nvSpPr>
          <p:cNvPr id="9" name="Shape 6"/>
          <p:cNvSpPr/>
          <p:nvPr/>
        </p:nvSpPr>
        <p:spPr>
          <a:xfrm>
            <a:off x="548640" y="7589520"/>
            <a:ext cx="1371600" cy="502920"/>
          </a:xfrm>
          <a:prstGeom prst="roundRect">
            <a:avLst>
              <a:gd name="adj" fmla="val 10909"/>
            </a:avLst>
          </a:prstGeom>
          <a:solidFill>
            <a:srgbClr val="273571"/>
          </a:solidFill>
          <a:ln w="16510">
            <a:solidFill>
              <a:srgbClr val="CADCFC"/>
            </a:solidFill>
            <a:prstDash val="solid"/>
          </a:ln>
        </p:spPr>
      </p:sp>
      <p:sp>
        <p:nvSpPr>
          <p:cNvPr id="10" name="Text 7"/>
          <p:cNvSpPr txBox="1"/>
          <p:nvPr/>
        </p:nvSpPr>
        <p:spPr>
          <a:xfrm>
            <a:off x="585216" y="7589520"/>
            <a:ext cx="1298448"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CADCFC"/>
                </a:solidFill>
                <a:latin typeface="Arial" pitchFamily="34" charset="0"/>
                <a:ea typeface="Arial" pitchFamily="34" charset="-122"/>
                <a:cs typeface="Arial" pitchFamily="34" charset="-120"/>
              </a:rPr>
              <a:t>BM25 (keyword)</a:t>
            </a:r>
            <a:endParaRPr lang="en-US" sz="1050" dirty="0"/>
          </a:p>
        </p:txBody>
      </p:sp>
      <p:sp>
        <p:nvSpPr>
          <p:cNvPr id="11" name="Shape 8"/>
          <p:cNvSpPr/>
          <p:nvPr/>
        </p:nvSpPr>
        <p:spPr>
          <a:xfrm>
            <a:off x="1234440" y="8092440"/>
            <a:ext cx="2194560" cy="868680"/>
          </a:xfrm>
          <a:prstGeom prst="line">
            <a:avLst/>
          </a:prstGeom>
          <a:noFill/>
          <a:ln w="16510">
            <a:solidFill>
              <a:srgbClr val="CADCFC"/>
            </a:solidFill>
            <a:prstDash val="solid"/>
          </a:ln>
        </p:spPr>
      </p:sp>
      <p:sp>
        <p:nvSpPr>
          <p:cNvPr id="12" name="Shape 9"/>
          <p:cNvSpPr/>
          <p:nvPr/>
        </p:nvSpPr>
        <p:spPr>
          <a:xfrm>
            <a:off x="4937760" y="7589520"/>
            <a:ext cx="1371600" cy="502920"/>
          </a:xfrm>
          <a:prstGeom prst="roundRect">
            <a:avLst>
              <a:gd name="adj" fmla="val 10909"/>
            </a:avLst>
          </a:prstGeom>
          <a:solidFill>
            <a:srgbClr val="273571"/>
          </a:solidFill>
          <a:ln w="16510">
            <a:solidFill>
              <a:srgbClr val="CADCFC"/>
            </a:solidFill>
            <a:prstDash val="solid"/>
          </a:ln>
        </p:spPr>
      </p:sp>
      <p:sp>
        <p:nvSpPr>
          <p:cNvPr id="13" name="Text 10"/>
          <p:cNvSpPr txBox="1"/>
          <p:nvPr/>
        </p:nvSpPr>
        <p:spPr>
          <a:xfrm>
            <a:off x="4974336" y="7589520"/>
            <a:ext cx="1298448" cy="502920"/>
          </a:xfrm>
          <a:prstGeom prst="rect">
            <a:avLst/>
          </a:prstGeom>
          <a:noFill/>
          <a:ln/>
        </p:spPr>
        <p:txBody>
          <a:bodyPr wrap="square" lIns="0" tIns="0" rIns="0" bIns="0" rtlCol="0" anchor="ctr"/>
          <a:lstStyle/>
          <a:p>
            <a:pPr algn="ctr" indent="0" marL="0">
              <a:lnSpc>
                <a:spcPct val="100000"/>
              </a:lnSpc>
              <a:buNone/>
            </a:pPr>
            <a:r>
              <a:rPr lang="en-US" sz="1050" b="1" dirty="0">
                <a:solidFill>
                  <a:srgbClr val="CADCFC"/>
                </a:solidFill>
                <a:latin typeface="Arial" pitchFamily="34" charset="0"/>
                <a:ea typeface="Arial" pitchFamily="34" charset="-122"/>
                <a:cs typeface="Arial" pitchFamily="34" charset="-120"/>
              </a:rPr>
              <a:t>Vector (semantic)</a:t>
            </a:r>
            <a:endParaRPr lang="en-US" sz="1050" dirty="0"/>
          </a:p>
        </p:txBody>
      </p:sp>
      <p:sp>
        <p:nvSpPr>
          <p:cNvPr id="14" name="Shape 11"/>
          <p:cNvSpPr/>
          <p:nvPr/>
        </p:nvSpPr>
        <p:spPr>
          <a:xfrm>
            <a:off x="3429000" y="8092440"/>
            <a:ext cx="2194560" cy="868680"/>
          </a:xfrm>
          <a:prstGeom prst="line">
            <a:avLst/>
          </a:prstGeom>
          <a:noFill/>
          <a:ln w="16510">
            <a:solidFill>
              <a:srgbClr val="CADCFC"/>
            </a:solidFill>
            <a:prstDash val="solid"/>
          </a:ln>
        </p:spPr>
      </p:sp>
      <p:sp>
        <p:nvSpPr>
          <p:cNvPr id="15" name="Shape 12"/>
          <p:cNvSpPr/>
          <p:nvPr/>
        </p:nvSpPr>
        <p:spPr>
          <a:xfrm>
            <a:off x="2331720" y="8961120"/>
            <a:ext cx="2194560" cy="594360"/>
          </a:xfrm>
          <a:prstGeom prst="roundRect">
            <a:avLst>
              <a:gd name="adj" fmla="val 10769"/>
            </a:avLst>
          </a:prstGeom>
          <a:solidFill>
            <a:srgbClr val="FFC857"/>
          </a:solidFill>
          <a:ln/>
        </p:spPr>
      </p:sp>
      <p:sp>
        <p:nvSpPr>
          <p:cNvPr id="16" name="Text 13"/>
          <p:cNvSpPr txBox="1"/>
          <p:nvPr/>
        </p:nvSpPr>
        <p:spPr>
          <a:xfrm>
            <a:off x="2331720" y="8961120"/>
            <a:ext cx="2194560" cy="59436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Merged Ranked Results</a:t>
            </a:r>
            <a:endParaRPr lang="en-US" sz="12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24 / 58</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25</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Chunking</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Slicing documents into bite-sized pieces before a model reads them.</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Chunking splits long documents into smaller sections before embedding and indexing, so retrieval returns focused, relevant passages instead of entire files.</a:t>
            </a:r>
            <a:endParaRPr lang="en-US" sz="1900" dirty="0"/>
          </a:p>
        </p:txBody>
      </p:sp>
      <p:sp>
        <p:nvSpPr>
          <p:cNvPr id="9" name="Shape 6"/>
          <p:cNvSpPr/>
          <p:nvPr/>
        </p:nvSpPr>
        <p:spPr>
          <a:xfrm>
            <a:off x="2240280" y="7589520"/>
            <a:ext cx="2377440" cy="502920"/>
          </a:xfrm>
          <a:prstGeom prst="roundRect">
            <a:avLst>
              <a:gd name="adj" fmla="val 10909"/>
            </a:avLst>
          </a:prstGeom>
          <a:solidFill>
            <a:srgbClr val="FFC857"/>
          </a:solidFill>
          <a:ln/>
        </p:spPr>
      </p:sp>
      <p:sp>
        <p:nvSpPr>
          <p:cNvPr id="10" name="Text 7"/>
          <p:cNvSpPr txBox="1"/>
          <p:nvPr/>
        </p:nvSpPr>
        <p:spPr>
          <a:xfrm>
            <a:off x="2240280" y="7589520"/>
            <a:ext cx="2377440"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Arial" pitchFamily="34" charset="0"/>
                <a:ea typeface="Arial" pitchFamily="34" charset="-122"/>
                <a:cs typeface="Arial" pitchFamily="34" charset="-120"/>
              </a:rPr>
              <a:t>Long Document</a:t>
            </a:r>
            <a:endParaRPr lang="en-US" sz="1250" dirty="0"/>
          </a:p>
        </p:txBody>
      </p:sp>
      <p:sp>
        <p:nvSpPr>
          <p:cNvPr id="11" name="Shape 8"/>
          <p:cNvSpPr/>
          <p:nvPr/>
        </p:nvSpPr>
        <p:spPr>
          <a:xfrm>
            <a:off x="1165860" y="8092440"/>
            <a:ext cx="2263140" cy="868680"/>
          </a:xfrm>
          <a:prstGeom prst="line">
            <a:avLst/>
          </a:prstGeom>
          <a:noFill/>
          <a:ln w="16510">
            <a:solidFill>
              <a:srgbClr val="CADCFC"/>
            </a:solidFill>
            <a:prstDash val="solid"/>
          </a:ln>
        </p:spPr>
      </p:sp>
      <p:sp>
        <p:nvSpPr>
          <p:cNvPr id="12" name="Shape 9"/>
          <p:cNvSpPr/>
          <p:nvPr/>
        </p:nvSpPr>
        <p:spPr>
          <a:xfrm>
            <a:off x="548640" y="8961120"/>
            <a:ext cx="1234440" cy="502920"/>
          </a:xfrm>
          <a:prstGeom prst="roundRect">
            <a:avLst>
              <a:gd name="adj" fmla="val 10909"/>
            </a:avLst>
          </a:prstGeom>
          <a:solidFill>
            <a:srgbClr val="273571"/>
          </a:solidFill>
          <a:ln w="16510">
            <a:solidFill>
              <a:srgbClr val="CADCFC"/>
            </a:solidFill>
            <a:prstDash val="solid"/>
          </a:ln>
        </p:spPr>
      </p:sp>
      <p:sp>
        <p:nvSpPr>
          <p:cNvPr id="13" name="Text 10"/>
          <p:cNvSpPr txBox="1"/>
          <p:nvPr/>
        </p:nvSpPr>
        <p:spPr>
          <a:xfrm>
            <a:off x="57607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Chunk 1</a:t>
            </a:r>
            <a:endParaRPr lang="en-US" sz="1000" dirty="0"/>
          </a:p>
        </p:txBody>
      </p:sp>
      <p:sp>
        <p:nvSpPr>
          <p:cNvPr id="14" name="Shape 11"/>
          <p:cNvSpPr/>
          <p:nvPr/>
        </p:nvSpPr>
        <p:spPr>
          <a:xfrm>
            <a:off x="2674620" y="8092440"/>
            <a:ext cx="754380" cy="868680"/>
          </a:xfrm>
          <a:prstGeom prst="line">
            <a:avLst/>
          </a:prstGeom>
          <a:noFill/>
          <a:ln w="16510">
            <a:solidFill>
              <a:srgbClr val="CADCFC"/>
            </a:solidFill>
            <a:prstDash val="solid"/>
          </a:ln>
        </p:spPr>
      </p:sp>
      <p:sp>
        <p:nvSpPr>
          <p:cNvPr id="15" name="Shape 12"/>
          <p:cNvSpPr/>
          <p:nvPr/>
        </p:nvSpPr>
        <p:spPr>
          <a:xfrm>
            <a:off x="2057400" y="8961120"/>
            <a:ext cx="1234440" cy="502920"/>
          </a:xfrm>
          <a:prstGeom prst="roundRect">
            <a:avLst>
              <a:gd name="adj" fmla="val 10909"/>
            </a:avLst>
          </a:prstGeom>
          <a:solidFill>
            <a:srgbClr val="273571"/>
          </a:solidFill>
          <a:ln w="16510">
            <a:solidFill>
              <a:srgbClr val="CADCFC"/>
            </a:solidFill>
            <a:prstDash val="solid"/>
          </a:ln>
        </p:spPr>
      </p:sp>
      <p:sp>
        <p:nvSpPr>
          <p:cNvPr id="16" name="Text 13"/>
          <p:cNvSpPr txBox="1"/>
          <p:nvPr/>
        </p:nvSpPr>
        <p:spPr>
          <a:xfrm>
            <a:off x="208483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Chunk 2</a:t>
            </a:r>
            <a:endParaRPr lang="en-US" sz="1000" dirty="0"/>
          </a:p>
        </p:txBody>
      </p:sp>
      <p:sp>
        <p:nvSpPr>
          <p:cNvPr id="17" name="Shape 14"/>
          <p:cNvSpPr/>
          <p:nvPr/>
        </p:nvSpPr>
        <p:spPr>
          <a:xfrm>
            <a:off x="3429000" y="8092440"/>
            <a:ext cx="754380" cy="868680"/>
          </a:xfrm>
          <a:prstGeom prst="line">
            <a:avLst/>
          </a:prstGeom>
          <a:noFill/>
          <a:ln w="16510">
            <a:solidFill>
              <a:srgbClr val="CADCFC"/>
            </a:solidFill>
            <a:prstDash val="solid"/>
          </a:ln>
        </p:spPr>
      </p:sp>
      <p:sp>
        <p:nvSpPr>
          <p:cNvPr id="18" name="Shape 15"/>
          <p:cNvSpPr/>
          <p:nvPr/>
        </p:nvSpPr>
        <p:spPr>
          <a:xfrm>
            <a:off x="3566160" y="8961120"/>
            <a:ext cx="1234440" cy="502920"/>
          </a:xfrm>
          <a:prstGeom prst="roundRect">
            <a:avLst>
              <a:gd name="adj" fmla="val 10909"/>
            </a:avLst>
          </a:prstGeom>
          <a:solidFill>
            <a:srgbClr val="273571"/>
          </a:solidFill>
          <a:ln w="16510">
            <a:solidFill>
              <a:srgbClr val="CADCFC"/>
            </a:solidFill>
            <a:prstDash val="solid"/>
          </a:ln>
        </p:spPr>
      </p:sp>
      <p:sp>
        <p:nvSpPr>
          <p:cNvPr id="19" name="Text 16"/>
          <p:cNvSpPr txBox="1"/>
          <p:nvPr/>
        </p:nvSpPr>
        <p:spPr>
          <a:xfrm>
            <a:off x="359359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Chunk 3</a:t>
            </a:r>
            <a:endParaRPr lang="en-US" sz="1000" dirty="0"/>
          </a:p>
        </p:txBody>
      </p:sp>
      <p:sp>
        <p:nvSpPr>
          <p:cNvPr id="20" name="Shape 17"/>
          <p:cNvSpPr/>
          <p:nvPr/>
        </p:nvSpPr>
        <p:spPr>
          <a:xfrm>
            <a:off x="3429000" y="8092440"/>
            <a:ext cx="2263140" cy="868680"/>
          </a:xfrm>
          <a:prstGeom prst="line">
            <a:avLst/>
          </a:prstGeom>
          <a:noFill/>
          <a:ln w="16510">
            <a:solidFill>
              <a:srgbClr val="CADCFC"/>
            </a:solidFill>
            <a:prstDash val="solid"/>
          </a:ln>
        </p:spPr>
      </p:sp>
      <p:sp>
        <p:nvSpPr>
          <p:cNvPr id="21" name="Shape 18"/>
          <p:cNvSpPr/>
          <p:nvPr/>
        </p:nvSpPr>
        <p:spPr>
          <a:xfrm>
            <a:off x="5074920" y="8961120"/>
            <a:ext cx="1234440" cy="502920"/>
          </a:xfrm>
          <a:prstGeom prst="roundRect">
            <a:avLst>
              <a:gd name="adj" fmla="val 10909"/>
            </a:avLst>
          </a:prstGeom>
          <a:solidFill>
            <a:srgbClr val="273571"/>
          </a:solidFill>
          <a:ln w="16510">
            <a:solidFill>
              <a:srgbClr val="CADCFC"/>
            </a:solidFill>
            <a:prstDash val="solid"/>
          </a:ln>
        </p:spPr>
      </p:sp>
      <p:sp>
        <p:nvSpPr>
          <p:cNvPr id="22" name="Text 19"/>
          <p:cNvSpPr txBox="1"/>
          <p:nvPr/>
        </p:nvSpPr>
        <p:spPr>
          <a:xfrm>
            <a:off x="5102352" y="8961120"/>
            <a:ext cx="1179576" cy="502920"/>
          </a:xfrm>
          <a:prstGeom prst="rect">
            <a:avLst/>
          </a:prstGeom>
          <a:noFill/>
          <a:ln/>
        </p:spPr>
        <p:txBody>
          <a:bodyPr wrap="square" lIns="0" tIns="0" rIns="0" bIns="0" rtlCol="0" anchor="ctr"/>
          <a:lstStyle/>
          <a:p>
            <a:pPr algn="ctr" indent="0" marL="0">
              <a:buNone/>
            </a:pPr>
            <a:r>
              <a:rPr lang="en-US" sz="1000" b="1" dirty="0">
                <a:solidFill>
                  <a:srgbClr val="CADCFC"/>
                </a:solidFill>
                <a:latin typeface="Arial" pitchFamily="34" charset="0"/>
                <a:ea typeface="Arial" pitchFamily="34" charset="-122"/>
                <a:cs typeface="Arial" pitchFamily="34" charset="-120"/>
              </a:rPr>
              <a:t>Chunk 4</a:t>
            </a:r>
            <a:endParaRPr lang="en-US" sz="1000" dirty="0"/>
          </a:p>
        </p:txBody>
      </p:sp>
      <p:sp>
        <p:nvSpPr>
          <p:cNvPr id="23" name="Shape 20"/>
          <p:cNvSpPr/>
          <p:nvPr/>
        </p:nvSpPr>
        <p:spPr>
          <a:xfrm>
            <a:off x="548640" y="10195560"/>
            <a:ext cx="5760720" cy="594360"/>
          </a:xfrm>
          <a:prstGeom prst="rect">
            <a:avLst/>
          </a:prstGeom>
          <a:solidFill>
            <a:srgbClr val="273571"/>
          </a:solidFill>
          <a:ln/>
        </p:spPr>
      </p:sp>
      <p:sp>
        <p:nvSpPr>
          <p:cNvPr id="24" name="Text 21"/>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5" name="Text 22"/>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25 / 58</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26</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BM25</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The classic, fast keyword-search formula.</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BM25 is a statistical ranking function that scores documents by term frequency and rarity — fast, cheap, and still a core ingredient in modern hybrid search systems.</a:t>
            </a:r>
            <a:endParaRPr lang="en-US" sz="1900" dirty="0"/>
          </a:p>
        </p:txBody>
      </p:sp>
      <p:sp>
        <p:nvSpPr>
          <p:cNvPr id="9" name="Shape 6"/>
          <p:cNvSpPr/>
          <p:nvPr/>
        </p:nvSpPr>
        <p:spPr>
          <a:xfrm>
            <a:off x="548640" y="8055864"/>
            <a:ext cx="640080" cy="1088136"/>
          </a:xfrm>
          <a:prstGeom prst="rect">
            <a:avLst/>
          </a:prstGeom>
          <a:solidFill>
            <a:srgbClr val="FFC857"/>
          </a:solidFill>
          <a:ln/>
        </p:spPr>
      </p:sp>
      <p:sp>
        <p:nvSpPr>
          <p:cNvPr id="10" name="Text 7"/>
          <p:cNvSpPr txBox="1"/>
          <p:nvPr/>
        </p:nvSpPr>
        <p:spPr>
          <a:xfrm>
            <a:off x="411480" y="7763256"/>
            <a:ext cx="914400" cy="274320"/>
          </a:xfrm>
          <a:prstGeom prst="rect">
            <a:avLst/>
          </a:prstGeom>
          <a:noFill/>
          <a:ln/>
        </p:spPr>
        <p:txBody>
          <a:bodyPr wrap="square" lIns="0" tIns="0" rIns="0" bIns="0" rtlCol="0" anchor="ctr"/>
          <a:lstStyle/>
          <a:p>
            <a:pPr algn="ctr" indent="0" marL="0">
              <a:buNone/>
            </a:pPr>
            <a:r>
              <a:rPr lang="en-US" sz="1100" b="1" dirty="0">
                <a:solidFill>
                  <a:srgbClr val="FFC857"/>
                </a:solidFill>
                <a:latin typeface="Arial" pitchFamily="34" charset="0"/>
                <a:ea typeface="Arial" pitchFamily="34" charset="-122"/>
                <a:cs typeface="Arial" pitchFamily="34" charset="-120"/>
              </a:rPr>
              <a:t>85</a:t>
            </a:r>
            <a:endParaRPr lang="en-US" sz="1100" dirty="0"/>
          </a:p>
        </p:txBody>
      </p:sp>
      <p:sp>
        <p:nvSpPr>
          <p:cNvPr id="11" name="Text 8"/>
          <p:cNvSpPr txBox="1"/>
          <p:nvPr/>
        </p:nvSpPr>
        <p:spPr>
          <a:xfrm>
            <a:off x="274320" y="9235440"/>
            <a:ext cx="118872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“cat”</a:t>
            </a:r>
            <a:endParaRPr lang="en-US" sz="1050" dirty="0"/>
          </a:p>
        </p:txBody>
      </p:sp>
      <p:sp>
        <p:nvSpPr>
          <p:cNvPr id="12" name="Shape 9"/>
          <p:cNvSpPr/>
          <p:nvPr/>
        </p:nvSpPr>
        <p:spPr>
          <a:xfrm>
            <a:off x="3108960" y="8887968"/>
            <a:ext cx="640080" cy="256032"/>
          </a:xfrm>
          <a:prstGeom prst="rect">
            <a:avLst/>
          </a:prstGeom>
          <a:solidFill>
            <a:srgbClr val="FFC857"/>
          </a:solidFill>
          <a:ln/>
        </p:spPr>
      </p:sp>
      <p:sp>
        <p:nvSpPr>
          <p:cNvPr id="13" name="Text 10"/>
          <p:cNvSpPr txBox="1"/>
          <p:nvPr/>
        </p:nvSpPr>
        <p:spPr>
          <a:xfrm>
            <a:off x="2971800" y="8595360"/>
            <a:ext cx="914400" cy="274320"/>
          </a:xfrm>
          <a:prstGeom prst="rect">
            <a:avLst/>
          </a:prstGeom>
          <a:noFill/>
          <a:ln/>
        </p:spPr>
        <p:txBody>
          <a:bodyPr wrap="square" lIns="0" tIns="0" rIns="0" bIns="0" rtlCol="0" anchor="ctr"/>
          <a:lstStyle/>
          <a:p>
            <a:pPr algn="ctr" indent="0" marL="0">
              <a:buNone/>
            </a:pPr>
            <a:r>
              <a:rPr lang="en-US" sz="1100" b="1" dirty="0">
                <a:solidFill>
                  <a:srgbClr val="FFC857"/>
                </a:solidFill>
                <a:latin typeface="Arial" pitchFamily="34" charset="0"/>
                <a:ea typeface="Arial" pitchFamily="34" charset="-122"/>
                <a:cs typeface="Arial" pitchFamily="34" charset="-120"/>
              </a:rPr>
              <a:t>20</a:t>
            </a:r>
            <a:endParaRPr lang="en-US" sz="1100" dirty="0"/>
          </a:p>
        </p:txBody>
      </p:sp>
      <p:sp>
        <p:nvSpPr>
          <p:cNvPr id="14" name="Text 11"/>
          <p:cNvSpPr txBox="1"/>
          <p:nvPr/>
        </p:nvSpPr>
        <p:spPr>
          <a:xfrm>
            <a:off x="2834640" y="9235440"/>
            <a:ext cx="118872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“the”</a:t>
            </a:r>
            <a:endParaRPr lang="en-US" sz="1050" dirty="0"/>
          </a:p>
        </p:txBody>
      </p:sp>
      <p:sp>
        <p:nvSpPr>
          <p:cNvPr id="15" name="Shape 12"/>
          <p:cNvSpPr/>
          <p:nvPr/>
        </p:nvSpPr>
        <p:spPr>
          <a:xfrm>
            <a:off x="5669280" y="9006840"/>
            <a:ext cx="640080" cy="137160"/>
          </a:xfrm>
          <a:prstGeom prst="rect">
            <a:avLst/>
          </a:prstGeom>
          <a:solidFill>
            <a:srgbClr val="FFC857"/>
          </a:solidFill>
          <a:ln/>
        </p:spPr>
      </p:sp>
      <p:sp>
        <p:nvSpPr>
          <p:cNvPr id="16" name="Text 13"/>
          <p:cNvSpPr txBox="1"/>
          <p:nvPr/>
        </p:nvSpPr>
        <p:spPr>
          <a:xfrm>
            <a:off x="5532120" y="8714232"/>
            <a:ext cx="914400" cy="274320"/>
          </a:xfrm>
          <a:prstGeom prst="rect">
            <a:avLst/>
          </a:prstGeom>
          <a:noFill/>
          <a:ln/>
        </p:spPr>
        <p:txBody>
          <a:bodyPr wrap="square" lIns="0" tIns="0" rIns="0" bIns="0" rtlCol="0" anchor="ctr"/>
          <a:lstStyle/>
          <a:p>
            <a:pPr algn="ctr" indent="0" marL="0">
              <a:buNone/>
            </a:pPr>
            <a:r>
              <a:rPr lang="en-US" sz="1100" b="1" dirty="0">
                <a:solidFill>
                  <a:srgbClr val="FFC857"/>
                </a:solidFill>
                <a:latin typeface="Arial" pitchFamily="34" charset="0"/>
                <a:ea typeface="Arial" pitchFamily="34" charset="-122"/>
                <a:cs typeface="Arial" pitchFamily="34" charset="-120"/>
              </a:rPr>
              <a:t>5</a:t>
            </a:r>
            <a:endParaRPr lang="en-US" sz="1100" dirty="0"/>
          </a:p>
        </p:txBody>
      </p:sp>
      <p:sp>
        <p:nvSpPr>
          <p:cNvPr id="17" name="Text 14"/>
          <p:cNvSpPr txBox="1"/>
          <p:nvPr/>
        </p:nvSpPr>
        <p:spPr>
          <a:xfrm>
            <a:off x="5394960" y="9235440"/>
            <a:ext cx="118872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“feline”</a:t>
            </a:r>
            <a:endParaRPr lang="en-US" sz="1050" dirty="0"/>
          </a:p>
        </p:txBody>
      </p:sp>
      <p:sp>
        <p:nvSpPr>
          <p:cNvPr id="18" name="Shape 15"/>
          <p:cNvSpPr/>
          <p:nvPr/>
        </p:nvSpPr>
        <p:spPr>
          <a:xfrm>
            <a:off x="548640" y="9144000"/>
            <a:ext cx="5760720" cy="0"/>
          </a:xfrm>
          <a:prstGeom prst="line">
            <a:avLst/>
          </a:prstGeom>
          <a:noFill/>
          <a:ln w="9525">
            <a:solidFill>
              <a:srgbClr val="CADCFC"/>
            </a:solidFill>
            <a:prstDash val="solid"/>
          </a:ln>
        </p:spPr>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26 / 58</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27</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LangChain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toolkit for wiring LLMs to data, tools, and logic.</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LangChain provides pre-built building blocks — prompts, chains, memory, tool integrations — for assembling LLM-powered applications faster.</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2563368" y="8503920"/>
            <a:ext cx="865632" cy="502920"/>
          </a:xfrm>
          <a:prstGeom prst="line">
            <a:avLst/>
          </a:prstGeom>
          <a:noFill/>
          <a:ln w="16510">
            <a:solidFill>
              <a:srgbClr val="CADCFC"/>
            </a:solidFill>
            <a:prstDash val="solid"/>
          </a:ln>
        </p:spPr>
      </p:sp>
      <p:sp>
        <p:nvSpPr>
          <p:cNvPr id="11" name="Shape 8"/>
          <p:cNvSpPr/>
          <p:nvPr/>
        </p:nvSpPr>
        <p:spPr>
          <a:xfrm>
            <a:off x="3429000" y="8503920"/>
            <a:ext cx="865632" cy="502920"/>
          </a:xfrm>
          <a:prstGeom prst="line">
            <a:avLst/>
          </a:prstGeom>
          <a:noFill/>
          <a:ln w="16510">
            <a:solidFill>
              <a:srgbClr val="CADCFC"/>
            </a:solidFill>
            <a:prstDash val="solid"/>
          </a:ln>
        </p:spPr>
      </p:sp>
      <p:sp>
        <p:nvSpPr>
          <p:cNvPr id="12" name="Shape 9"/>
          <p:cNvSpPr/>
          <p:nvPr/>
        </p:nvSpPr>
        <p:spPr>
          <a:xfrm>
            <a:off x="3429000" y="8503920"/>
            <a:ext cx="2596896" cy="502920"/>
          </a:xfrm>
          <a:prstGeom prst="line">
            <a:avLst/>
          </a:prstGeom>
          <a:noFill/>
          <a:ln w="16510">
            <a:solidFill>
              <a:srgbClr val="CADCFC"/>
            </a:solidFill>
            <a:prstDash val="solid"/>
          </a:ln>
        </p:spPr>
      </p:sp>
      <p:sp>
        <p:nvSpPr>
          <p:cNvPr id="13" name="Shape 10"/>
          <p:cNvSpPr/>
          <p:nvPr/>
        </p:nvSpPr>
        <p:spPr>
          <a:xfrm>
            <a:off x="2971800" y="7589520"/>
            <a:ext cx="914400" cy="914400"/>
          </a:xfrm>
          <a:prstGeom prst="ellipse">
            <a:avLst/>
          </a:prstGeom>
          <a:solidFill>
            <a:srgbClr val="FFC857"/>
          </a:solidFill>
          <a:ln/>
        </p:spPr>
      </p:sp>
      <p:sp>
        <p:nvSpPr>
          <p:cNvPr id="14" name="Text 11"/>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LangChain</a:t>
            </a:r>
            <a:endParaRPr lang="en-US" sz="1150" dirty="0"/>
          </a:p>
        </p:txBody>
      </p:sp>
      <p:sp>
        <p:nvSpPr>
          <p:cNvPr id="15" name="Shape 12"/>
          <p:cNvSpPr/>
          <p:nvPr/>
        </p:nvSpPr>
        <p:spPr>
          <a:xfrm>
            <a:off x="548640" y="9006840"/>
            <a:ext cx="566928" cy="566928"/>
          </a:xfrm>
          <a:prstGeom prst="ellipse">
            <a:avLst/>
          </a:prstGeom>
          <a:solidFill>
            <a:srgbClr val="273571"/>
          </a:solidFill>
          <a:ln w="16510">
            <a:solidFill>
              <a:srgbClr val="CADCFC"/>
            </a:solidFill>
            <a:prstDash val="solid"/>
          </a:ln>
        </p:spPr>
      </p:sp>
      <p:sp>
        <p:nvSpPr>
          <p:cNvPr id="16" name="Text 13"/>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Prompts</a:t>
            </a:r>
            <a:endParaRPr lang="en-US" sz="1000" dirty="0"/>
          </a:p>
        </p:txBody>
      </p:sp>
      <p:sp>
        <p:nvSpPr>
          <p:cNvPr id="17" name="Shape 14"/>
          <p:cNvSpPr/>
          <p:nvPr/>
        </p:nvSpPr>
        <p:spPr>
          <a:xfrm>
            <a:off x="2279904" y="9006840"/>
            <a:ext cx="566928" cy="566928"/>
          </a:xfrm>
          <a:prstGeom prst="ellipse">
            <a:avLst/>
          </a:prstGeom>
          <a:solidFill>
            <a:srgbClr val="273571"/>
          </a:solidFill>
          <a:ln w="16510">
            <a:solidFill>
              <a:srgbClr val="CADCFC"/>
            </a:solidFill>
            <a:prstDash val="solid"/>
          </a:ln>
        </p:spPr>
      </p:sp>
      <p:sp>
        <p:nvSpPr>
          <p:cNvPr id="18" name="Text 15"/>
          <p:cNvSpPr txBox="1"/>
          <p:nvPr/>
        </p:nvSpPr>
        <p:spPr>
          <a:xfrm>
            <a:off x="2005584"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Memory</a:t>
            </a:r>
            <a:endParaRPr lang="en-US" sz="1000" dirty="0"/>
          </a:p>
        </p:txBody>
      </p:sp>
      <p:sp>
        <p:nvSpPr>
          <p:cNvPr id="19" name="Shape 16"/>
          <p:cNvSpPr/>
          <p:nvPr/>
        </p:nvSpPr>
        <p:spPr>
          <a:xfrm>
            <a:off x="4011168" y="9006840"/>
            <a:ext cx="566928" cy="566928"/>
          </a:xfrm>
          <a:prstGeom prst="ellipse">
            <a:avLst/>
          </a:prstGeom>
          <a:solidFill>
            <a:srgbClr val="273571"/>
          </a:solidFill>
          <a:ln w="16510">
            <a:solidFill>
              <a:srgbClr val="CADCFC"/>
            </a:solidFill>
            <a:prstDash val="solid"/>
          </a:ln>
        </p:spPr>
      </p:sp>
      <p:sp>
        <p:nvSpPr>
          <p:cNvPr id="20" name="Text 17"/>
          <p:cNvSpPr txBox="1"/>
          <p:nvPr/>
        </p:nvSpPr>
        <p:spPr>
          <a:xfrm>
            <a:off x="3736848"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Tools</a:t>
            </a:r>
            <a:endParaRPr lang="en-US" sz="1000" dirty="0"/>
          </a:p>
        </p:txBody>
      </p:sp>
      <p:sp>
        <p:nvSpPr>
          <p:cNvPr id="21" name="Shape 18"/>
          <p:cNvSpPr/>
          <p:nvPr/>
        </p:nvSpPr>
        <p:spPr>
          <a:xfrm>
            <a:off x="5742432" y="9006840"/>
            <a:ext cx="566928" cy="566928"/>
          </a:xfrm>
          <a:prstGeom prst="ellipse">
            <a:avLst/>
          </a:prstGeom>
          <a:solidFill>
            <a:srgbClr val="273571"/>
          </a:solidFill>
          <a:ln w="16510">
            <a:solidFill>
              <a:srgbClr val="CADCFC"/>
            </a:solidFill>
            <a:prstDash val="solid"/>
          </a:ln>
        </p:spPr>
      </p:sp>
      <p:sp>
        <p:nvSpPr>
          <p:cNvPr id="22" name="Text 19"/>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Chains</a:t>
            </a:r>
            <a:endParaRPr lang="en-US" sz="1000" dirty="0"/>
          </a:p>
        </p:txBody>
      </p:sp>
      <p:sp>
        <p:nvSpPr>
          <p:cNvPr id="23" name="Text 20"/>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27 / 58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28</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LangGraph</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Giving an AI workflow a flowchart, not just a straight line.</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LangGraph builds LLM applications as a graph of steps and agents, with branching, loops, and state — the structure multi-agent, multi-step systems need.</a:t>
            </a:r>
            <a:endParaRPr lang="en-US" sz="1900" dirty="0"/>
          </a:p>
        </p:txBody>
      </p:sp>
      <p:sp>
        <p:nvSpPr>
          <p:cNvPr id="9" name="Shape 6"/>
          <p:cNvSpPr/>
          <p:nvPr/>
        </p:nvSpPr>
        <p:spPr>
          <a:xfrm>
            <a:off x="548640" y="8389620"/>
            <a:ext cx="120015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Start</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State</a:t>
            </a:r>
            <a:endParaRPr lang="en-US" sz="1150" dirty="0"/>
          </a:p>
        </p:txBody>
      </p:sp>
      <p:sp>
        <p:nvSpPr>
          <p:cNvPr id="11" name="Shape 8"/>
          <p:cNvSpPr/>
          <p:nvPr/>
        </p:nvSpPr>
        <p:spPr>
          <a:xfrm>
            <a:off x="1748790" y="8778240"/>
            <a:ext cx="320040" cy="0"/>
          </a:xfrm>
          <a:prstGeom prst="line">
            <a:avLst/>
          </a:prstGeom>
          <a:noFill/>
          <a:ln w="16510">
            <a:solidFill>
              <a:srgbClr val="CADCFC"/>
            </a:solidFill>
            <a:prstDash val="solid"/>
            <a:tailEnd type="triangle"/>
          </a:ln>
        </p:spPr>
      </p:sp>
      <p:sp>
        <p:nvSpPr>
          <p:cNvPr id="12" name="Shape 9"/>
          <p:cNvSpPr/>
          <p:nvPr/>
        </p:nvSpPr>
        <p:spPr>
          <a:xfrm>
            <a:off x="2068830" y="8389620"/>
            <a:ext cx="120015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12369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Agent</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Node</a:t>
            </a:r>
            <a:endParaRPr lang="en-US" sz="1150" dirty="0"/>
          </a:p>
        </p:txBody>
      </p:sp>
      <p:sp>
        <p:nvSpPr>
          <p:cNvPr id="14" name="Shape 11"/>
          <p:cNvSpPr/>
          <p:nvPr/>
        </p:nvSpPr>
        <p:spPr>
          <a:xfrm>
            <a:off x="3268980" y="8778240"/>
            <a:ext cx="320040" cy="0"/>
          </a:xfrm>
          <a:prstGeom prst="line">
            <a:avLst/>
          </a:prstGeom>
          <a:noFill/>
          <a:ln w="16510">
            <a:solidFill>
              <a:srgbClr val="CADCFC"/>
            </a:solidFill>
            <a:prstDash val="solid"/>
            <a:tailEnd type="triangle"/>
          </a:ln>
        </p:spPr>
      </p:sp>
      <p:sp>
        <p:nvSpPr>
          <p:cNvPr id="15" name="Shape 12"/>
          <p:cNvSpPr/>
          <p:nvPr/>
        </p:nvSpPr>
        <p:spPr>
          <a:xfrm>
            <a:off x="3589020" y="8389620"/>
            <a:ext cx="1200150" cy="777240"/>
          </a:xfrm>
          <a:prstGeom prst="roundRect">
            <a:avLst>
              <a:gd name="adj" fmla="val 8235"/>
            </a:avLst>
          </a:prstGeom>
          <a:solidFill>
            <a:srgbClr val="273571"/>
          </a:solidFill>
          <a:ln w="16510">
            <a:solidFill>
              <a:srgbClr val="CADCFC"/>
            </a:solidFill>
            <a:prstDash val="solid"/>
          </a:ln>
        </p:spPr>
      </p:sp>
      <p:sp>
        <p:nvSpPr>
          <p:cNvPr id="16" name="Text 13"/>
          <p:cNvSpPr txBox="1"/>
          <p:nvPr/>
        </p:nvSpPr>
        <p:spPr>
          <a:xfrm>
            <a:off x="364388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Conditional</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Edge</a:t>
            </a:r>
            <a:endParaRPr lang="en-US" sz="1150" dirty="0"/>
          </a:p>
        </p:txBody>
      </p:sp>
      <p:sp>
        <p:nvSpPr>
          <p:cNvPr id="17" name="Shape 14"/>
          <p:cNvSpPr/>
          <p:nvPr/>
        </p:nvSpPr>
        <p:spPr>
          <a:xfrm>
            <a:off x="4789170" y="8778240"/>
            <a:ext cx="320040" cy="0"/>
          </a:xfrm>
          <a:prstGeom prst="line">
            <a:avLst/>
          </a:prstGeom>
          <a:noFill/>
          <a:ln w="16510">
            <a:solidFill>
              <a:srgbClr val="CADCFC"/>
            </a:solidFill>
            <a:prstDash val="solid"/>
            <a:tailEnd type="triangle"/>
          </a:ln>
        </p:spPr>
      </p:sp>
      <p:sp>
        <p:nvSpPr>
          <p:cNvPr id="18" name="Shape 15"/>
          <p:cNvSpPr/>
          <p:nvPr/>
        </p:nvSpPr>
        <p:spPr>
          <a:xfrm>
            <a:off x="5109210" y="8389620"/>
            <a:ext cx="1200150" cy="777240"/>
          </a:xfrm>
          <a:prstGeom prst="roundRect">
            <a:avLst>
              <a:gd name="adj" fmla="val 8235"/>
            </a:avLst>
          </a:prstGeom>
          <a:solidFill>
            <a:srgbClr val="FFC857"/>
          </a:solidFill>
          <a:ln w="16510">
            <a:solidFill>
              <a:srgbClr val="CADCFC"/>
            </a:solidFill>
            <a:prstDash val="solid"/>
          </a:ln>
        </p:spPr>
      </p:sp>
      <p:sp>
        <p:nvSpPr>
          <p:cNvPr id="19" name="Text 16"/>
          <p:cNvSpPr txBox="1"/>
          <p:nvPr/>
        </p:nvSpPr>
        <p:spPr>
          <a:xfrm>
            <a:off x="516407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End</a:t>
            </a:r>
            <a:endParaRPr lang="en-US" sz="1150" dirty="0"/>
          </a:p>
        </p:txBody>
      </p:sp>
      <p:sp>
        <p:nvSpPr>
          <p:cNvPr id="20" name="Shape 17"/>
          <p:cNvSpPr/>
          <p:nvPr/>
        </p:nvSpPr>
        <p:spPr>
          <a:xfrm>
            <a:off x="548640" y="10195560"/>
            <a:ext cx="5760720" cy="594360"/>
          </a:xfrm>
          <a:prstGeom prst="rect">
            <a:avLst/>
          </a:prstGeom>
          <a:solidFill>
            <a:srgbClr val="273571"/>
          </a:solidFill>
          <a:ln/>
        </p:spPr>
      </p:sp>
      <p:sp>
        <p:nvSpPr>
          <p:cNvPr id="21" name="Text 18"/>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2" name="Text 19"/>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28 / 58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29</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CrewAI</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framework for a team of AI agents, each with a job.</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CrewAI lets you define multiple specialized agents with distinct roles that collaborate on a task — like assembling a small virtual team instead of one do-everything agent.</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3429000" y="8503920"/>
            <a:ext cx="0" cy="502920"/>
          </a:xfrm>
          <a:prstGeom prst="line">
            <a:avLst/>
          </a:prstGeom>
          <a:noFill/>
          <a:ln w="16510">
            <a:solidFill>
              <a:srgbClr val="CADCFC"/>
            </a:solidFill>
            <a:prstDash val="solid"/>
          </a:ln>
        </p:spPr>
      </p:sp>
      <p:sp>
        <p:nvSpPr>
          <p:cNvPr id="11" name="Shape 8"/>
          <p:cNvSpPr/>
          <p:nvPr/>
        </p:nvSpPr>
        <p:spPr>
          <a:xfrm>
            <a:off x="3429000" y="8503920"/>
            <a:ext cx="2596896" cy="502920"/>
          </a:xfrm>
          <a:prstGeom prst="line">
            <a:avLst/>
          </a:prstGeom>
          <a:noFill/>
          <a:ln w="16510">
            <a:solidFill>
              <a:srgbClr val="CADCFC"/>
            </a:solidFill>
            <a:prstDash val="solid"/>
          </a:ln>
        </p:spPr>
      </p:sp>
      <p:sp>
        <p:nvSpPr>
          <p:cNvPr id="12" name="Shape 9"/>
          <p:cNvSpPr/>
          <p:nvPr/>
        </p:nvSpPr>
        <p:spPr>
          <a:xfrm>
            <a:off x="2971800" y="7589520"/>
            <a:ext cx="914400" cy="914400"/>
          </a:xfrm>
          <a:prstGeom prst="ellipse">
            <a:avLst/>
          </a:prstGeom>
          <a:solidFill>
            <a:srgbClr val="FFC857"/>
          </a:solidFill>
          <a:ln/>
        </p:spPr>
      </p:sp>
      <p:sp>
        <p:nvSpPr>
          <p:cNvPr id="13" name="Text 10"/>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Manager</a:t>
            </a:r>
            <a:endParaRPr lang="en-US" sz="1150" dirty="0"/>
          </a:p>
        </p:txBody>
      </p:sp>
      <p:sp>
        <p:nvSpPr>
          <p:cNvPr id="14" name="Shape 11"/>
          <p:cNvSpPr/>
          <p:nvPr/>
        </p:nvSpPr>
        <p:spPr>
          <a:xfrm>
            <a:off x="548640" y="9006840"/>
            <a:ext cx="566928" cy="566928"/>
          </a:xfrm>
          <a:prstGeom prst="ellipse">
            <a:avLst/>
          </a:prstGeom>
          <a:solidFill>
            <a:srgbClr val="273571"/>
          </a:solidFill>
          <a:ln w="16510">
            <a:solidFill>
              <a:srgbClr val="CADCFC"/>
            </a:solidFill>
            <a:prstDash val="solid"/>
          </a:ln>
        </p:spPr>
      </p:sp>
      <p:sp>
        <p:nvSpPr>
          <p:cNvPr id="15" name="Text 12"/>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Researcher</a:t>
            </a:r>
            <a:endParaRPr lang="en-US" sz="1000" dirty="0"/>
          </a:p>
        </p:txBody>
      </p:sp>
      <p:sp>
        <p:nvSpPr>
          <p:cNvPr id="16" name="Shape 13"/>
          <p:cNvSpPr/>
          <p:nvPr/>
        </p:nvSpPr>
        <p:spPr>
          <a:xfrm>
            <a:off x="3145536" y="9006840"/>
            <a:ext cx="566928" cy="566928"/>
          </a:xfrm>
          <a:prstGeom prst="ellipse">
            <a:avLst/>
          </a:prstGeom>
          <a:solidFill>
            <a:srgbClr val="273571"/>
          </a:solidFill>
          <a:ln w="16510">
            <a:solidFill>
              <a:srgbClr val="CADCFC"/>
            </a:solidFill>
            <a:prstDash val="solid"/>
          </a:ln>
        </p:spPr>
      </p:sp>
      <p:sp>
        <p:nvSpPr>
          <p:cNvPr id="17" name="Text 14"/>
          <p:cNvSpPr txBox="1"/>
          <p:nvPr/>
        </p:nvSpPr>
        <p:spPr>
          <a:xfrm>
            <a:off x="2871216"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Writer</a:t>
            </a:r>
            <a:endParaRPr lang="en-US" sz="1000" dirty="0"/>
          </a:p>
        </p:txBody>
      </p:sp>
      <p:sp>
        <p:nvSpPr>
          <p:cNvPr id="18" name="Shape 15"/>
          <p:cNvSpPr/>
          <p:nvPr/>
        </p:nvSpPr>
        <p:spPr>
          <a:xfrm>
            <a:off x="5742432" y="9006840"/>
            <a:ext cx="566928" cy="566928"/>
          </a:xfrm>
          <a:prstGeom prst="ellipse">
            <a:avLst/>
          </a:prstGeom>
          <a:solidFill>
            <a:srgbClr val="273571"/>
          </a:solidFill>
          <a:ln w="16510">
            <a:solidFill>
              <a:srgbClr val="CADCFC"/>
            </a:solidFill>
            <a:prstDash val="solid"/>
          </a:ln>
        </p:spPr>
      </p:sp>
      <p:sp>
        <p:nvSpPr>
          <p:cNvPr id="19" name="Text 16"/>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Reviewer</a:t>
            </a:r>
            <a:endParaRPr lang="en-US" sz="100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29 / 58</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30</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Chain of Thought</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Asking the model to show its working.</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Chain-of-thought prompting has the model reason step-by-step before giving a final answer — which measurably improves accuracy on tasks that need multi-step logic.</a:t>
            </a:r>
            <a:endParaRPr lang="en-US" sz="1900" dirty="0"/>
          </a:p>
        </p:txBody>
      </p:sp>
      <p:sp>
        <p:nvSpPr>
          <p:cNvPr id="9" name="Shape 6"/>
          <p:cNvSpPr/>
          <p:nvPr/>
        </p:nvSpPr>
        <p:spPr>
          <a:xfrm>
            <a:off x="548640" y="8389620"/>
            <a:ext cx="120015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Question</a:t>
            </a:r>
            <a:endParaRPr lang="en-US" sz="1150" dirty="0"/>
          </a:p>
        </p:txBody>
      </p:sp>
      <p:sp>
        <p:nvSpPr>
          <p:cNvPr id="11" name="Shape 8"/>
          <p:cNvSpPr/>
          <p:nvPr/>
        </p:nvSpPr>
        <p:spPr>
          <a:xfrm>
            <a:off x="1748790" y="8778240"/>
            <a:ext cx="320040" cy="0"/>
          </a:xfrm>
          <a:prstGeom prst="line">
            <a:avLst/>
          </a:prstGeom>
          <a:noFill/>
          <a:ln w="16510">
            <a:solidFill>
              <a:srgbClr val="CADCFC"/>
            </a:solidFill>
            <a:prstDash val="solid"/>
            <a:tailEnd type="triangle"/>
          </a:ln>
        </p:spPr>
      </p:sp>
      <p:sp>
        <p:nvSpPr>
          <p:cNvPr id="12" name="Shape 9"/>
          <p:cNvSpPr/>
          <p:nvPr/>
        </p:nvSpPr>
        <p:spPr>
          <a:xfrm>
            <a:off x="2068830" y="8389620"/>
            <a:ext cx="120015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12369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Step 1</a:t>
            </a:r>
            <a:endParaRPr lang="en-US" sz="1150" dirty="0"/>
          </a:p>
        </p:txBody>
      </p:sp>
      <p:sp>
        <p:nvSpPr>
          <p:cNvPr id="14" name="Shape 11"/>
          <p:cNvSpPr/>
          <p:nvPr/>
        </p:nvSpPr>
        <p:spPr>
          <a:xfrm>
            <a:off x="3268980" y="8778240"/>
            <a:ext cx="320040" cy="0"/>
          </a:xfrm>
          <a:prstGeom prst="line">
            <a:avLst/>
          </a:prstGeom>
          <a:noFill/>
          <a:ln w="16510">
            <a:solidFill>
              <a:srgbClr val="CADCFC"/>
            </a:solidFill>
            <a:prstDash val="solid"/>
            <a:tailEnd type="triangle"/>
          </a:ln>
        </p:spPr>
      </p:sp>
      <p:sp>
        <p:nvSpPr>
          <p:cNvPr id="15" name="Shape 12"/>
          <p:cNvSpPr/>
          <p:nvPr/>
        </p:nvSpPr>
        <p:spPr>
          <a:xfrm>
            <a:off x="3589020" y="8389620"/>
            <a:ext cx="1200150" cy="777240"/>
          </a:xfrm>
          <a:prstGeom prst="roundRect">
            <a:avLst>
              <a:gd name="adj" fmla="val 8235"/>
            </a:avLst>
          </a:prstGeom>
          <a:solidFill>
            <a:srgbClr val="273571"/>
          </a:solidFill>
          <a:ln w="16510">
            <a:solidFill>
              <a:srgbClr val="CADCFC"/>
            </a:solidFill>
            <a:prstDash val="solid"/>
          </a:ln>
        </p:spPr>
      </p:sp>
      <p:sp>
        <p:nvSpPr>
          <p:cNvPr id="16" name="Text 13"/>
          <p:cNvSpPr txBox="1"/>
          <p:nvPr/>
        </p:nvSpPr>
        <p:spPr>
          <a:xfrm>
            <a:off x="364388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Step 2</a:t>
            </a:r>
            <a:endParaRPr lang="en-US" sz="1150" dirty="0"/>
          </a:p>
        </p:txBody>
      </p:sp>
      <p:sp>
        <p:nvSpPr>
          <p:cNvPr id="17" name="Shape 14"/>
          <p:cNvSpPr/>
          <p:nvPr/>
        </p:nvSpPr>
        <p:spPr>
          <a:xfrm>
            <a:off x="4789170" y="8778240"/>
            <a:ext cx="320040" cy="0"/>
          </a:xfrm>
          <a:prstGeom prst="line">
            <a:avLst/>
          </a:prstGeom>
          <a:noFill/>
          <a:ln w="16510">
            <a:solidFill>
              <a:srgbClr val="CADCFC"/>
            </a:solidFill>
            <a:prstDash val="solid"/>
            <a:tailEnd type="triangle"/>
          </a:ln>
        </p:spPr>
      </p:sp>
      <p:sp>
        <p:nvSpPr>
          <p:cNvPr id="18" name="Shape 15"/>
          <p:cNvSpPr/>
          <p:nvPr/>
        </p:nvSpPr>
        <p:spPr>
          <a:xfrm>
            <a:off x="5109210" y="8389620"/>
            <a:ext cx="1200150" cy="777240"/>
          </a:xfrm>
          <a:prstGeom prst="roundRect">
            <a:avLst>
              <a:gd name="adj" fmla="val 8235"/>
            </a:avLst>
          </a:prstGeom>
          <a:solidFill>
            <a:srgbClr val="FFC857"/>
          </a:solidFill>
          <a:ln w="16510">
            <a:solidFill>
              <a:srgbClr val="CADCFC"/>
            </a:solidFill>
            <a:prstDash val="solid"/>
          </a:ln>
        </p:spPr>
      </p:sp>
      <p:sp>
        <p:nvSpPr>
          <p:cNvPr id="19" name="Text 16"/>
          <p:cNvSpPr txBox="1"/>
          <p:nvPr/>
        </p:nvSpPr>
        <p:spPr>
          <a:xfrm>
            <a:off x="5164074" y="8389620"/>
            <a:ext cx="109042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Answer</a:t>
            </a:r>
            <a:endParaRPr lang="en-US" sz="115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30 / 58</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31</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Reasoning Model</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Built to think longer before answering.</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reasoning model is trained or prompted to spend extra internal steps working through a problem before its final response — trading speed for accuracy on harder tasks.</a:t>
            </a:r>
            <a:endParaRPr lang="en-US" sz="1900" dirty="0"/>
          </a:p>
        </p:txBody>
      </p:sp>
      <p:sp>
        <p:nvSpPr>
          <p:cNvPr id="9" name="Text 6"/>
          <p:cNvSpPr txBox="1"/>
          <p:nvPr/>
        </p:nvSpPr>
        <p:spPr>
          <a:xfrm>
            <a:off x="1463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Fast Model</a:t>
            </a:r>
            <a:endParaRPr lang="en-US" sz="1200" dirty="0"/>
          </a:p>
        </p:txBody>
      </p:sp>
      <p:sp>
        <p:nvSpPr>
          <p:cNvPr id="10" name="Shape 7"/>
          <p:cNvSpPr/>
          <p:nvPr/>
        </p:nvSpPr>
        <p:spPr>
          <a:xfrm>
            <a:off x="1783080" y="9029700"/>
            <a:ext cx="1005840" cy="205740"/>
          </a:xfrm>
          <a:prstGeom prst="rect">
            <a:avLst/>
          </a:prstGeom>
          <a:solidFill>
            <a:srgbClr val="273571"/>
          </a:solidFill>
          <a:ln w="16510">
            <a:solidFill>
              <a:srgbClr val="CADCFC"/>
            </a:solidFill>
            <a:prstDash val="solid"/>
          </a:ln>
        </p:spPr>
      </p:sp>
      <p:sp>
        <p:nvSpPr>
          <p:cNvPr id="11" name="Text 8"/>
          <p:cNvSpPr txBox="1"/>
          <p:nvPr/>
        </p:nvSpPr>
        <p:spPr>
          <a:xfrm>
            <a:off x="1463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1 pass, quick answer</a:t>
            </a:r>
            <a:endParaRPr lang="en-US" sz="1050" dirty="0"/>
          </a:p>
        </p:txBody>
      </p:sp>
      <p:sp>
        <p:nvSpPr>
          <p:cNvPr id="12" name="Text 9"/>
          <p:cNvSpPr txBox="1"/>
          <p:nvPr/>
        </p:nvSpPr>
        <p:spPr>
          <a:xfrm>
            <a:off x="3749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Reasoning Model</a:t>
            </a:r>
            <a:endParaRPr lang="en-US" sz="1200" dirty="0"/>
          </a:p>
        </p:txBody>
      </p:sp>
      <p:sp>
        <p:nvSpPr>
          <p:cNvPr id="13" name="Shape 10"/>
          <p:cNvSpPr/>
          <p:nvPr/>
        </p:nvSpPr>
        <p:spPr>
          <a:xfrm>
            <a:off x="4069080" y="7863840"/>
            <a:ext cx="1005840" cy="1371600"/>
          </a:xfrm>
          <a:prstGeom prst="rect">
            <a:avLst/>
          </a:prstGeom>
          <a:solidFill>
            <a:srgbClr val="FFC857"/>
          </a:solidFill>
          <a:ln w="16510">
            <a:solidFill>
              <a:srgbClr val="CADCFC"/>
            </a:solidFill>
            <a:prstDash val="solid"/>
          </a:ln>
        </p:spPr>
      </p:sp>
      <p:sp>
        <p:nvSpPr>
          <p:cNvPr id="14" name="Text 11"/>
          <p:cNvSpPr txBox="1"/>
          <p:nvPr/>
        </p:nvSpPr>
        <p:spPr>
          <a:xfrm>
            <a:off x="3749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Many internal steps first</a:t>
            </a:r>
            <a:endParaRPr lang="en-US" sz="1050" dirty="0"/>
          </a:p>
        </p:txBody>
      </p:sp>
      <p:sp>
        <p:nvSpPr>
          <p:cNvPr id="15" name="Shape 12"/>
          <p:cNvSpPr/>
          <p:nvPr/>
        </p:nvSpPr>
        <p:spPr>
          <a:xfrm>
            <a:off x="548640" y="9235440"/>
            <a:ext cx="5760720" cy="0"/>
          </a:xfrm>
          <a:prstGeom prst="line">
            <a:avLst/>
          </a:prstGeom>
          <a:noFill/>
          <a:ln w="9525">
            <a:solidFill>
              <a:srgbClr val="CADCFC"/>
            </a:solidFill>
            <a:prstDash val="solid"/>
          </a:ln>
        </p:spPr>
      </p:sp>
      <p:sp>
        <p:nvSpPr>
          <p:cNvPr id="16" name="Text 1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31 / 58</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32</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Small Language Model</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Not every job needs a giant model.</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 Small Language Model has far fewer parameters than frontier LLMs — trading some general capability for speed, lower cost, and the ability to run on modest hardware.</a:t>
            </a:r>
            <a:endParaRPr lang="en-US" sz="1900" dirty="0"/>
          </a:p>
        </p:txBody>
      </p:sp>
      <p:sp>
        <p:nvSpPr>
          <p:cNvPr id="9" name="Text 6"/>
          <p:cNvSpPr txBox="1"/>
          <p:nvPr/>
        </p:nvSpPr>
        <p:spPr>
          <a:xfrm>
            <a:off x="1463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LLM</a:t>
            </a:r>
            <a:endParaRPr lang="en-US" sz="1200" dirty="0"/>
          </a:p>
        </p:txBody>
      </p:sp>
      <p:sp>
        <p:nvSpPr>
          <p:cNvPr id="10" name="Shape 7"/>
          <p:cNvSpPr/>
          <p:nvPr/>
        </p:nvSpPr>
        <p:spPr>
          <a:xfrm>
            <a:off x="1783080" y="7863840"/>
            <a:ext cx="1005840" cy="1371600"/>
          </a:xfrm>
          <a:prstGeom prst="rect">
            <a:avLst/>
          </a:prstGeom>
          <a:solidFill>
            <a:srgbClr val="FFC857"/>
          </a:solidFill>
          <a:ln w="16510">
            <a:solidFill>
              <a:srgbClr val="CADCFC"/>
            </a:solidFill>
            <a:prstDash val="solid"/>
          </a:ln>
        </p:spPr>
      </p:sp>
      <p:sp>
        <p:nvSpPr>
          <p:cNvPr id="11" name="Text 8"/>
          <p:cNvSpPr txBox="1"/>
          <p:nvPr/>
        </p:nvSpPr>
        <p:spPr>
          <a:xfrm>
            <a:off x="1463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175B+ parameters</a:t>
            </a:r>
            <a:endParaRPr lang="en-US" sz="1050" dirty="0"/>
          </a:p>
        </p:txBody>
      </p:sp>
      <p:sp>
        <p:nvSpPr>
          <p:cNvPr id="12" name="Text 9"/>
          <p:cNvSpPr txBox="1"/>
          <p:nvPr/>
        </p:nvSpPr>
        <p:spPr>
          <a:xfrm>
            <a:off x="3749040" y="7498080"/>
            <a:ext cx="164592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SLM</a:t>
            </a:r>
            <a:endParaRPr lang="en-US" sz="1200" dirty="0"/>
          </a:p>
        </p:txBody>
      </p:sp>
      <p:sp>
        <p:nvSpPr>
          <p:cNvPr id="13" name="Shape 10"/>
          <p:cNvSpPr/>
          <p:nvPr/>
        </p:nvSpPr>
        <p:spPr>
          <a:xfrm>
            <a:off x="4069080" y="9070848"/>
            <a:ext cx="1005840" cy="164592"/>
          </a:xfrm>
          <a:prstGeom prst="rect">
            <a:avLst/>
          </a:prstGeom>
          <a:solidFill>
            <a:srgbClr val="273571"/>
          </a:solidFill>
          <a:ln w="16510">
            <a:solidFill>
              <a:srgbClr val="CADCFC"/>
            </a:solidFill>
            <a:prstDash val="solid"/>
          </a:ln>
        </p:spPr>
      </p:sp>
      <p:sp>
        <p:nvSpPr>
          <p:cNvPr id="14" name="Text 11"/>
          <p:cNvSpPr txBox="1"/>
          <p:nvPr/>
        </p:nvSpPr>
        <p:spPr>
          <a:xfrm>
            <a:off x="3749040" y="9345168"/>
            <a:ext cx="1645920" cy="411480"/>
          </a:xfrm>
          <a:prstGeom prst="rect">
            <a:avLst/>
          </a:prstGeom>
          <a:noFill/>
          <a:ln/>
        </p:spPr>
        <p:txBody>
          <a:bodyPr wrap="square" lIns="0" tIns="0" rIns="0" bIns="0" rtlCol="0" anchor="ctr"/>
          <a:lstStyle/>
          <a:p>
            <a:pPr algn="ctr" indent="0" marL="0">
              <a:lnSpc>
                <a:spcPct val="115000"/>
              </a:lnSpc>
              <a:buNone/>
            </a:pPr>
            <a:r>
              <a:rPr lang="en-US" sz="1050" i="1" dirty="0">
                <a:solidFill>
                  <a:srgbClr val="8C9BD6"/>
                </a:solidFill>
                <a:latin typeface="Arial" pitchFamily="34" charset="0"/>
                <a:ea typeface="Arial" pitchFamily="34" charset="-122"/>
                <a:cs typeface="Arial" pitchFamily="34" charset="-120"/>
              </a:rPr>
              <a:t>~3B parameters, runs locally</a:t>
            </a:r>
            <a:endParaRPr lang="en-US" sz="1050" dirty="0"/>
          </a:p>
        </p:txBody>
      </p:sp>
      <p:sp>
        <p:nvSpPr>
          <p:cNvPr id="15" name="Shape 12"/>
          <p:cNvSpPr/>
          <p:nvPr/>
        </p:nvSpPr>
        <p:spPr>
          <a:xfrm>
            <a:off x="548640" y="9235440"/>
            <a:ext cx="5760720" cy="0"/>
          </a:xfrm>
          <a:prstGeom prst="line">
            <a:avLst/>
          </a:prstGeom>
          <a:noFill/>
          <a:ln w="9525">
            <a:solidFill>
              <a:srgbClr val="CADCFC"/>
            </a:solidFill>
            <a:prstDash val="solid"/>
          </a:ln>
        </p:spPr>
      </p:sp>
      <p:sp>
        <p:nvSpPr>
          <p:cNvPr id="16" name="Text 1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32 / 58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33</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Distillation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Teaching a small model to imitate a big one.</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Knowledge distillation trains a smaller ‘student’ model to mimic a larger ‘teacher’ model's outputs — capturing much of its capability at a fraction of the size.</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Teacher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Model (large)</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Distill</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Student</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Model (small)</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33 / 58</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34</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Quantization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Rounding a model's numbers to make it lighter.</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Quantization reduces the numerical precision of a model's weights (e.g. 32-bit to 4-bit), shrinking memory use and speeding up inference, at a small accuracy trade-off.</a:t>
            </a:r>
            <a:endParaRPr lang="en-US" sz="1900" dirty="0"/>
          </a:p>
        </p:txBody>
      </p:sp>
      <p:sp>
        <p:nvSpPr>
          <p:cNvPr id="9" name="Text 6"/>
          <p:cNvSpPr txBox="1"/>
          <p:nvPr/>
        </p:nvSpPr>
        <p:spPr>
          <a:xfrm>
            <a:off x="1508760" y="7498080"/>
            <a:ext cx="155448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32-bit</a:t>
            </a:r>
            <a:endParaRPr lang="en-US" sz="1200" dirty="0"/>
          </a:p>
        </p:txBody>
      </p:sp>
      <p:sp>
        <p:nvSpPr>
          <p:cNvPr id="10" name="Shape 7"/>
          <p:cNvSpPr/>
          <p:nvPr/>
        </p:nvSpPr>
        <p:spPr>
          <a:xfrm>
            <a:off x="1783080" y="7863840"/>
            <a:ext cx="1005840" cy="1463040"/>
          </a:xfrm>
          <a:prstGeom prst="rect">
            <a:avLst/>
          </a:prstGeom>
          <a:solidFill>
            <a:srgbClr val="273571"/>
          </a:solidFill>
          <a:ln w="16510">
            <a:solidFill>
              <a:srgbClr val="CADCFC"/>
            </a:solidFill>
            <a:prstDash val="solid"/>
          </a:ln>
        </p:spPr>
      </p:sp>
      <p:sp>
        <p:nvSpPr>
          <p:cNvPr id="11" name="Text 8"/>
          <p:cNvSpPr txBox="1"/>
          <p:nvPr/>
        </p:nvSpPr>
        <p:spPr>
          <a:xfrm>
            <a:off x="1508760" y="9436608"/>
            <a:ext cx="1554480" cy="365760"/>
          </a:xfrm>
          <a:prstGeom prst="rect">
            <a:avLst/>
          </a:prstGeom>
          <a:noFill/>
          <a:ln/>
        </p:spPr>
        <p:txBody>
          <a:bodyPr wrap="square" lIns="0" tIns="0" rIns="0" bIns="0" rtlCol="0" anchor="ctr"/>
          <a:lstStyle/>
          <a:p>
            <a:pPr algn="ctr" indent="0" marL="0">
              <a:buNone/>
            </a:pPr>
            <a:r>
              <a:rPr lang="en-US" sz="1050" i="1" dirty="0">
                <a:solidFill>
                  <a:srgbClr val="8C9BD6"/>
                </a:solidFill>
                <a:latin typeface="Arial" pitchFamily="34" charset="0"/>
                <a:ea typeface="Arial" pitchFamily="34" charset="-122"/>
                <a:cs typeface="Arial" pitchFamily="34" charset="-120"/>
              </a:rPr>
              <a:t>Full precision</a:t>
            </a:r>
            <a:endParaRPr lang="en-US" sz="1050" dirty="0"/>
          </a:p>
        </p:txBody>
      </p:sp>
      <p:sp>
        <p:nvSpPr>
          <p:cNvPr id="12" name="Text 9"/>
          <p:cNvSpPr txBox="1"/>
          <p:nvPr/>
        </p:nvSpPr>
        <p:spPr>
          <a:xfrm>
            <a:off x="3794760" y="7498080"/>
            <a:ext cx="1554480" cy="320040"/>
          </a:xfrm>
          <a:prstGeom prst="rect">
            <a:avLst/>
          </a:prstGeom>
          <a:noFill/>
          <a:ln/>
        </p:spPr>
        <p:txBody>
          <a:bodyPr wrap="square" lIns="0" tIns="0" rIns="0" bIns="0" rtlCol="0" anchor="ctr"/>
          <a:lstStyle/>
          <a:p>
            <a:pPr algn="ctr" indent="0" marL="0">
              <a:buNone/>
            </a:pPr>
            <a:r>
              <a:rPr lang="en-US" sz="1200" b="1" dirty="0">
                <a:solidFill>
                  <a:srgbClr val="FFC857"/>
                </a:solidFill>
                <a:latin typeface="Arial" pitchFamily="34" charset="0"/>
                <a:ea typeface="Arial" pitchFamily="34" charset="-122"/>
                <a:cs typeface="Arial" pitchFamily="34" charset="-120"/>
              </a:rPr>
              <a:t>4-bit</a:t>
            </a:r>
            <a:endParaRPr lang="en-US" sz="1200" dirty="0"/>
          </a:p>
        </p:txBody>
      </p:sp>
      <p:sp>
        <p:nvSpPr>
          <p:cNvPr id="13" name="Shape 10"/>
          <p:cNvSpPr/>
          <p:nvPr/>
        </p:nvSpPr>
        <p:spPr>
          <a:xfrm>
            <a:off x="4069080" y="9006840"/>
            <a:ext cx="1005840" cy="320040"/>
          </a:xfrm>
          <a:prstGeom prst="rect">
            <a:avLst/>
          </a:prstGeom>
          <a:solidFill>
            <a:srgbClr val="FFC857"/>
          </a:solidFill>
          <a:ln/>
        </p:spPr>
      </p:sp>
      <p:sp>
        <p:nvSpPr>
          <p:cNvPr id="14" name="Text 11"/>
          <p:cNvSpPr txBox="1"/>
          <p:nvPr/>
        </p:nvSpPr>
        <p:spPr>
          <a:xfrm>
            <a:off x="3794760" y="9436608"/>
            <a:ext cx="1554480" cy="365760"/>
          </a:xfrm>
          <a:prstGeom prst="rect">
            <a:avLst/>
          </a:prstGeom>
          <a:noFill/>
          <a:ln/>
        </p:spPr>
        <p:txBody>
          <a:bodyPr wrap="square" lIns="0" tIns="0" rIns="0" bIns="0" rtlCol="0" anchor="ctr"/>
          <a:lstStyle/>
          <a:p>
            <a:pPr algn="ctr" indent="0" marL="0">
              <a:buNone/>
            </a:pPr>
            <a:r>
              <a:rPr lang="en-US" sz="1050" i="1" dirty="0">
                <a:solidFill>
                  <a:srgbClr val="8C9BD6"/>
                </a:solidFill>
                <a:latin typeface="Arial" pitchFamily="34" charset="0"/>
                <a:ea typeface="Arial" pitchFamily="34" charset="-122"/>
                <a:cs typeface="Arial" pitchFamily="34" charset="-120"/>
              </a:rPr>
              <a:t>Quantized — lighter, faster</a:t>
            </a:r>
            <a:endParaRPr lang="en-US" sz="1050" dirty="0"/>
          </a:p>
        </p:txBody>
      </p:sp>
      <p:sp>
        <p:nvSpPr>
          <p:cNvPr id="15" name="Shape 12"/>
          <p:cNvSpPr/>
          <p:nvPr/>
        </p:nvSpPr>
        <p:spPr>
          <a:xfrm>
            <a:off x="548640" y="9326880"/>
            <a:ext cx="5760720" cy="0"/>
          </a:xfrm>
          <a:prstGeom prst="line">
            <a:avLst/>
          </a:prstGeom>
          <a:noFill/>
          <a:ln w="9525">
            <a:solidFill>
              <a:srgbClr val="CADCFC"/>
            </a:solidFill>
            <a:prstDash val="solid"/>
          </a:ln>
        </p:spPr>
      </p:sp>
      <p:sp>
        <p:nvSpPr>
          <p:cNvPr id="16" name="Text 1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34 / 58</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35</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Agent Loop (ReAct)</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Think. Act. Observe. Repeat.</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The agent loop is the cycle an AI agent runs — reason about what to do, take an action, observe the result, decide the next step — repeating until the task is done.</a:t>
            </a:r>
            <a:endParaRPr lang="en-US" sz="1900" dirty="0"/>
          </a:p>
        </p:txBody>
      </p:sp>
      <p:sp>
        <p:nvSpPr>
          <p:cNvPr id="9" name="Shape 6"/>
          <p:cNvSpPr/>
          <p:nvPr/>
        </p:nvSpPr>
        <p:spPr>
          <a:xfrm>
            <a:off x="548640" y="7955280"/>
            <a:ext cx="1584960" cy="594360"/>
          </a:xfrm>
          <a:prstGeom prst="roundRect">
            <a:avLst>
              <a:gd name="adj" fmla="val 12308"/>
            </a:avLst>
          </a:prstGeom>
          <a:solidFill>
            <a:srgbClr val="273571"/>
          </a:solidFill>
          <a:ln w="16510">
            <a:solidFill>
              <a:srgbClr val="CADCFC"/>
            </a:solidFill>
            <a:prstDash val="solid"/>
          </a:ln>
        </p:spPr>
      </p:sp>
      <p:sp>
        <p:nvSpPr>
          <p:cNvPr id="10" name="Text 7"/>
          <p:cNvSpPr txBox="1"/>
          <p:nvPr/>
        </p:nvSpPr>
        <p:spPr>
          <a:xfrm>
            <a:off x="548640" y="7955280"/>
            <a:ext cx="1584960" cy="594360"/>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Reason</a:t>
            </a:r>
            <a:endParaRPr lang="en-US" sz="1300" dirty="0"/>
          </a:p>
        </p:txBody>
      </p:sp>
      <p:sp>
        <p:nvSpPr>
          <p:cNvPr id="11" name="Shape 8"/>
          <p:cNvSpPr/>
          <p:nvPr/>
        </p:nvSpPr>
        <p:spPr>
          <a:xfrm>
            <a:off x="2133600" y="8252460"/>
            <a:ext cx="502920" cy="0"/>
          </a:xfrm>
          <a:prstGeom prst="line">
            <a:avLst/>
          </a:prstGeom>
          <a:noFill/>
          <a:ln w="16510">
            <a:solidFill>
              <a:srgbClr val="CADCFC"/>
            </a:solidFill>
            <a:prstDash val="solid"/>
            <a:tailEnd type="triangle"/>
          </a:ln>
        </p:spPr>
      </p:sp>
      <p:sp>
        <p:nvSpPr>
          <p:cNvPr id="12" name="Shape 9"/>
          <p:cNvSpPr/>
          <p:nvPr/>
        </p:nvSpPr>
        <p:spPr>
          <a:xfrm>
            <a:off x="2636520" y="7955280"/>
            <a:ext cx="1584960" cy="594360"/>
          </a:xfrm>
          <a:prstGeom prst="roundRect">
            <a:avLst>
              <a:gd name="adj" fmla="val 12308"/>
            </a:avLst>
          </a:prstGeom>
          <a:solidFill>
            <a:srgbClr val="273571"/>
          </a:solidFill>
          <a:ln w="16510">
            <a:solidFill>
              <a:srgbClr val="CADCFC"/>
            </a:solidFill>
            <a:prstDash val="solid"/>
          </a:ln>
        </p:spPr>
      </p:sp>
      <p:sp>
        <p:nvSpPr>
          <p:cNvPr id="13" name="Text 10"/>
          <p:cNvSpPr txBox="1"/>
          <p:nvPr/>
        </p:nvSpPr>
        <p:spPr>
          <a:xfrm>
            <a:off x="2636520" y="7955280"/>
            <a:ext cx="1584960" cy="594360"/>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Act</a:t>
            </a:r>
            <a:endParaRPr lang="en-US" sz="1300" dirty="0"/>
          </a:p>
        </p:txBody>
      </p:sp>
      <p:sp>
        <p:nvSpPr>
          <p:cNvPr id="14" name="Shape 11"/>
          <p:cNvSpPr/>
          <p:nvPr/>
        </p:nvSpPr>
        <p:spPr>
          <a:xfrm>
            <a:off x="4221480" y="8252460"/>
            <a:ext cx="502920" cy="0"/>
          </a:xfrm>
          <a:prstGeom prst="line">
            <a:avLst/>
          </a:prstGeom>
          <a:noFill/>
          <a:ln w="16510">
            <a:solidFill>
              <a:srgbClr val="CADCFC"/>
            </a:solidFill>
            <a:prstDash val="solid"/>
            <a:tailEnd type="triangle"/>
          </a:ln>
        </p:spPr>
      </p:sp>
      <p:sp>
        <p:nvSpPr>
          <p:cNvPr id="15" name="Shape 12"/>
          <p:cNvSpPr/>
          <p:nvPr/>
        </p:nvSpPr>
        <p:spPr>
          <a:xfrm>
            <a:off x="4724400" y="7955280"/>
            <a:ext cx="1584960" cy="594360"/>
          </a:xfrm>
          <a:prstGeom prst="roundRect">
            <a:avLst>
              <a:gd name="adj" fmla="val 12308"/>
            </a:avLst>
          </a:prstGeom>
          <a:solidFill>
            <a:srgbClr val="273571"/>
          </a:solidFill>
          <a:ln w="16510">
            <a:solidFill>
              <a:srgbClr val="CADCFC"/>
            </a:solidFill>
            <a:prstDash val="solid"/>
          </a:ln>
        </p:spPr>
      </p:sp>
      <p:sp>
        <p:nvSpPr>
          <p:cNvPr id="16" name="Text 13"/>
          <p:cNvSpPr txBox="1"/>
          <p:nvPr/>
        </p:nvSpPr>
        <p:spPr>
          <a:xfrm>
            <a:off x="4724400" y="7955280"/>
            <a:ext cx="1584960" cy="594360"/>
          </a:xfrm>
          <a:prstGeom prst="rect">
            <a:avLst/>
          </a:prstGeom>
          <a:noFill/>
          <a:ln/>
        </p:spPr>
        <p:txBody>
          <a:bodyPr wrap="square" lIns="0" tIns="0" rIns="0" bIns="0" rtlCol="0" anchor="ctr"/>
          <a:lstStyle/>
          <a:p>
            <a:pPr algn="ctr" indent="0" marL="0">
              <a:buNone/>
            </a:pPr>
            <a:r>
              <a:rPr lang="en-US" sz="1300" b="1" dirty="0">
                <a:solidFill>
                  <a:srgbClr val="FFC857"/>
                </a:solidFill>
                <a:latin typeface="Arial" pitchFamily="34" charset="0"/>
                <a:ea typeface="Arial" pitchFamily="34" charset="-122"/>
                <a:cs typeface="Arial" pitchFamily="34" charset="-120"/>
              </a:rPr>
              <a:t>Observe</a:t>
            </a:r>
            <a:endParaRPr lang="en-US" sz="1300" dirty="0"/>
          </a:p>
        </p:txBody>
      </p:sp>
      <p:sp>
        <p:nvSpPr>
          <p:cNvPr id="17" name="Text 14"/>
          <p:cNvSpPr txBox="1"/>
          <p:nvPr/>
        </p:nvSpPr>
        <p:spPr>
          <a:xfrm>
            <a:off x="548640" y="8869680"/>
            <a:ext cx="5760720" cy="457200"/>
          </a:xfrm>
          <a:prstGeom prst="rect">
            <a:avLst/>
          </a:prstGeom>
          <a:noFill/>
          <a:ln/>
        </p:spPr>
        <p:txBody>
          <a:bodyPr wrap="square" lIns="0" tIns="0" rIns="0" bIns="0" rtlCol="0" anchor="ctr"/>
          <a:lstStyle/>
          <a:p>
            <a:pPr algn="ctr" indent="0" marL="0">
              <a:buNone/>
            </a:pPr>
            <a:r>
              <a:rPr lang="en-US" sz="1300" i="1" dirty="0">
                <a:solidFill>
                  <a:srgbClr val="8C9BD6"/>
                </a:solidFill>
                <a:latin typeface="Cambria" pitchFamily="34" charset="0"/>
                <a:ea typeface="Cambria" pitchFamily="34" charset="-122"/>
                <a:cs typeface="Cambria" pitchFamily="34" charset="-120"/>
              </a:rPr>
              <a:t>↻  repeats until the task is done</a:t>
            </a:r>
            <a:endParaRPr lang="en-US" sz="1300" dirty="0"/>
          </a:p>
        </p:txBody>
      </p:sp>
      <p:sp>
        <p:nvSpPr>
          <p:cNvPr id="18" name="Text 1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35 / 58</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36</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Agent Harness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The scaffolding that lets an agent run in the real world.</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An agent harness is the surrounding system — tool access, permissions, execution environment, safety checks — that lets a raw model behave as a reliable, controlled agent.</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3429000" y="8503920"/>
            <a:ext cx="0" cy="502920"/>
          </a:xfrm>
          <a:prstGeom prst="line">
            <a:avLst/>
          </a:prstGeom>
          <a:noFill/>
          <a:ln w="16510">
            <a:solidFill>
              <a:srgbClr val="CADCFC"/>
            </a:solidFill>
            <a:prstDash val="solid"/>
          </a:ln>
        </p:spPr>
      </p:sp>
      <p:sp>
        <p:nvSpPr>
          <p:cNvPr id="11" name="Shape 8"/>
          <p:cNvSpPr/>
          <p:nvPr/>
        </p:nvSpPr>
        <p:spPr>
          <a:xfrm>
            <a:off x="3429000" y="8503920"/>
            <a:ext cx="2596896" cy="502920"/>
          </a:xfrm>
          <a:prstGeom prst="line">
            <a:avLst/>
          </a:prstGeom>
          <a:noFill/>
          <a:ln w="16510">
            <a:solidFill>
              <a:srgbClr val="CADCFC"/>
            </a:solidFill>
            <a:prstDash val="solid"/>
          </a:ln>
        </p:spPr>
      </p:sp>
      <p:sp>
        <p:nvSpPr>
          <p:cNvPr id="12" name="Shape 9"/>
          <p:cNvSpPr/>
          <p:nvPr/>
        </p:nvSpPr>
        <p:spPr>
          <a:xfrm>
            <a:off x="2971800" y="7589520"/>
            <a:ext cx="914400" cy="914400"/>
          </a:xfrm>
          <a:prstGeom prst="ellipse">
            <a:avLst/>
          </a:prstGeom>
          <a:solidFill>
            <a:srgbClr val="FFC857"/>
          </a:solidFill>
          <a:ln/>
        </p:spPr>
      </p:sp>
      <p:sp>
        <p:nvSpPr>
          <p:cNvPr id="13" name="Text 10"/>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Model</a:t>
            </a:r>
            <a:endParaRPr lang="en-US" sz="1150" dirty="0"/>
          </a:p>
        </p:txBody>
      </p:sp>
      <p:sp>
        <p:nvSpPr>
          <p:cNvPr id="14" name="Shape 11"/>
          <p:cNvSpPr/>
          <p:nvPr/>
        </p:nvSpPr>
        <p:spPr>
          <a:xfrm>
            <a:off x="548640" y="9006840"/>
            <a:ext cx="566928" cy="566928"/>
          </a:xfrm>
          <a:prstGeom prst="ellipse">
            <a:avLst/>
          </a:prstGeom>
          <a:solidFill>
            <a:srgbClr val="273571"/>
          </a:solidFill>
          <a:ln w="16510">
            <a:solidFill>
              <a:srgbClr val="CADCFC"/>
            </a:solidFill>
            <a:prstDash val="solid"/>
          </a:ln>
        </p:spPr>
      </p:sp>
      <p:sp>
        <p:nvSpPr>
          <p:cNvPr id="15" name="Text 12"/>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Tool Access</a:t>
            </a:r>
            <a:endParaRPr lang="en-US" sz="1000" dirty="0"/>
          </a:p>
        </p:txBody>
      </p:sp>
      <p:sp>
        <p:nvSpPr>
          <p:cNvPr id="16" name="Shape 13"/>
          <p:cNvSpPr/>
          <p:nvPr/>
        </p:nvSpPr>
        <p:spPr>
          <a:xfrm>
            <a:off x="3145536" y="9006840"/>
            <a:ext cx="566928" cy="566928"/>
          </a:xfrm>
          <a:prstGeom prst="ellipse">
            <a:avLst/>
          </a:prstGeom>
          <a:solidFill>
            <a:srgbClr val="273571"/>
          </a:solidFill>
          <a:ln w="16510">
            <a:solidFill>
              <a:srgbClr val="CADCFC"/>
            </a:solidFill>
            <a:prstDash val="solid"/>
          </a:ln>
        </p:spPr>
      </p:sp>
      <p:sp>
        <p:nvSpPr>
          <p:cNvPr id="17" name="Text 14"/>
          <p:cNvSpPr txBox="1"/>
          <p:nvPr/>
        </p:nvSpPr>
        <p:spPr>
          <a:xfrm>
            <a:off x="2871216"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Permissions</a:t>
            </a:r>
            <a:endParaRPr lang="en-US" sz="1000" dirty="0"/>
          </a:p>
        </p:txBody>
      </p:sp>
      <p:sp>
        <p:nvSpPr>
          <p:cNvPr id="18" name="Shape 15"/>
          <p:cNvSpPr/>
          <p:nvPr/>
        </p:nvSpPr>
        <p:spPr>
          <a:xfrm>
            <a:off x="5742432" y="9006840"/>
            <a:ext cx="566928" cy="566928"/>
          </a:xfrm>
          <a:prstGeom prst="ellipse">
            <a:avLst/>
          </a:prstGeom>
          <a:solidFill>
            <a:srgbClr val="273571"/>
          </a:solidFill>
          <a:ln w="16510">
            <a:solidFill>
              <a:srgbClr val="CADCFC"/>
            </a:solidFill>
            <a:prstDash val="solid"/>
          </a:ln>
        </p:spPr>
      </p:sp>
      <p:sp>
        <p:nvSpPr>
          <p:cNvPr id="19" name="Text 16"/>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Safety Checks</a:t>
            </a:r>
            <a:endParaRPr lang="en-US" sz="100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36 / 58</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37</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Vector DB Tools — Pinecone, FAISS, Weaviate</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Different engines, same job: meaning-based search.</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Pinecone, FAISS, and Weaviate are popular vector database engines used to store embeddings and run fast similarity search — differing mainly in hosting, scale, and features.</a:t>
            </a:r>
            <a:endParaRPr lang="en-US" sz="1900" dirty="0"/>
          </a:p>
        </p:txBody>
      </p:sp>
      <p:sp>
        <p:nvSpPr>
          <p:cNvPr id="9" name="Shape 6"/>
          <p:cNvSpPr/>
          <p:nvPr/>
        </p:nvSpPr>
        <p:spPr>
          <a:xfrm>
            <a:off x="548640" y="7772400"/>
            <a:ext cx="1737360" cy="822960"/>
          </a:xfrm>
          <a:prstGeom prst="roundRect">
            <a:avLst>
              <a:gd name="adj" fmla="val 7778"/>
            </a:avLst>
          </a:prstGeom>
          <a:solidFill>
            <a:srgbClr val="273571"/>
          </a:solidFill>
          <a:ln w="16510">
            <a:solidFill>
              <a:srgbClr val="CADCFC"/>
            </a:solidFill>
            <a:prstDash val="solid"/>
          </a:ln>
        </p:spPr>
      </p:sp>
      <p:sp>
        <p:nvSpPr>
          <p:cNvPr id="10" name="Text 7"/>
          <p:cNvSpPr txBox="1"/>
          <p:nvPr/>
        </p:nvSpPr>
        <p:spPr>
          <a:xfrm>
            <a:off x="594360" y="7772400"/>
            <a:ext cx="1645920" cy="822960"/>
          </a:xfrm>
          <a:prstGeom prst="rect">
            <a:avLst/>
          </a:prstGeom>
          <a:noFill/>
          <a:ln/>
        </p:spPr>
        <p:txBody>
          <a:bodyPr wrap="square" lIns="0" tIns="0" rIns="0" bIns="0" rtlCol="0" anchor="ctr"/>
          <a:lstStyle/>
          <a:p>
            <a:pPr algn="ctr" indent="0" marL="0">
              <a:buNone/>
            </a:pPr>
            <a:r>
              <a:rPr lang="en-US" sz="1250" b="1" dirty="0">
                <a:solidFill>
                  <a:srgbClr val="FFC857"/>
                </a:solidFill>
                <a:latin typeface="Arial" pitchFamily="34" charset="0"/>
                <a:ea typeface="Arial" pitchFamily="34" charset="-122"/>
                <a:cs typeface="Arial" pitchFamily="34" charset="-120"/>
              </a:rPr>
              <a:t>Pinecone</a:t>
            </a:r>
            <a:endParaRPr lang="en-US" sz="1250" dirty="0"/>
          </a:p>
        </p:txBody>
      </p:sp>
      <p:sp>
        <p:nvSpPr>
          <p:cNvPr id="11" name="Text 8"/>
          <p:cNvSpPr txBox="1"/>
          <p:nvPr/>
        </p:nvSpPr>
        <p:spPr>
          <a:xfrm>
            <a:off x="457200" y="8705088"/>
            <a:ext cx="1920240" cy="45720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Managed cloud</a:t>
            </a:r>
            <a:endParaRPr lang="en-US" sz="950" dirty="0"/>
          </a:p>
        </p:txBody>
      </p:sp>
      <p:sp>
        <p:nvSpPr>
          <p:cNvPr id="12" name="Shape 9"/>
          <p:cNvSpPr/>
          <p:nvPr/>
        </p:nvSpPr>
        <p:spPr>
          <a:xfrm>
            <a:off x="2560320" y="7772400"/>
            <a:ext cx="1737360" cy="822960"/>
          </a:xfrm>
          <a:prstGeom prst="roundRect">
            <a:avLst>
              <a:gd name="adj" fmla="val 7778"/>
            </a:avLst>
          </a:prstGeom>
          <a:solidFill>
            <a:srgbClr val="273571"/>
          </a:solidFill>
          <a:ln w="16510">
            <a:solidFill>
              <a:srgbClr val="CADCFC"/>
            </a:solidFill>
            <a:prstDash val="solid"/>
          </a:ln>
        </p:spPr>
      </p:sp>
      <p:sp>
        <p:nvSpPr>
          <p:cNvPr id="13" name="Text 10"/>
          <p:cNvSpPr txBox="1"/>
          <p:nvPr/>
        </p:nvSpPr>
        <p:spPr>
          <a:xfrm>
            <a:off x="2606040" y="7772400"/>
            <a:ext cx="1645920" cy="822960"/>
          </a:xfrm>
          <a:prstGeom prst="rect">
            <a:avLst/>
          </a:prstGeom>
          <a:noFill/>
          <a:ln/>
        </p:spPr>
        <p:txBody>
          <a:bodyPr wrap="square" lIns="0" tIns="0" rIns="0" bIns="0" rtlCol="0" anchor="ctr"/>
          <a:lstStyle/>
          <a:p>
            <a:pPr algn="ctr" indent="0" marL="0">
              <a:buNone/>
            </a:pPr>
            <a:r>
              <a:rPr lang="en-US" sz="1250" b="1" dirty="0">
                <a:solidFill>
                  <a:srgbClr val="FFC857"/>
                </a:solidFill>
                <a:latin typeface="Arial" pitchFamily="34" charset="0"/>
                <a:ea typeface="Arial" pitchFamily="34" charset="-122"/>
                <a:cs typeface="Arial" pitchFamily="34" charset="-120"/>
              </a:rPr>
              <a:t>FAISS</a:t>
            </a:r>
            <a:endParaRPr lang="en-US" sz="1250" dirty="0"/>
          </a:p>
        </p:txBody>
      </p:sp>
      <p:sp>
        <p:nvSpPr>
          <p:cNvPr id="14" name="Text 11"/>
          <p:cNvSpPr txBox="1"/>
          <p:nvPr/>
        </p:nvSpPr>
        <p:spPr>
          <a:xfrm>
            <a:off x="2468880" y="8705088"/>
            <a:ext cx="1920240" cy="45720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In-memory, local</a:t>
            </a:r>
            <a:endParaRPr lang="en-US" sz="950" dirty="0"/>
          </a:p>
        </p:txBody>
      </p:sp>
      <p:sp>
        <p:nvSpPr>
          <p:cNvPr id="15" name="Shape 12"/>
          <p:cNvSpPr/>
          <p:nvPr/>
        </p:nvSpPr>
        <p:spPr>
          <a:xfrm>
            <a:off x="4572000" y="7772400"/>
            <a:ext cx="1737360" cy="822960"/>
          </a:xfrm>
          <a:prstGeom prst="roundRect">
            <a:avLst>
              <a:gd name="adj" fmla="val 7778"/>
            </a:avLst>
          </a:prstGeom>
          <a:solidFill>
            <a:srgbClr val="273571"/>
          </a:solidFill>
          <a:ln w="16510">
            <a:solidFill>
              <a:srgbClr val="CADCFC"/>
            </a:solidFill>
            <a:prstDash val="solid"/>
          </a:ln>
        </p:spPr>
      </p:sp>
      <p:sp>
        <p:nvSpPr>
          <p:cNvPr id="16" name="Text 13"/>
          <p:cNvSpPr txBox="1"/>
          <p:nvPr/>
        </p:nvSpPr>
        <p:spPr>
          <a:xfrm>
            <a:off x="4617720" y="7772400"/>
            <a:ext cx="1645920" cy="822960"/>
          </a:xfrm>
          <a:prstGeom prst="rect">
            <a:avLst/>
          </a:prstGeom>
          <a:noFill/>
          <a:ln/>
        </p:spPr>
        <p:txBody>
          <a:bodyPr wrap="square" lIns="0" tIns="0" rIns="0" bIns="0" rtlCol="0" anchor="ctr"/>
          <a:lstStyle/>
          <a:p>
            <a:pPr algn="ctr" indent="0" marL="0">
              <a:buNone/>
            </a:pPr>
            <a:r>
              <a:rPr lang="en-US" sz="1250" b="1" dirty="0">
                <a:solidFill>
                  <a:srgbClr val="FFC857"/>
                </a:solidFill>
                <a:latin typeface="Arial" pitchFamily="34" charset="0"/>
                <a:ea typeface="Arial" pitchFamily="34" charset="-122"/>
                <a:cs typeface="Arial" pitchFamily="34" charset="-120"/>
              </a:rPr>
              <a:t>Weaviate</a:t>
            </a:r>
            <a:endParaRPr lang="en-US" sz="1250" dirty="0"/>
          </a:p>
        </p:txBody>
      </p:sp>
      <p:sp>
        <p:nvSpPr>
          <p:cNvPr id="17" name="Text 14"/>
          <p:cNvSpPr txBox="1"/>
          <p:nvPr/>
        </p:nvSpPr>
        <p:spPr>
          <a:xfrm>
            <a:off x="4480560" y="8705088"/>
            <a:ext cx="1920240" cy="45720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Open-source, self-host</a:t>
            </a:r>
            <a:endParaRPr lang="en-US" sz="950" dirty="0"/>
          </a:p>
        </p:txBody>
      </p:sp>
      <p:sp>
        <p:nvSpPr>
          <p:cNvPr id="18" name="Text 1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37 / 58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38</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Groundedness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Making sure the answer is actually backed by real data.</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Groundedness measures whether a model's response is genuinely supported by the retrieved or provided source data, rather than invented — a key metric for trustworthy RAG.</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Retrieved</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Source</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Compare to</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Answer</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Grounded ✓</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38 / 58</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39</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Prompt Injection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When the data being read tries to hijack the model.</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Prompt injection is an attack where malicious text hidden in a document, webpage, or input tricks a model into ignoring its original instructions — a top concern for agents that read external content.</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Hidden Instruction</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in Document</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Model</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Reads It</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 Hijacked</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Behaviour</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39 / 58</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40</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Accuracy &amp; Evaluation Metrics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You can't improve what you don't measure.</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Evaluating an AI system means systematically measuring accuracy, groundedness, and relevance against test cases — essential before trusting a model in production.</a:t>
            </a:r>
            <a:endParaRPr lang="en-US" sz="1900" dirty="0"/>
          </a:p>
        </p:txBody>
      </p:sp>
      <p:sp>
        <p:nvSpPr>
          <p:cNvPr id="9" name="Shape 6"/>
          <p:cNvSpPr/>
          <p:nvPr/>
        </p:nvSpPr>
        <p:spPr>
          <a:xfrm>
            <a:off x="548640" y="8145475"/>
            <a:ext cx="640080" cy="998525"/>
          </a:xfrm>
          <a:prstGeom prst="rect">
            <a:avLst/>
          </a:prstGeom>
          <a:solidFill>
            <a:srgbClr val="FFC857"/>
          </a:solidFill>
          <a:ln/>
        </p:spPr>
      </p:sp>
      <p:sp>
        <p:nvSpPr>
          <p:cNvPr id="10" name="Text 7"/>
          <p:cNvSpPr txBox="1"/>
          <p:nvPr/>
        </p:nvSpPr>
        <p:spPr>
          <a:xfrm>
            <a:off x="411480" y="7852867"/>
            <a:ext cx="914400" cy="274320"/>
          </a:xfrm>
          <a:prstGeom prst="rect">
            <a:avLst/>
          </a:prstGeom>
          <a:noFill/>
          <a:ln/>
        </p:spPr>
        <p:txBody>
          <a:bodyPr wrap="square" lIns="0" tIns="0" rIns="0" bIns="0" rtlCol="0" anchor="ctr"/>
          <a:lstStyle/>
          <a:p>
            <a:pPr algn="ctr" indent="0" marL="0">
              <a:buNone/>
            </a:pPr>
            <a:r>
              <a:rPr lang="en-US" sz="1100" b="1" dirty="0">
                <a:solidFill>
                  <a:srgbClr val="FFC857"/>
                </a:solidFill>
                <a:latin typeface="Arial" pitchFamily="34" charset="0"/>
                <a:ea typeface="Arial" pitchFamily="34" charset="-122"/>
                <a:cs typeface="Arial" pitchFamily="34" charset="-120"/>
              </a:rPr>
              <a:t>78%</a:t>
            </a:r>
            <a:endParaRPr lang="en-US" sz="1100" dirty="0"/>
          </a:p>
        </p:txBody>
      </p:sp>
      <p:sp>
        <p:nvSpPr>
          <p:cNvPr id="11" name="Text 8"/>
          <p:cNvSpPr txBox="1"/>
          <p:nvPr/>
        </p:nvSpPr>
        <p:spPr>
          <a:xfrm>
            <a:off x="274320" y="9235440"/>
            <a:ext cx="118872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Accuracy</a:t>
            </a:r>
            <a:endParaRPr lang="en-US" sz="1050" dirty="0"/>
          </a:p>
        </p:txBody>
      </p:sp>
      <p:sp>
        <p:nvSpPr>
          <p:cNvPr id="12" name="Shape 9"/>
          <p:cNvSpPr/>
          <p:nvPr/>
        </p:nvSpPr>
        <p:spPr>
          <a:xfrm>
            <a:off x="3108960" y="8055864"/>
            <a:ext cx="640080" cy="1088136"/>
          </a:xfrm>
          <a:prstGeom prst="rect">
            <a:avLst/>
          </a:prstGeom>
          <a:solidFill>
            <a:srgbClr val="FFC857"/>
          </a:solidFill>
          <a:ln/>
        </p:spPr>
      </p:sp>
      <p:sp>
        <p:nvSpPr>
          <p:cNvPr id="13" name="Text 10"/>
          <p:cNvSpPr txBox="1"/>
          <p:nvPr/>
        </p:nvSpPr>
        <p:spPr>
          <a:xfrm>
            <a:off x="2971800" y="7763256"/>
            <a:ext cx="914400" cy="274320"/>
          </a:xfrm>
          <a:prstGeom prst="rect">
            <a:avLst/>
          </a:prstGeom>
          <a:noFill/>
          <a:ln/>
        </p:spPr>
        <p:txBody>
          <a:bodyPr wrap="square" lIns="0" tIns="0" rIns="0" bIns="0" rtlCol="0" anchor="ctr"/>
          <a:lstStyle/>
          <a:p>
            <a:pPr algn="ctr" indent="0" marL="0">
              <a:buNone/>
            </a:pPr>
            <a:r>
              <a:rPr lang="en-US" sz="1100" b="1" dirty="0">
                <a:solidFill>
                  <a:srgbClr val="FFC857"/>
                </a:solidFill>
                <a:latin typeface="Arial" pitchFamily="34" charset="0"/>
                <a:ea typeface="Arial" pitchFamily="34" charset="-122"/>
                <a:cs typeface="Arial" pitchFamily="34" charset="-120"/>
              </a:rPr>
              <a:t>85%</a:t>
            </a:r>
            <a:endParaRPr lang="en-US" sz="1100" dirty="0"/>
          </a:p>
        </p:txBody>
      </p:sp>
      <p:sp>
        <p:nvSpPr>
          <p:cNvPr id="14" name="Text 11"/>
          <p:cNvSpPr txBox="1"/>
          <p:nvPr/>
        </p:nvSpPr>
        <p:spPr>
          <a:xfrm>
            <a:off x="2834640" y="9235440"/>
            <a:ext cx="118872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Grounded</a:t>
            </a:r>
            <a:endParaRPr lang="en-US" sz="1050" dirty="0"/>
          </a:p>
        </p:txBody>
      </p:sp>
      <p:sp>
        <p:nvSpPr>
          <p:cNvPr id="15" name="Shape 12"/>
          <p:cNvSpPr/>
          <p:nvPr/>
        </p:nvSpPr>
        <p:spPr>
          <a:xfrm>
            <a:off x="5669280" y="8247888"/>
            <a:ext cx="640080" cy="896112"/>
          </a:xfrm>
          <a:prstGeom prst="rect">
            <a:avLst/>
          </a:prstGeom>
          <a:solidFill>
            <a:srgbClr val="FFC857"/>
          </a:solidFill>
          <a:ln/>
        </p:spPr>
      </p:sp>
      <p:sp>
        <p:nvSpPr>
          <p:cNvPr id="16" name="Text 13"/>
          <p:cNvSpPr txBox="1"/>
          <p:nvPr/>
        </p:nvSpPr>
        <p:spPr>
          <a:xfrm>
            <a:off x="5532120" y="7955280"/>
            <a:ext cx="914400" cy="274320"/>
          </a:xfrm>
          <a:prstGeom prst="rect">
            <a:avLst/>
          </a:prstGeom>
          <a:noFill/>
          <a:ln/>
        </p:spPr>
        <p:txBody>
          <a:bodyPr wrap="square" lIns="0" tIns="0" rIns="0" bIns="0" rtlCol="0" anchor="ctr"/>
          <a:lstStyle/>
          <a:p>
            <a:pPr algn="ctr" indent="0" marL="0">
              <a:buNone/>
            </a:pPr>
            <a:r>
              <a:rPr lang="en-US" sz="1100" b="1" dirty="0">
                <a:solidFill>
                  <a:srgbClr val="FFC857"/>
                </a:solidFill>
                <a:latin typeface="Arial" pitchFamily="34" charset="0"/>
                <a:ea typeface="Arial" pitchFamily="34" charset="-122"/>
                <a:cs typeface="Arial" pitchFamily="34" charset="-120"/>
              </a:rPr>
              <a:t>70%</a:t>
            </a:r>
            <a:endParaRPr lang="en-US" sz="1100" dirty="0"/>
          </a:p>
        </p:txBody>
      </p:sp>
      <p:sp>
        <p:nvSpPr>
          <p:cNvPr id="17" name="Text 14"/>
          <p:cNvSpPr txBox="1"/>
          <p:nvPr/>
        </p:nvSpPr>
        <p:spPr>
          <a:xfrm>
            <a:off x="5394960" y="9235440"/>
            <a:ext cx="1188720"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Relevance</a:t>
            </a:r>
            <a:endParaRPr lang="en-US" sz="1050" dirty="0"/>
          </a:p>
        </p:txBody>
      </p:sp>
      <p:sp>
        <p:nvSpPr>
          <p:cNvPr id="18" name="Shape 15"/>
          <p:cNvSpPr/>
          <p:nvPr/>
        </p:nvSpPr>
        <p:spPr>
          <a:xfrm>
            <a:off x="548640" y="9144000"/>
            <a:ext cx="5760720" cy="0"/>
          </a:xfrm>
          <a:prstGeom prst="line">
            <a:avLst/>
          </a:prstGeom>
          <a:noFill/>
          <a:ln w="9525">
            <a:solidFill>
              <a:srgbClr val="CADCFC"/>
            </a:solidFill>
            <a:prstDash val="solid"/>
          </a:ln>
        </p:spPr>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40 / 58</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41</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AI Security by Design</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Guardrails built in from day one, not bolted on later.</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Designing for AI security means addressing risks like prompt injection, data leakage, and unsafe tool access at the architecture stage — access controls and monitoring from the start.</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3429000" y="8503920"/>
            <a:ext cx="0" cy="502920"/>
          </a:xfrm>
          <a:prstGeom prst="line">
            <a:avLst/>
          </a:prstGeom>
          <a:noFill/>
          <a:ln w="16510">
            <a:solidFill>
              <a:srgbClr val="CADCFC"/>
            </a:solidFill>
            <a:prstDash val="solid"/>
          </a:ln>
        </p:spPr>
      </p:sp>
      <p:sp>
        <p:nvSpPr>
          <p:cNvPr id="11" name="Shape 8"/>
          <p:cNvSpPr/>
          <p:nvPr/>
        </p:nvSpPr>
        <p:spPr>
          <a:xfrm>
            <a:off x="3429000" y="8503920"/>
            <a:ext cx="2596896" cy="502920"/>
          </a:xfrm>
          <a:prstGeom prst="line">
            <a:avLst/>
          </a:prstGeom>
          <a:noFill/>
          <a:ln w="16510">
            <a:solidFill>
              <a:srgbClr val="CADCFC"/>
            </a:solidFill>
            <a:prstDash val="solid"/>
          </a:ln>
        </p:spPr>
      </p:sp>
      <p:sp>
        <p:nvSpPr>
          <p:cNvPr id="12" name="Shape 9"/>
          <p:cNvSpPr/>
          <p:nvPr/>
        </p:nvSpPr>
        <p:spPr>
          <a:xfrm>
            <a:off x="2971800" y="7589520"/>
            <a:ext cx="914400" cy="914400"/>
          </a:xfrm>
          <a:prstGeom prst="ellipse">
            <a:avLst/>
          </a:prstGeom>
          <a:solidFill>
            <a:srgbClr val="FFC857"/>
          </a:solidFill>
          <a:ln/>
        </p:spPr>
      </p:sp>
      <p:sp>
        <p:nvSpPr>
          <p:cNvPr id="13" name="Text 10"/>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System</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Core</a:t>
            </a:r>
            <a:endParaRPr lang="en-US" sz="1150" dirty="0"/>
          </a:p>
        </p:txBody>
      </p:sp>
      <p:sp>
        <p:nvSpPr>
          <p:cNvPr id="14" name="Shape 11"/>
          <p:cNvSpPr/>
          <p:nvPr/>
        </p:nvSpPr>
        <p:spPr>
          <a:xfrm>
            <a:off x="548640" y="9006840"/>
            <a:ext cx="566928" cy="566928"/>
          </a:xfrm>
          <a:prstGeom prst="ellipse">
            <a:avLst/>
          </a:prstGeom>
          <a:solidFill>
            <a:srgbClr val="273571"/>
          </a:solidFill>
          <a:ln w="16510">
            <a:solidFill>
              <a:srgbClr val="CADCFC"/>
            </a:solidFill>
            <a:prstDash val="solid"/>
          </a:ln>
        </p:spPr>
      </p:sp>
      <p:sp>
        <p:nvSpPr>
          <p:cNvPr id="15" name="Text 12"/>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Access Control</a:t>
            </a:r>
            <a:endParaRPr lang="en-US" sz="1000" dirty="0"/>
          </a:p>
        </p:txBody>
      </p:sp>
      <p:sp>
        <p:nvSpPr>
          <p:cNvPr id="16" name="Shape 13"/>
          <p:cNvSpPr/>
          <p:nvPr/>
        </p:nvSpPr>
        <p:spPr>
          <a:xfrm>
            <a:off x="3145536" y="9006840"/>
            <a:ext cx="566928" cy="566928"/>
          </a:xfrm>
          <a:prstGeom prst="ellipse">
            <a:avLst/>
          </a:prstGeom>
          <a:solidFill>
            <a:srgbClr val="273571"/>
          </a:solidFill>
          <a:ln w="16510">
            <a:solidFill>
              <a:srgbClr val="CADCFC"/>
            </a:solidFill>
            <a:prstDash val="solid"/>
          </a:ln>
        </p:spPr>
      </p:sp>
      <p:sp>
        <p:nvSpPr>
          <p:cNvPr id="17" name="Text 14"/>
          <p:cNvSpPr txBox="1"/>
          <p:nvPr/>
        </p:nvSpPr>
        <p:spPr>
          <a:xfrm>
            <a:off x="2871216"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Sandboxing</a:t>
            </a:r>
            <a:endParaRPr lang="en-US" sz="1000" dirty="0"/>
          </a:p>
        </p:txBody>
      </p:sp>
      <p:sp>
        <p:nvSpPr>
          <p:cNvPr id="18" name="Shape 15"/>
          <p:cNvSpPr/>
          <p:nvPr/>
        </p:nvSpPr>
        <p:spPr>
          <a:xfrm>
            <a:off x="5742432" y="9006840"/>
            <a:ext cx="566928" cy="566928"/>
          </a:xfrm>
          <a:prstGeom prst="ellipse">
            <a:avLst/>
          </a:prstGeom>
          <a:solidFill>
            <a:srgbClr val="273571"/>
          </a:solidFill>
          <a:ln w="16510">
            <a:solidFill>
              <a:srgbClr val="CADCFC"/>
            </a:solidFill>
            <a:prstDash val="solid"/>
          </a:ln>
        </p:spPr>
      </p:sp>
      <p:sp>
        <p:nvSpPr>
          <p:cNvPr id="19" name="Text 16"/>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Monitoring</a:t>
            </a:r>
            <a:endParaRPr lang="en-US" sz="100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41 / 58</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42</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Securing AI Agents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An agent that can act needs tighter guardrails than one that only talks.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Securing an AI agent means constraining what tools or actions it can take, validating inputs and outputs, logging every action, and requiring approval for high-risk steps.</a:t>
            </a:r>
            <a:endParaRPr lang="en-US" sz="1900" dirty="0"/>
          </a:p>
        </p:txBody>
      </p:sp>
      <p:sp>
        <p:nvSpPr>
          <p:cNvPr id="9" name="Shape 6"/>
          <p:cNvSpPr/>
          <p:nvPr/>
        </p:nvSpPr>
        <p:spPr>
          <a:xfrm>
            <a:off x="832104" y="8503920"/>
            <a:ext cx="2596896" cy="502920"/>
          </a:xfrm>
          <a:prstGeom prst="line">
            <a:avLst/>
          </a:prstGeom>
          <a:noFill/>
          <a:ln w="16510">
            <a:solidFill>
              <a:srgbClr val="CADCFC"/>
            </a:solidFill>
            <a:prstDash val="solid"/>
          </a:ln>
        </p:spPr>
      </p:sp>
      <p:sp>
        <p:nvSpPr>
          <p:cNvPr id="10" name="Shape 7"/>
          <p:cNvSpPr/>
          <p:nvPr/>
        </p:nvSpPr>
        <p:spPr>
          <a:xfrm>
            <a:off x="3429000" y="8503920"/>
            <a:ext cx="0" cy="502920"/>
          </a:xfrm>
          <a:prstGeom prst="line">
            <a:avLst/>
          </a:prstGeom>
          <a:noFill/>
          <a:ln w="16510">
            <a:solidFill>
              <a:srgbClr val="CADCFC"/>
            </a:solidFill>
            <a:prstDash val="solid"/>
          </a:ln>
        </p:spPr>
      </p:sp>
      <p:sp>
        <p:nvSpPr>
          <p:cNvPr id="11" name="Shape 8"/>
          <p:cNvSpPr/>
          <p:nvPr/>
        </p:nvSpPr>
        <p:spPr>
          <a:xfrm>
            <a:off x="3429000" y="8503920"/>
            <a:ext cx="2596896" cy="502920"/>
          </a:xfrm>
          <a:prstGeom prst="line">
            <a:avLst/>
          </a:prstGeom>
          <a:noFill/>
          <a:ln w="16510">
            <a:solidFill>
              <a:srgbClr val="CADCFC"/>
            </a:solidFill>
            <a:prstDash val="solid"/>
          </a:ln>
        </p:spPr>
      </p:sp>
      <p:sp>
        <p:nvSpPr>
          <p:cNvPr id="12" name="Shape 9"/>
          <p:cNvSpPr/>
          <p:nvPr/>
        </p:nvSpPr>
        <p:spPr>
          <a:xfrm>
            <a:off x="2971800" y="7589520"/>
            <a:ext cx="914400" cy="914400"/>
          </a:xfrm>
          <a:prstGeom prst="ellipse">
            <a:avLst/>
          </a:prstGeom>
          <a:solidFill>
            <a:srgbClr val="FFC857"/>
          </a:solidFill>
          <a:ln/>
        </p:spPr>
      </p:sp>
      <p:sp>
        <p:nvSpPr>
          <p:cNvPr id="13" name="Text 10"/>
          <p:cNvSpPr txBox="1"/>
          <p:nvPr/>
        </p:nvSpPr>
        <p:spPr>
          <a:xfrm>
            <a:off x="2697480" y="7589520"/>
            <a:ext cx="146304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Agent</a:t>
            </a:r>
            <a:endParaRPr lang="en-US" sz="1150" dirty="0"/>
          </a:p>
        </p:txBody>
      </p:sp>
      <p:sp>
        <p:nvSpPr>
          <p:cNvPr id="14" name="Shape 11"/>
          <p:cNvSpPr/>
          <p:nvPr/>
        </p:nvSpPr>
        <p:spPr>
          <a:xfrm>
            <a:off x="548640" y="9006840"/>
            <a:ext cx="566928" cy="566928"/>
          </a:xfrm>
          <a:prstGeom prst="ellipse">
            <a:avLst/>
          </a:prstGeom>
          <a:solidFill>
            <a:srgbClr val="273571"/>
          </a:solidFill>
          <a:ln w="16510">
            <a:solidFill>
              <a:srgbClr val="CADCFC"/>
            </a:solidFill>
            <a:prstDash val="solid"/>
          </a:ln>
        </p:spPr>
      </p:sp>
      <p:sp>
        <p:nvSpPr>
          <p:cNvPr id="15" name="Text 12"/>
          <p:cNvSpPr txBox="1"/>
          <p:nvPr/>
        </p:nvSpPr>
        <p:spPr>
          <a:xfrm>
            <a:off x="274320"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Permissions</a:t>
            </a:r>
            <a:endParaRPr lang="en-US" sz="1000" dirty="0"/>
          </a:p>
        </p:txBody>
      </p:sp>
      <p:sp>
        <p:nvSpPr>
          <p:cNvPr id="16" name="Shape 13"/>
          <p:cNvSpPr/>
          <p:nvPr/>
        </p:nvSpPr>
        <p:spPr>
          <a:xfrm>
            <a:off x="3145536" y="9006840"/>
            <a:ext cx="566928" cy="566928"/>
          </a:xfrm>
          <a:prstGeom prst="ellipse">
            <a:avLst/>
          </a:prstGeom>
          <a:solidFill>
            <a:srgbClr val="273571"/>
          </a:solidFill>
          <a:ln w="16510">
            <a:solidFill>
              <a:srgbClr val="CADCFC"/>
            </a:solidFill>
            <a:prstDash val="solid"/>
          </a:ln>
        </p:spPr>
      </p:sp>
      <p:sp>
        <p:nvSpPr>
          <p:cNvPr id="17" name="Text 14"/>
          <p:cNvSpPr txBox="1"/>
          <p:nvPr/>
        </p:nvSpPr>
        <p:spPr>
          <a:xfrm>
            <a:off x="2871216"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Logging</a:t>
            </a:r>
            <a:endParaRPr lang="en-US" sz="1000" dirty="0"/>
          </a:p>
        </p:txBody>
      </p:sp>
      <p:sp>
        <p:nvSpPr>
          <p:cNvPr id="18" name="Shape 15"/>
          <p:cNvSpPr/>
          <p:nvPr/>
        </p:nvSpPr>
        <p:spPr>
          <a:xfrm>
            <a:off x="5742432" y="9006840"/>
            <a:ext cx="566928" cy="566928"/>
          </a:xfrm>
          <a:prstGeom prst="ellipse">
            <a:avLst/>
          </a:prstGeom>
          <a:solidFill>
            <a:srgbClr val="273571"/>
          </a:solidFill>
          <a:ln w="16510">
            <a:solidFill>
              <a:srgbClr val="CADCFC"/>
            </a:solidFill>
            <a:prstDash val="solid"/>
          </a:ln>
        </p:spPr>
      </p:sp>
      <p:sp>
        <p:nvSpPr>
          <p:cNvPr id="19" name="Text 16"/>
          <p:cNvSpPr txBox="1"/>
          <p:nvPr/>
        </p:nvSpPr>
        <p:spPr>
          <a:xfrm>
            <a:off x="5468112" y="9006840"/>
            <a:ext cx="1115568" cy="566928"/>
          </a:xfrm>
          <a:prstGeom prst="rect">
            <a:avLst/>
          </a:prstGeom>
          <a:noFill/>
          <a:ln/>
        </p:spPr>
        <p:txBody>
          <a:bodyPr wrap="square" lIns="0" tIns="0" rIns="0" bIns="0" rtlCol="0" anchor="ctr"/>
          <a:lstStyle/>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Human</a:t>
            </a:r>
            <a:endParaRPr lang="en-US" sz="1000" dirty="0"/>
          </a:p>
          <a:p>
            <a:pPr algn="ctr" indent="0" marL="0">
              <a:lnSpc>
                <a:spcPct val="100000"/>
              </a:lnSpc>
              <a:buNone/>
            </a:pPr>
            <a:r>
              <a:rPr lang="en-US" sz="1000" b="1" dirty="0">
                <a:solidFill>
                  <a:srgbClr val="CADCFC"/>
                </a:solidFill>
                <a:latin typeface="Arial" pitchFamily="34" charset="0"/>
                <a:ea typeface="Arial" pitchFamily="34" charset="-122"/>
                <a:cs typeface="Arial" pitchFamily="34" charset="-120"/>
              </a:rPr>
              <a:t>Approval</a:t>
            </a:r>
            <a:endParaRPr lang="en-US" sz="1000" dirty="0"/>
          </a:p>
        </p:txBody>
      </p:sp>
      <p:sp>
        <p:nvSpPr>
          <p:cNvPr id="20" name="Text 17"/>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42 / 58</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43</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OpenAI</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Enterprise-grade access to GPT models, inside your own Azure tenant.</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Azure OpenAI Service gives API access to OpenAI's GPT and embedding models, hosted within Azure with enterprise security, compliance, and regional data residency — the model layer behind most enterprise GenAI apps on Azure.</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Your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App</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Azure</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OpenAI</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GPT</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Response</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43 / 58</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44</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AI Foundry</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One workspace to build, evaluate, and deploy AI apps end-to-end.</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Azure AI Foundry is Microsoft's unified platform for building GenAI applications — model catalog, prompt engineering, evaluation, and deployment tools, all in one place.</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Build</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Evaluate</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Deploy</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44 / 58</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45</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AI Search</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The retrieval engine behind enterprise RAG on Azure.</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Azure AI Search indexes your documents with both keyword and vector search, and is the most common retrieval layer for RAG applications built on Azure.</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Documents</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AI Search</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Index</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Query</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Results</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45 / 58</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46</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AWS SageMaker</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Amazon's end-to-end factory for building and training ML models.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SageMaker is AWS's managed platform for building, training, tuning, and deploying machine learning models at scale, without managing the underlying infrastructure yourself.</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Data</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SageMaker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Training</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Deployed</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Endpoint</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46 / 58</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47</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AWS Bedrock</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One API for many foundation models, fully managed by AWS.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Bedrock gives serverless API access to foundation models from providers like Anthropic, Meta, and Amazon, without managing any infrastructure — AWS's answer to Azure OpenAI.</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Your</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App</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Bedrock</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API</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Foundation</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Model</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47 / 58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48</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Fine-Tuning an LLM — in Practice</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You don't need a GPU farm to customize a model anymore.</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Platforms like Azure OpenAI and AWS Bedrock offer managed fine-tuning — upload examples, kick off a job, and get a custom model endpoint, without building training infrastructure yourself.</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Upload</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Examples</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Managed</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Fine-Tune Job</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Custom Model</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Endpoint</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48 / 58</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49</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Storage (Blob)</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Cheap, durable storage for any file your AI system needs.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Azure Blob Storage holds unstructured data — documents, images, logs, model artifacts — at low cost and high durability, often the landing zone before documents are indexed for RAG.</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Files</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Blob</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Storage</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Indexed</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for RAG</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49 / 58</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50</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Cosmos DB</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A globally distributed database that scales without limits.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Cosmos DB is Azure's fully managed NoSQL database, offering global distribution and low-latency reads/writes — commonly used to store session state, chat history, or app data behind AI systems.</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App Reads</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 Writes</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Cosmos</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DB</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Globally</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Replicated</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50 / 58</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51</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Functions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Run code without managing a server, only when it's needed.</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Azure Functions is a serverless compute service that runs your code in response to events — a common way to wire lightweight automation and AI workflow steps without provisioning servers.</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Event</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Trigger</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Azure</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Function</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Action</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Executed</a:t>
            </a:r>
            <a:endParaRPr lang="en-US" sz="1150" dirty="0"/>
          </a:p>
        </p:txBody>
      </p:sp>
      <p:sp>
        <p:nvSpPr>
          <p:cNvPr id="17" name="Text 14"/>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51 / 58</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52</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Azure Logic Apps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Low-code workflow automation that connects hundreds of services.</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Logic Apps lets you visually design workflows that connect apps and services — approvals, notifications, data syncs — often used to orchestrate the ‘glue’ steps around an AI system.</a:t>
            </a:r>
            <a:endParaRPr lang="en-US" sz="1900" dirty="0"/>
          </a:p>
        </p:txBody>
      </p:sp>
      <p:sp>
        <p:nvSpPr>
          <p:cNvPr id="9" name="Shape 6"/>
          <p:cNvSpPr/>
          <p:nvPr/>
        </p:nvSpPr>
        <p:spPr>
          <a:xfrm>
            <a:off x="548640" y="8389620"/>
            <a:ext cx="1706880" cy="777240"/>
          </a:xfrm>
          <a:prstGeom prst="roundRect">
            <a:avLst>
              <a:gd name="adj" fmla="val 8235"/>
            </a:avLst>
          </a:prstGeom>
          <a:solidFill>
            <a:srgbClr val="273571"/>
          </a:solidFill>
          <a:ln w="16510">
            <a:solidFill>
              <a:srgbClr val="CADCFC"/>
            </a:solidFill>
            <a:prstDash val="solid"/>
          </a:ln>
        </p:spPr>
      </p:sp>
      <p:sp>
        <p:nvSpPr>
          <p:cNvPr id="10" name="Text 7"/>
          <p:cNvSpPr txBox="1"/>
          <p:nvPr/>
        </p:nvSpPr>
        <p:spPr>
          <a:xfrm>
            <a:off x="60350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Trigger</a:t>
            </a:r>
            <a:endParaRPr lang="en-US" sz="1150" dirty="0"/>
          </a:p>
        </p:txBody>
      </p:sp>
      <p:sp>
        <p:nvSpPr>
          <p:cNvPr id="11" name="Shape 8"/>
          <p:cNvSpPr/>
          <p:nvPr/>
        </p:nvSpPr>
        <p:spPr>
          <a:xfrm>
            <a:off x="2255520" y="8778240"/>
            <a:ext cx="320040" cy="0"/>
          </a:xfrm>
          <a:prstGeom prst="line">
            <a:avLst/>
          </a:prstGeom>
          <a:noFill/>
          <a:ln w="16510">
            <a:solidFill>
              <a:srgbClr val="CADCFC"/>
            </a:solidFill>
            <a:prstDash val="solid"/>
            <a:tailEnd type="triangle"/>
          </a:ln>
        </p:spPr>
      </p:sp>
      <p:sp>
        <p:nvSpPr>
          <p:cNvPr id="12" name="Shape 9"/>
          <p:cNvSpPr/>
          <p:nvPr/>
        </p:nvSpPr>
        <p:spPr>
          <a:xfrm>
            <a:off x="2575560" y="8389620"/>
            <a:ext cx="1706880" cy="777240"/>
          </a:xfrm>
          <a:prstGeom prst="roundRect">
            <a:avLst>
              <a:gd name="adj" fmla="val 8235"/>
            </a:avLst>
          </a:prstGeom>
          <a:solidFill>
            <a:srgbClr val="273571"/>
          </a:solidFill>
          <a:ln w="16510">
            <a:solidFill>
              <a:srgbClr val="CADCFC"/>
            </a:solidFill>
            <a:prstDash val="solid"/>
          </a:ln>
        </p:spPr>
      </p:sp>
      <p:sp>
        <p:nvSpPr>
          <p:cNvPr id="13" name="Text 10"/>
          <p:cNvSpPr txBox="1"/>
          <p:nvPr/>
        </p:nvSpPr>
        <p:spPr>
          <a:xfrm>
            <a:off x="263042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Logic App</a:t>
            </a:r>
            <a:endParaRPr lang="en-US" sz="1150" dirty="0"/>
          </a:p>
          <a:p>
            <a:pPr algn="ctr" indent="0" marL="0">
              <a:lnSpc>
                <a:spcPct val="100000"/>
              </a:lnSpc>
              <a:buNone/>
            </a:pPr>
            <a:r>
              <a:rPr lang="en-US" sz="1150" b="1" dirty="0">
                <a:solidFill>
                  <a:srgbClr val="FFC857"/>
                </a:solidFill>
                <a:latin typeface="Arial" pitchFamily="34" charset="0"/>
                <a:ea typeface="Arial" pitchFamily="34" charset="-122"/>
                <a:cs typeface="Arial" pitchFamily="34" charset="-120"/>
              </a:rPr>
              <a:t>Workflow</a:t>
            </a:r>
            <a:endParaRPr lang="en-US" sz="1150" dirty="0"/>
          </a:p>
        </p:txBody>
      </p:sp>
      <p:sp>
        <p:nvSpPr>
          <p:cNvPr id="14" name="Shape 11"/>
          <p:cNvSpPr/>
          <p:nvPr/>
        </p:nvSpPr>
        <p:spPr>
          <a:xfrm>
            <a:off x="4282440" y="8778240"/>
            <a:ext cx="320040" cy="0"/>
          </a:xfrm>
          <a:prstGeom prst="line">
            <a:avLst/>
          </a:prstGeom>
          <a:noFill/>
          <a:ln w="16510">
            <a:solidFill>
              <a:srgbClr val="CADCFC"/>
            </a:solidFill>
            <a:prstDash val="solid"/>
            <a:tailEnd type="triangle"/>
          </a:ln>
        </p:spPr>
      </p:sp>
      <p:sp>
        <p:nvSpPr>
          <p:cNvPr id="15" name="Shape 12"/>
          <p:cNvSpPr/>
          <p:nvPr/>
        </p:nvSpPr>
        <p:spPr>
          <a:xfrm>
            <a:off x="4602480" y="8389620"/>
            <a:ext cx="1706880" cy="777240"/>
          </a:xfrm>
          <a:prstGeom prst="roundRect">
            <a:avLst>
              <a:gd name="adj" fmla="val 8235"/>
            </a:avLst>
          </a:prstGeom>
          <a:solidFill>
            <a:srgbClr val="FFC857"/>
          </a:solidFill>
          <a:ln w="16510">
            <a:solidFill>
              <a:srgbClr val="CADCFC"/>
            </a:solidFill>
            <a:prstDash val="solid"/>
          </a:ln>
        </p:spPr>
      </p:sp>
      <p:sp>
        <p:nvSpPr>
          <p:cNvPr id="16" name="Text 13"/>
          <p:cNvSpPr txBox="1"/>
          <p:nvPr/>
        </p:nvSpPr>
        <p:spPr>
          <a:xfrm>
            <a:off x="4657344" y="8389620"/>
            <a:ext cx="1597152" cy="777240"/>
          </a:xfrm>
          <a:prstGeom prst="rect">
            <a:avLst/>
          </a:prstGeom>
          <a:noFill/>
          <a:ln/>
        </p:spPr>
        <p:txBody>
          <a:bodyPr wrap="square" lIns="0" tIns="0" rIns="0" bIns="0" rtlCol="0" anchor="ctr"/>
          <a:lstStyle/>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Connected</a:t>
            </a:r>
            <a:endParaRPr lang="en-US" sz="1150" dirty="0"/>
          </a:p>
          <a:p>
            <a:pPr algn="ctr" indent="0" marL="0">
              <a:lnSpc>
                <a:spcPct val="100000"/>
              </a:lnSpc>
              <a:buNone/>
            </a:pPr>
            <a:r>
              <a:rPr lang="en-US" sz="1150" b="1" dirty="0">
                <a:solidFill>
                  <a:srgbClr val="1E2761"/>
                </a:solidFill>
                <a:latin typeface="Arial" pitchFamily="34" charset="0"/>
                <a:ea typeface="Arial" pitchFamily="34" charset="-122"/>
                <a:cs typeface="Arial" pitchFamily="34" charset="-120"/>
              </a:rPr>
              <a:t>Services</a:t>
            </a:r>
            <a:endParaRPr lang="en-US" sz="1150" dirty="0"/>
          </a:p>
        </p:txBody>
      </p:sp>
      <p:sp>
        <p:nvSpPr>
          <p:cNvPr id="17" name="Shape 14"/>
          <p:cNvSpPr/>
          <p:nvPr/>
        </p:nvSpPr>
        <p:spPr>
          <a:xfrm>
            <a:off x="548640" y="10195560"/>
            <a:ext cx="5760720" cy="594360"/>
          </a:xfrm>
          <a:prstGeom prst="rect">
            <a:avLst/>
          </a:prstGeom>
          <a:solidFill>
            <a:srgbClr val="273571"/>
          </a:solidFill>
          <a:ln/>
        </p:spPr>
      </p:sp>
      <p:sp>
        <p:nvSpPr>
          <p:cNvPr id="18" name="Text 15"/>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19" name="Text 16"/>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52 / 58</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53</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RAG Pipeline — 1. Ingest</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Getting your documents ready before a model can search them.</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Ingestion is the first RAG step — collecting source documents (PDFs, wikis, tickets) and loading them into the pipeline, ready to be chunked and indexed.</a:t>
            </a:r>
            <a:endParaRPr lang="en-US" sz="1900" dirty="0"/>
          </a:p>
        </p:txBody>
      </p:sp>
      <p:sp>
        <p:nvSpPr>
          <p:cNvPr id="9" name="Shape 6"/>
          <p:cNvSpPr/>
          <p:nvPr/>
        </p:nvSpPr>
        <p:spPr>
          <a:xfrm>
            <a:off x="548640" y="8321040"/>
            <a:ext cx="566928" cy="566928"/>
          </a:xfrm>
          <a:prstGeom prst="ellipse">
            <a:avLst/>
          </a:prstGeom>
          <a:solidFill>
            <a:srgbClr val="FFC857"/>
          </a:solidFill>
          <a:ln w="16510">
            <a:solidFill>
              <a:srgbClr val="CADCFC"/>
            </a:solidFill>
            <a:prstDash val="solid"/>
          </a:ln>
        </p:spPr>
      </p:sp>
      <p:sp>
        <p:nvSpPr>
          <p:cNvPr id="10" name="Text 7"/>
          <p:cNvSpPr txBox="1"/>
          <p:nvPr/>
        </p:nvSpPr>
        <p:spPr>
          <a:xfrm>
            <a:off x="548640" y="8321040"/>
            <a:ext cx="566928" cy="566928"/>
          </a:xfrm>
          <a:prstGeom prst="rect">
            <a:avLst/>
          </a:prstGeom>
          <a:noFill/>
          <a:ln/>
        </p:spPr>
        <p:txBody>
          <a:bodyPr wrap="square" lIns="0" tIns="0" rIns="0" bIns="0" rtlCol="0" anchor="ctr"/>
          <a:lstStyle/>
          <a:p>
            <a:pPr algn="ctr" indent="0" marL="0">
              <a:buNone/>
            </a:pPr>
            <a:r>
              <a:rPr lang="en-US" sz="1600" b="1" dirty="0">
                <a:solidFill>
                  <a:srgbClr val="1E2761"/>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320040" y="8979408"/>
            <a:ext cx="1024128" cy="365760"/>
          </a:xfrm>
          <a:prstGeom prst="rect">
            <a:avLst/>
          </a:prstGeom>
          <a:noFill/>
          <a:ln/>
        </p:spPr>
        <p:txBody>
          <a:bodyPr wrap="square" lIns="0" tIns="0" rIns="0" bIns="0" rtlCol="0" anchor="ctr"/>
          <a:lstStyle/>
          <a:p>
            <a:pPr algn="ctr" indent="0" marL="0">
              <a:buNone/>
            </a:pPr>
            <a:r>
              <a:rPr lang="en-US" sz="1050" b="1" dirty="0">
                <a:solidFill>
                  <a:srgbClr val="FFC857"/>
                </a:solidFill>
                <a:latin typeface="Arial" pitchFamily="34" charset="0"/>
                <a:ea typeface="Arial" pitchFamily="34" charset="-122"/>
                <a:cs typeface="Arial" pitchFamily="34" charset="-120"/>
              </a:rPr>
              <a:t>Ingest</a:t>
            </a:r>
            <a:endParaRPr lang="en-US" sz="1050" dirty="0"/>
          </a:p>
        </p:txBody>
      </p:sp>
      <p:sp>
        <p:nvSpPr>
          <p:cNvPr id="12" name="Shape 9"/>
          <p:cNvSpPr/>
          <p:nvPr/>
        </p:nvSpPr>
        <p:spPr>
          <a:xfrm>
            <a:off x="1115568" y="8604504"/>
            <a:ext cx="1164336" cy="0"/>
          </a:xfrm>
          <a:prstGeom prst="line">
            <a:avLst/>
          </a:prstGeom>
          <a:noFill/>
          <a:ln w="16510">
            <a:solidFill>
              <a:srgbClr val="CADCFC"/>
            </a:solidFill>
            <a:prstDash val="solid"/>
            <a:tailEnd type="triangle"/>
          </a:ln>
        </p:spPr>
      </p:sp>
      <p:sp>
        <p:nvSpPr>
          <p:cNvPr id="13" name="Shape 10"/>
          <p:cNvSpPr/>
          <p:nvPr/>
        </p:nvSpPr>
        <p:spPr>
          <a:xfrm>
            <a:off x="2279904" y="8321040"/>
            <a:ext cx="566928" cy="566928"/>
          </a:xfrm>
          <a:prstGeom prst="ellipse">
            <a:avLst/>
          </a:prstGeom>
          <a:solidFill>
            <a:srgbClr val="273571"/>
          </a:solidFill>
          <a:ln w="16510">
            <a:solidFill>
              <a:srgbClr val="CADCFC"/>
            </a:solidFill>
            <a:prstDash val="solid"/>
          </a:ln>
        </p:spPr>
      </p:sp>
      <p:sp>
        <p:nvSpPr>
          <p:cNvPr id="14" name="Text 11"/>
          <p:cNvSpPr txBox="1"/>
          <p:nvPr/>
        </p:nvSpPr>
        <p:spPr>
          <a:xfrm>
            <a:off x="2279904"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2</a:t>
            </a:r>
            <a:endParaRPr lang="en-US" sz="1600" dirty="0"/>
          </a:p>
        </p:txBody>
      </p:sp>
      <p:sp>
        <p:nvSpPr>
          <p:cNvPr id="15" name="Text 12"/>
          <p:cNvSpPr txBox="1"/>
          <p:nvPr/>
        </p:nvSpPr>
        <p:spPr>
          <a:xfrm>
            <a:off x="2051304"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Retrieve</a:t>
            </a:r>
            <a:endParaRPr lang="en-US" sz="1050" dirty="0"/>
          </a:p>
        </p:txBody>
      </p:sp>
      <p:sp>
        <p:nvSpPr>
          <p:cNvPr id="16" name="Shape 13"/>
          <p:cNvSpPr/>
          <p:nvPr/>
        </p:nvSpPr>
        <p:spPr>
          <a:xfrm>
            <a:off x="2846832" y="8604504"/>
            <a:ext cx="1164336" cy="0"/>
          </a:xfrm>
          <a:prstGeom prst="line">
            <a:avLst/>
          </a:prstGeom>
          <a:noFill/>
          <a:ln w="16510">
            <a:solidFill>
              <a:srgbClr val="CADCFC"/>
            </a:solidFill>
            <a:prstDash val="solid"/>
            <a:tailEnd type="triangle"/>
          </a:ln>
        </p:spPr>
      </p:sp>
      <p:sp>
        <p:nvSpPr>
          <p:cNvPr id="17" name="Shape 14"/>
          <p:cNvSpPr/>
          <p:nvPr/>
        </p:nvSpPr>
        <p:spPr>
          <a:xfrm>
            <a:off x="4011168" y="8321040"/>
            <a:ext cx="566928" cy="566928"/>
          </a:xfrm>
          <a:prstGeom prst="ellipse">
            <a:avLst/>
          </a:prstGeom>
          <a:solidFill>
            <a:srgbClr val="273571"/>
          </a:solidFill>
          <a:ln w="16510">
            <a:solidFill>
              <a:srgbClr val="CADCFC"/>
            </a:solidFill>
            <a:prstDash val="solid"/>
          </a:ln>
        </p:spPr>
      </p:sp>
      <p:sp>
        <p:nvSpPr>
          <p:cNvPr id="18" name="Text 15"/>
          <p:cNvSpPr txBox="1"/>
          <p:nvPr/>
        </p:nvSpPr>
        <p:spPr>
          <a:xfrm>
            <a:off x="4011168"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3782568"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Augment</a:t>
            </a:r>
            <a:endParaRPr lang="en-US" sz="1050" dirty="0"/>
          </a:p>
        </p:txBody>
      </p:sp>
      <p:sp>
        <p:nvSpPr>
          <p:cNvPr id="20" name="Shape 17"/>
          <p:cNvSpPr/>
          <p:nvPr/>
        </p:nvSpPr>
        <p:spPr>
          <a:xfrm>
            <a:off x="4578096" y="8604504"/>
            <a:ext cx="1164336" cy="0"/>
          </a:xfrm>
          <a:prstGeom prst="line">
            <a:avLst/>
          </a:prstGeom>
          <a:noFill/>
          <a:ln w="16510">
            <a:solidFill>
              <a:srgbClr val="CADCFC"/>
            </a:solidFill>
            <a:prstDash val="solid"/>
            <a:tailEnd type="triangle"/>
          </a:ln>
        </p:spPr>
      </p:sp>
      <p:sp>
        <p:nvSpPr>
          <p:cNvPr id="21" name="Shape 18"/>
          <p:cNvSpPr/>
          <p:nvPr/>
        </p:nvSpPr>
        <p:spPr>
          <a:xfrm>
            <a:off x="5742432" y="8321040"/>
            <a:ext cx="566928" cy="566928"/>
          </a:xfrm>
          <a:prstGeom prst="ellipse">
            <a:avLst/>
          </a:prstGeom>
          <a:solidFill>
            <a:srgbClr val="273571"/>
          </a:solidFill>
          <a:ln w="16510">
            <a:solidFill>
              <a:srgbClr val="CADCFC"/>
            </a:solidFill>
            <a:prstDash val="solid"/>
          </a:ln>
        </p:spPr>
      </p:sp>
      <p:sp>
        <p:nvSpPr>
          <p:cNvPr id="22" name="Text 19"/>
          <p:cNvSpPr txBox="1"/>
          <p:nvPr/>
        </p:nvSpPr>
        <p:spPr>
          <a:xfrm>
            <a:off x="5742432"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5513832"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Generate</a:t>
            </a:r>
            <a:endParaRPr lang="en-US" sz="1050" dirty="0"/>
          </a:p>
        </p:txBody>
      </p:sp>
      <p:sp>
        <p:nvSpPr>
          <p:cNvPr id="24" name="Shape 21"/>
          <p:cNvSpPr/>
          <p:nvPr/>
        </p:nvSpPr>
        <p:spPr>
          <a:xfrm>
            <a:off x="548640" y="10195560"/>
            <a:ext cx="5760720" cy="594360"/>
          </a:xfrm>
          <a:prstGeom prst="rect">
            <a:avLst/>
          </a:prstGeom>
          <a:solidFill>
            <a:srgbClr val="273571"/>
          </a:solidFill>
          <a:ln/>
        </p:spPr>
      </p:sp>
      <p:sp>
        <p:nvSpPr>
          <p:cNvPr id="25" name="Text 22"/>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6" name="Text 2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53 / 58</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54</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RAG Pipeline — 2. Retrieval</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Finding the right pieces before you generate anything.</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Retrieval takes the user's query, searches the indexed chunks — via vector, keyword, or hybrid search — and pulls back the most relevant passages.</a:t>
            </a:r>
            <a:endParaRPr lang="en-US" sz="1900" dirty="0"/>
          </a:p>
        </p:txBody>
      </p:sp>
      <p:sp>
        <p:nvSpPr>
          <p:cNvPr id="9" name="Shape 6"/>
          <p:cNvSpPr/>
          <p:nvPr/>
        </p:nvSpPr>
        <p:spPr>
          <a:xfrm>
            <a:off x="548640" y="8321040"/>
            <a:ext cx="566928" cy="566928"/>
          </a:xfrm>
          <a:prstGeom prst="ellipse">
            <a:avLst/>
          </a:prstGeom>
          <a:solidFill>
            <a:srgbClr val="273571"/>
          </a:solidFill>
          <a:ln w="16510">
            <a:solidFill>
              <a:srgbClr val="CADCFC"/>
            </a:solidFill>
            <a:prstDash val="solid"/>
          </a:ln>
        </p:spPr>
      </p:sp>
      <p:sp>
        <p:nvSpPr>
          <p:cNvPr id="10" name="Text 7"/>
          <p:cNvSpPr txBox="1"/>
          <p:nvPr/>
        </p:nvSpPr>
        <p:spPr>
          <a:xfrm>
            <a:off x="548640"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320040"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Ingest</a:t>
            </a:r>
            <a:endParaRPr lang="en-US" sz="1050" dirty="0"/>
          </a:p>
        </p:txBody>
      </p:sp>
      <p:sp>
        <p:nvSpPr>
          <p:cNvPr id="12" name="Shape 9"/>
          <p:cNvSpPr/>
          <p:nvPr/>
        </p:nvSpPr>
        <p:spPr>
          <a:xfrm>
            <a:off x="1115568" y="8604504"/>
            <a:ext cx="1164336" cy="0"/>
          </a:xfrm>
          <a:prstGeom prst="line">
            <a:avLst/>
          </a:prstGeom>
          <a:noFill/>
          <a:ln w="16510">
            <a:solidFill>
              <a:srgbClr val="CADCFC"/>
            </a:solidFill>
            <a:prstDash val="solid"/>
            <a:tailEnd type="triangle"/>
          </a:ln>
        </p:spPr>
      </p:sp>
      <p:sp>
        <p:nvSpPr>
          <p:cNvPr id="13" name="Shape 10"/>
          <p:cNvSpPr/>
          <p:nvPr/>
        </p:nvSpPr>
        <p:spPr>
          <a:xfrm>
            <a:off x="2279904" y="8321040"/>
            <a:ext cx="566928" cy="566928"/>
          </a:xfrm>
          <a:prstGeom prst="ellipse">
            <a:avLst/>
          </a:prstGeom>
          <a:solidFill>
            <a:srgbClr val="FFC857"/>
          </a:solidFill>
          <a:ln w="16510">
            <a:solidFill>
              <a:srgbClr val="CADCFC"/>
            </a:solidFill>
            <a:prstDash val="solid"/>
          </a:ln>
        </p:spPr>
      </p:sp>
      <p:sp>
        <p:nvSpPr>
          <p:cNvPr id="14" name="Text 11"/>
          <p:cNvSpPr txBox="1"/>
          <p:nvPr/>
        </p:nvSpPr>
        <p:spPr>
          <a:xfrm>
            <a:off x="2279904" y="8321040"/>
            <a:ext cx="566928" cy="566928"/>
          </a:xfrm>
          <a:prstGeom prst="rect">
            <a:avLst/>
          </a:prstGeom>
          <a:noFill/>
          <a:ln/>
        </p:spPr>
        <p:txBody>
          <a:bodyPr wrap="square" lIns="0" tIns="0" rIns="0" bIns="0" rtlCol="0" anchor="ctr"/>
          <a:lstStyle/>
          <a:p>
            <a:pPr algn="ctr" indent="0" marL="0">
              <a:buNone/>
            </a:pPr>
            <a:r>
              <a:rPr lang="en-US" sz="1600" b="1" dirty="0">
                <a:solidFill>
                  <a:srgbClr val="1E2761"/>
                </a:solidFill>
                <a:latin typeface="Arial" pitchFamily="34" charset="0"/>
                <a:ea typeface="Arial" pitchFamily="34" charset="-122"/>
                <a:cs typeface="Arial" pitchFamily="34" charset="-120"/>
              </a:rPr>
              <a:t>2</a:t>
            </a:r>
            <a:endParaRPr lang="en-US" sz="1600" dirty="0"/>
          </a:p>
        </p:txBody>
      </p:sp>
      <p:sp>
        <p:nvSpPr>
          <p:cNvPr id="15" name="Text 12"/>
          <p:cNvSpPr txBox="1"/>
          <p:nvPr/>
        </p:nvSpPr>
        <p:spPr>
          <a:xfrm>
            <a:off x="2051304" y="8979408"/>
            <a:ext cx="1024128" cy="365760"/>
          </a:xfrm>
          <a:prstGeom prst="rect">
            <a:avLst/>
          </a:prstGeom>
          <a:noFill/>
          <a:ln/>
        </p:spPr>
        <p:txBody>
          <a:bodyPr wrap="square" lIns="0" tIns="0" rIns="0" bIns="0" rtlCol="0" anchor="ctr"/>
          <a:lstStyle/>
          <a:p>
            <a:pPr algn="ctr" indent="0" marL="0">
              <a:buNone/>
            </a:pPr>
            <a:r>
              <a:rPr lang="en-US" sz="1050" b="1" dirty="0">
                <a:solidFill>
                  <a:srgbClr val="FFC857"/>
                </a:solidFill>
                <a:latin typeface="Arial" pitchFamily="34" charset="0"/>
                <a:ea typeface="Arial" pitchFamily="34" charset="-122"/>
                <a:cs typeface="Arial" pitchFamily="34" charset="-120"/>
              </a:rPr>
              <a:t>Retrieve</a:t>
            </a:r>
            <a:endParaRPr lang="en-US" sz="1050" dirty="0"/>
          </a:p>
        </p:txBody>
      </p:sp>
      <p:sp>
        <p:nvSpPr>
          <p:cNvPr id="16" name="Shape 13"/>
          <p:cNvSpPr/>
          <p:nvPr/>
        </p:nvSpPr>
        <p:spPr>
          <a:xfrm>
            <a:off x="2846832" y="8604504"/>
            <a:ext cx="1164336" cy="0"/>
          </a:xfrm>
          <a:prstGeom prst="line">
            <a:avLst/>
          </a:prstGeom>
          <a:noFill/>
          <a:ln w="16510">
            <a:solidFill>
              <a:srgbClr val="CADCFC"/>
            </a:solidFill>
            <a:prstDash val="solid"/>
            <a:tailEnd type="triangle"/>
          </a:ln>
        </p:spPr>
      </p:sp>
      <p:sp>
        <p:nvSpPr>
          <p:cNvPr id="17" name="Shape 14"/>
          <p:cNvSpPr/>
          <p:nvPr/>
        </p:nvSpPr>
        <p:spPr>
          <a:xfrm>
            <a:off x="4011168" y="8321040"/>
            <a:ext cx="566928" cy="566928"/>
          </a:xfrm>
          <a:prstGeom prst="ellipse">
            <a:avLst/>
          </a:prstGeom>
          <a:solidFill>
            <a:srgbClr val="273571"/>
          </a:solidFill>
          <a:ln w="16510">
            <a:solidFill>
              <a:srgbClr val="CADCFC"/>
            </a:solidFill>
            <a:prstDash val="solid"/>
          </a:ln>
        </p:spPr>
      </p:sp>
      <p:sp>
        <p:nvSpPr>
          <p:cNvPr id="18" name="Text 15"/>
          <p:cNvSpPr txBox="1"/>
          <p:nvPr/>
        </p:nvSpPr>
        <p:spPr>
          <a:xfrm>
            <a:off x="4011168"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3782568"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Augment</a:t>
            </a:r>
            <a:endParaRPr lang="en-US" sz="1050" dirty="0"/>
          </a:p>
        </p:txBody>
      </p:sp>
      <p:sp>
        <p:nvSpPr>
          <p:cNvPr id="20" name="Shape 17"/>
          <p:cNvSpPr/>
          <p:nvPr/>
        </p:nvSpPr>
        <p:spPr>
          <a:xfrm>
            <a:off x="4578096" y="8604504"/>
            <a:ext cx="1164336" cy="0"/>
          </a:xfrm>
          <a:prstGeom prst="line">
            <a:avLst/>
          </a:prstGeom>
          <a:noFill/>
          <a:ln w="16510">
            <a:solidFill>
              <a:srgbClr val="CADCFC"/>
            </a:solidFill>
            <a:prstDash val="solid"/>
            <a:tailEnd type="triangle"/>
          </a:ln>
        </p:spPr>
      </p:sp>
      <p:sp>
        <p:nvSpPr>
          <p:cNvPr id="21" name="Shape 18"/>
          <p:cNvSpPr/>
          <p:nvPr/>
        </p:nvSpPr>
        <p:spPr>
          <a:xfrm>
            <a:off x="5742432" y="8321040"/>
            <a:ext cx="566928" cy="566928"/>
          </a:xfrm>
          <a:prstGeom prst="ellipse">
            <a:avLst/>
          </a:prstGeom>
          <a:solidFill>
            <a:srgbClr val="273571"/>
          </a:solidFill>
          <a:ln w="16510">
            <a:solidFill>
              <a:srgbClr val="CADCFC"/>
            </a:solidFill>
            <a:prstDash val="solid"/>
          </a:ln>
        </p:spPr>
      </p:sp>
      <p:sp>
        <p:nvSpPr>
          <p:cNvPr id="22" name="Text 19"/>
          <p:cNvSpPr txBox="1"/>
          <p:nvPr/>
        </p:nvSpPr>
        <p:spPr>
          <a:xfrm>
            <a:off x="5742432"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5513832"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Generate</a:t>
            </a:r>
            <a:endParaRPr lang="en-US" sz="1050" dirty="0"/>
          </a:p>
        </p:txBody>
      </p:sp>
      <p:sp>
        <p:nvSpPr>
          <p:cNvPr id="24" name="Shape 21"/>
          <p:cNvSpPr/>
          <p:nvPr/>
        </p:nvSpPr>
        <p:spPr>
          <a:xfrm>
            <a:off x="548640" y="10195560"/>
            <a:ext cx="5760720" cy="594360"/>
          </a:xfrm>
          <a:prstGeom prst="rect">
            <a:avLst/>
          </a:prstGeom>
          <a:solidFill>
            <a:srgbClr val="273571"/>
          </a:solidFill>
          <a:ln/>
        </p:spPr>
      </p:sp>
      <p:sp>
        <p:nvSpPr>
          <p:cNvPr id="25" name="Text 22"/>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6" name="Text 2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54 / 58</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55</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RAG Pipeline — 3. Augment</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Handing the model the right evidence, not just the question.</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Augmentation inserts the retrieved passages into the prompt alongside the user's question, giving the model grounded context to work from before it answers.</a:t>
            </a:r>
            <a:endParaRPr lang="en-US" sz="1900" dirty="0"/>
          </a:p>
        </p:txBody>
      </p:sp>
      <p:sp>
        <p:nvSpPr>
          <p:cNvPr id="9" name="Shape 6"/>
          <p:cNvSpPr/>
          <p:nvPr/>
        </p:nvSpPr>
        <p:spPr>
          <a:xfrm>
            <a:off x="548640" y="8321040"/>
            <a:ext cx="566928" cy="566928"/>
          </a:xfrm>
          <a:prstGeom prst="ellipse">
            <a:avLst/>
          </a:prstGeom>
          <a:solidFill>
            <a:srgbClr val="273571"/>
          </a:solidFill>
          <a:ln w="16510">
            <a:solidFill>
              <a:srgbClr val="CADCFC"/>
            </a:solidFill>
            <a:prstDash val="solid"/>
          </a:ln>
        </p:spPr>
      </p:sp>
      <p:sp>
        <p:nvSpPr>
          <p:cNvPr id="10" name="Text 7"/>
          <p:cNvSpPr txBox="1"/>
          <p:nvPr/>
        </p:nvSpPr>
        <p:spPr>
          <a:xfrm>
            <a:off x="548640"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320040"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Ingest</a:t>
            </a:r>
            <a:endParaRPr lang="en-US" sz="1050" dirty="0"/>
          </a:p>
        </p:txBody>
      </p:sp>
      <p:sp>
        <p:nvSpPr>
          <p:cNvPr id="12" name="Shape 9"/>
          <p:cNvSpPr/>
          <p:nvPr/>
        </p:nvSpPr>
        <p:spPr>
          <a:xfrm>
            <a:off x="1115568" y="8604504"/>
            <a:ext cx="1164336" cy="0"/>
          </a:xfrm>
          <a:prstGeom prst="line">
            <a:avLst/>
          </a:prstGeom>
          <a:noFill/>
          <a:ln w="16510">
            <a:solidFill>
              <a:srgbClr val="CADCFC"/>
            </a:solidFill>
            <a:prstDash val="solid"/>
            <a:tailEnd type="triangle"/>
          </a:ln>
        </p:spPr>
      </p:sp>
      <p:sp>
        <p:nvSpPr>
          <p:cNvPr id="13" name="Shape 10"/>
          <p:cNvSpPr/>
          <p:nvPr/>
        </p:nvSpPr>
        <p:spPr>
          <a:xfrm>
            <a:off x="2279904" y="8321040"/>
            <a:ext cx="566928" cy="566928"/>
          </a:xfrm>
          <a:prstGeom prst="ellipse">
            <a:avLst/>
          </a:prstGeom>
          <a:solidFill>
            <a:srgbClr val="273571"/>
          </a:solidFill>
          <a:ln w="16510">
            <a:solidFill>
              <a:srgbClr val="CADCFC"/>
            </a:solidFill>
            <a:prstDash val="solid"/>
          </a:ln>
        </p:spPr>
      </p:sp>
      <p:sp>
        <p:nvSpPr>
          <p:cNvPr id="14" name="Text 11"/>
          <p:cNvSpPr txBox="1"/>
          <p:nvPr/>
        </p:nvSpPr>
        <p:spPr>
          <a:xfrm>
            <a:off x="2279904"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2</a:t>
            </a:r>
            <a:endParaRPr lang="en-US" sz="1600" dirty="0"/>
          </a:p>
        </p:txBody>
      </p:sp>
      <p:sp>
        <p:nvSpPr>
          <p:cNvPr id="15" name="Text 12"/>
          <p:cNvSpPr txBox="1"/>
          <p:nvPr/>
        </p:nvSpPr>
        <p:spPr>
          <a:xfrm>
            <a:off x="2051304"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Retrieve</a:t>
            </a:r>
            <a:endParaRPr lang="en-US" sz="1050" dirty="0"/>
          </a:p>
        </p:txBody>
      </p:sp>
      <p:sp>
        <p:nvSpPr>
          <p:cNvPr id="16" name="Shape 13"/>
          <p:cNvSpPr/>
          <p:nvPr/>
        </p:nvSpPr>
        <p:spPr>
          <a:xfrm>
            <a:off x="2846832" y="8604504"/>
            <a:ext cx="1164336" cy="0"/>
          </a:xfrm>
          <a:prstGeom prst="line">
            <a:avLst/>
          </a:prstGeom>
          <a:noFill/>
          <a:ln w="16510">
            <a:solidFill>
              <a:srgbClr val="CADCFC"/>
            </a:solidFill>
            <a:prstDash val="solid"/>
            <a:tailEnd type="triangle"/>
          </a:ln>
        </p:spPr>
      </p:sp>
      <p:sp>
        <p:nvSpPr>
          <p:cNvPr id="17" name="Shape 14"/>
          <p:cNvSpPr/>
          <p:nvPr/>
        </p:nvSpPr>
        <p:spPr>
          <a:xfrm>
            <a:off x="4011168" y="8321040"/>
            <a:ext cx="566928" cy="566928"/>
          </a:xfrm>
          <a:prstGeom prst="ellipse">
            <a:avLst/>
          </a:prstGeom>
          <a:solidFill>
            <a:srgbClr val="FFC857"/>
          </a:solidFill>
          <a:ln w="16510">
            <a:solidFill>
              <a:srgbClr val="CADCFC"/>
            </a:solidFill>
            <a:prstDash val="solid"/>
          </a:ln>
        </p:spPr>
      </p:sp>
      <p:sp>
        <p:nvSpPr>
          <p:cNvPr id="18" name="Text 15"/>
          <p:cNvSpPr txBox="1"/>
          <p:nvPr/>
        </p:nvSpPr>
        <p:spPr>
          <a:xfrm>
            <a:off x="4011168" y="8321040"/>
            <a:ext cx="566928" cy="566928"/>
          </a:xfrm>
          <a:prstGeom prst="rect">
            <a:avLst/>
          </a:prstGeom>
          <a:noFill/>
          <a:ln/>
        </p:spPr>
        <p:txBody>
          <a:bodyPr wrap="square" lIns="0" tIns="0" rIns="0" bIns="0" rtlCol="0" anchor="ctr"/>
          <a:lstStyle/>
          <a:p>
            <a:pPr algn="ctr" indent="0" marL="0">
              <a:buNone/>
            </a:pPr>
            <a:r>
              <a:rPr lang="en-US" sz="1600" b="1" dirty="0">
                <a:solidFill>
                  <a:srgbClr val="1E2761"/>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3782568" y="8979408"/>
            <a:ext cx="1024128" cy="365760"/>
          </a:xfrm>
          <a:prstGeom prst="rect">
            <a:avLst/>
          </a:prstGeom>
          <a:noFill/>
          <a:ln/>
        </p:spPr>
        <p:txBody>
          <a:bodyPr wrap="square" lIns="0" tIns="0" rIns="0" bIns="0" rtlCol="0" anchor="ctr"/>
          <a:lstStyle/>
          <a:p>
            <a:pPr algn="ctr" indent="0" marL="0">
              <a:buNone/>
            </a:pPr>
            <a:r>
              <a:rPr lang="en-US" sz="1050" b="1" dirty="0">
                <a:solidFill>
                  <a:srgbClr val="FFC857"/>
                </a:solidFill>
                <a:latin typeface="Arial" pitchFamily="34" charset="0"/>
                <a:ea typeface="Arial" pitchFamily="34" charset="-122"/>
                <a:cs typeface="Arial" pitchFamily="34" charset="-120"/>
              </a:rPr>
              <a:t>Augment</a:t>
            </a:r>
            <a:endParaRPr lang="en-US" sz="1050" dirty="0"/>
          </a:p>
        </p:txBody>
      </p:sp>
      <p:sp>
        <p:nvSpPr>
          <p:cNvPr id="20" name="Shape 17"/>
          <p:cNvSpPr/>
          <p:nvPr/>
        </p:nvSpPr>
        <p:spPr>
          <a:xfrm>
            <a:off x="4578096" y="8604504"/>
            <a:ext cx="1164336" cy="0"/>
          </a:xfrm>
          <a:prstGeom prst="line">
            <a:avLst/>
          </a:prstGeom>
          <a:noFill/>
          <a:ln w="16510">
            <a:solidFill>
              <a:srgbClr val="CADCFC"/>
            </a:solidFill>
            <a:prstDash val="solid"/>
            <a:tailEnd type="triangle"/>
          </a:ln>
        </p:spPr>
      </p:sp>
      <p:sp>
        <p:nvSpPr>
          <p:cNvPr id="21" name="Shape 18"/>
          <p:cNvSpPr/>
          <p:nvPr/>
        </p:nvSpPr>
        <p:spPr>
          <a:xfrm>
            <a:off x="5742432" y="8321040"/>
            <a:ext cx="566928" cy="566928"/>
          </a:xfrm>
          <a:prstGeom prst="ellipse">
            <a:avLst/>
          </a:prstGeom>
          <a:solidFill>
            <a:srgbClr val="273571"/>
          </a:solidFill>
          <a:ln w="16510">
            <a:solidFill>
              <a:srgbClr val="CADCFC"/>
            </a:solidFill>
            <a:prstDash val="solid"/>
          </a:ln>
        </p:spPr>
      </p:sp>
      <p:sp>
        <p:nvSpPr>
          <p:cNvPr id="22" name="Text 19"/>
          <p:cNvSpPr txBox="1"/>
          <p:nvPr/>
        </p:nvSpPr>
        <p:spPr>
          <a:xfrm>
            <a:off x="5742432"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5513832"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Generate</a:t>
            </a:r>
            <a:endParaRPr lang="en-US" sz="1050" dirty="0"/>
          </a:p>
        </p:txBody>
      </p:sp>
      <p:sp>
        <p:nvSpPr>
          <p:cNvPr id="24" name="Shape 21"/>
          <p:cNvSpPr/>
          <p:nvPr/>
        </p:nvSpPr>
        <p:spPr>
          <a:xfrm>
            <a:off x="548640" y="10195560"/>
            <a:ext cx="5760720" cy="594360"/>
          </a:xfrm>
          <a:prstGeom prst="rect">
            <a:avLst/>
          </a:prstGeom>
          <a:solidFill>
            <a:srgbClr val="273571"/>
          </a:solidFill>
          <a:ln/>
        </p:spPr>
      </p:sp>
      <p:sp>
        <p:nvSpPr>
          <p:cNvPr id="25" name="Text 22"/>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6" name="Text 2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55 / 58</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56</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RAG Pipeline — 4. Generate</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Turning retrieved evidence into a clear, grounded answer.</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Generation is the final step — the LLM reads the augmented prompt and produces the answer, ideally staying faithful to and citing the retrieved sources.</a:t>
            </a:r>
            <a:endParaRPr lang="en-US" sz="1900" dirty="0"/>
          </a:p>
        </p:txBody>
      </p:sp>
      <p:sp>
        <p:nvSpPr>
          <p:cNvPr id="9" name="Shape 6"/>
          <p:cNvSpPr/>
          <p:nvPr/>
        </p:nvSpPr>
        <p:spPr>
          <a:xfrm>
            <a:off x="548640" y="8321040"/>
            <a:ext cx="566928" cy="566928"/>
          </a:xfrm>
          <a:prstGeom prst="ellipse">
            <a:avLst/>
          </a:prstGeom>
          <a:solidFill>
            <a:srgbClr val="273571"/>
          </a:solidFill>
          <a:ln w="16510">
            <a:solidFill>
              <a:srgbClr val="CADCFC"/>
            </a:solidFill>
            <a:prstDash val="solid"/>
          </a:ln>
        </p:spPr>
      </p:sp>
      <p:sp>
        <p:nvSpPr>
          <p:cNvPr id="10" name="Text 7"/>
          <p:cNvSpPr txBox="1"/>
          <p:nvPr/>
        </p:nvSpPr>
        <p:spPr>
          <a:xfrm>
            <a:off x="548640"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1</a:t>
            </a:r>
            <a:endParaRPr lang="en-US" sz="1600" dirty="0"/>
          </a:p>
        </p:txBody>
      </p:sp>
      <p:sp>
        <p:nvSpPr>
          <p:cNvPr id="11" name="Text 8"/>
          <p:cNvSpPr txBox="1"/>
          <p:nvPr/>
        </p:nvSpPr>
        <p:spPr>
          <a:xfrm>
            <a:off x="320040"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Ingest</a:t>
            </a:r>
            <a:endParaRPr lang="en-US" sz="1050" dirty="0"/>
          </a:p>
        </p:txBody>
      </p:sp>
      <p:sp>
        <p:nvSpPr>
          <p:cNvPr id="12" name="Shape 9"/>
          <p:cNvSpPr/>
          <p:nvPr/>
        </p:nvSpPr>
        <p:spPr>
          <a:xfrm>
            <a:off x="1115568" y="8604504"/>
            <a:ext cx="1164336" cy="0"/>
          </a:xfrm>
          <a:prstGeom prst="line">
            <a:avLst/>
          </a:prstGeom>
          <a:noFill/>
          <a:ln w="16510">
            <a:solidFill>
              <a:srgbClr val="CADCFC"/>
            </a:solidFill>
            <a:prstDash val="solid"/>
            <a:tailEnd type="triangle"/>
          </a:ln>
        </p:spPr>
      </p:sp>
      <p:sp>
        <p:nvSpPr>
          <p:cNvPr id="13" name="Shape 10"/>
          <p:cNvSpPr/>
          <p:nvPr/>
        </p:nvSpPr>
        <p:spPr>
          <a:xfrm>
            <a:off x="2279904" y="8321040"/>
            <a:ext cx="566928" cy="566928"/>
          </a:xfrm>
          <a:prstGeom prst="ellipse">
            <a:avLst/>
          </a:prstGeom>
          <a:solidFill>
            <a:srgbClr val="273571"/>
          </a:solidFill>
          <a:ln w="16510">
            <a:solidFill>
              <a:srgbClr val="CADCFC"/>
            </a:solidFill>
            <a:prstDash val="solid"/>
          </a:ln>
        </p:spPr>
      </p:sp>
      <p:sp>
        <p:nvSpPr>
          <p:cNvPr id="14" name="Text 11"/>
          <p:cNvSpPr txBox="1"/>
          <p:nvPr/>
        </p:nvSpPr>
        <p:spPr>
          <a:xfrm>
            <a:off x="2279904"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2</a:t>
            </a:r>
            <a:endParaRPr lang="en-US" sz="1600" dirty="0"/>
          </a:p>
        </p:txBody>
      </p:sp>
      <p:sp>
        <p:nvSpPr>
          <p:cNvPr id="15" name="Text 12"/>
          <p:cNvSpPr txBox="1"/>
          <p:nvPr/>
        </p:nvSpPr>
        <p:spPr>
          <a:xfrm>
            <a:off x="2051304"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Retrieve</a:t>
            </a:r>
            <a:endParaRPr lang="en-US" sz="1050" dirty="0"/>
          </a:p>
        </p:txBody>
      </p:sp>
      <p:sp>
        <p:nvSpPr>
          <p:cNvPr id="16" name="Shape 13"/>
          <p:cNvSpPr/>
          <p:nvPr/>
        </p:nvSpPr>
        <p:spPr>
          <a:xfrm>
            <a:off x="2846832" y="8604504"/>
            <a:ext cx="1164336" cy="0"/>
          </a:xfrm>
          <a:prstGeom prst="line">
            <a:avLst/>
          </a:prstGeom>
          <a:noFill/>
          <a:ln w="16510">
            <a:solidFill>
              <a:srgbClr val="CADCFC"/>
            </a:solidFill>
            <a:prstDash val="solid"/>
            <a:tailEnd type="triangle"/>
          </a:ln>
        </p:spPr>
      </p:sp>
      <p:sp>
        <p:nvSpPr>
          <p:cNvPr id="17" name="Shape 14"/>
          <p:cNvSpPr/>
          <p:nvPr/>
        </p:nvSpPr>
        <p:spPr>
          <a:xfrm>
            <a:off x="4011168" y="8321040"/>
            <a:ext cx="566928" cy="566928"/>
          </a:xfrm>
          <a:prstGeom prst="ellipse">
            <a:avLst/>
          </a:prstGeom>
          <a:solidFill>
            <a:srgbClr val="273571"/>
          </a:solidFill>
          <a:ln w="16510">
            <a:solidFill>
              <a:srgbClr val="CADCFC"/>
            </a:solidFill>
            <a:prstDash val="solid"/>
          </a:ln>
        </p:spPr>
      </p:sp>
      <p:sp>
        <p:nvSpPr>
          <p:cNvPr id="18" name="Text 15"/>
          <p:cNvSpPr txBox="1"/>
          <p:nvPr/>
        </p:nvSpPr>
        <p:spPr>
          <a:xfrm>
            <a:off x="4011168" y="8321040"/>
            <a:ext cx="566928" cy="566928"/>
          </a:xfrm>
          <a:prstGeom prst="rect">
            <a:avLst/>
          </a:prstGeom>
          <a:noFill/>
          <a:ln/>
        </p:spPr>
        <p:txBody>
          <a:bodyPr wrap="square" lIns="0" tIns="0" rIns="0" bIns="0" rtlCol="0" anchor="ctr"/>
          <a:lstStyle/>
          <a:p>
            <a:pPr algn="ctr" indent="0" marL="0">
              <a:buNone/>
            </a:pPr>
            <a:r>
              <a:rPr lang="en-US" sz="1600" b="1" dirty="0">
                <a:solidFill>
                  <a:srgbClr val="CADCFC"/>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3782568" y="8979408"/>
            <a:ext cx="1024128" cy="365760"/>
          </a:xfrm>
          <a:prstGeom prst="rect">
            <a:avLst/>
          </a:prstGeom>
          <a:noFill/>
          <a:ln/>
        </p:spPr>
        <p:txBody>
          <a:bodyPr wrap="square" lIns="0" tIns="0" rIns="0" bIns="0" rtlCol="0" anchor="ctr"/>
          <a:lstStyle/>
          <a:p>
            <a:pPr algn="ctr" indent="0" marL="0">
              <a:buNone/>
            </a:pPr>
            <a:r>
              <a:rPr lang="en-US" sz="1050" dirty="0">
                <a:solidFill>
                  <a:srgbClr val="8C9BD6"/>
                </a:solidFill>
                <a:latin typeface="Arial" pitchFamily="34" charset="0"/>
                <a:ea typeface="Arial" pitchFamily="34" charset="-122"/>
                <a:cs typeface="Arial" pitchFamily="34" charset="-120"/>
              </a:rPr>
              <a:t>Augment</a:t>
            </a:r>
            <a:endParaRPr lang="en-US" sz="1050" dirty="0"/>
          </a:p>
        </p:txBody>
      </p:sp>
      <p:sp>
        <p:nvSpPr>
          <p:cNvPr id="20" name="Shape 17"/>
          <p:cNvSpPr/>
          <p:nvPr/>
        </p:nvSpPr>
        <p:spPr>
          <a:xfrm>
            <a:off x="4578096" y="8604504"/>
            <a:ext cx="1164336" cy="0"/>
          </a:xfrm>
          <a:prstGeom prst="line">
            <a:avLst/>
          </a:prstGeom>
          <a:noFill/>
          <a:ln w="16510">
            <a:solidFill>
              <a:srgbClr val="CADCFC"/>
            </a:solidFill>
            <a:prstDash val="solid"/>
            <a:tailEnd type="triangle"/>
          </a:ln>
        </p:spPr>
      </p:sp>
      <p:sp>
        <p:nvSpPr>
          <p:cNvPr id="21" name="Shape 18"/>
          <p:cNvSpPr/>
          <p:nvPr/>
        </p:nvSpPr>
        <p:spPr>
          <a:xfrm>
            <a:off x="5742432" y="8321040"/>
            <a:ext cx="566928" cy="566928"/>
          </a:xfrm>
          <a:prstGeom prst="ellipse">
            <a:avLst/>
          </a:prstGeom>
          <a:solidFill>
            <a:srgbClr val="FFC857"/>
          </a:solidFill>
          <a:ln w="16510">
            <a:solidFill>
              <a:srgbClr val="CADCFC"/>
            </a:solidFill>
            <a:prstDash val="solid"/>
          </a:ln>
        </p:spPr>
      </p:sp>
      <p:sp>
        <p:nvSpPr>
          <p:cNvPr id="22" name="Text 19"/>
          <p:cNvSpPr txBox="1"/>
          <p:nvPr/>
        </p:nvSpPr>
        <p:spPr>
          <a:xfrm>
            <a:off x="5742432" y="8321040"/>
            <a:ext cx="566928" cy="566928"/>
          </a:xfrm>
          <a:prstGeom prst="rect">
            <a:avLst/>
          </a:prstGeom>
          <a:noFill/>
          <a:ln/>
        </p:spPr>
        <p:txBody>
          <a:bodyPr wrap="square" lIns="0" tIns="0" rIns="0" bIns="0" rtlCol="0" anchor="ctr"/>
          <a:lstStyle/>
          <a:p>
            <a:pPr algn="ctr" indent="0" marL="0">
              <a:buNone/>
            </a:pPr>
            <a:r>
              <a:rPr lang="en-US" sz="1600" b="1" dirty="0">
                <a:solidFill>
                  <a:srgbClr val="1E2761"/>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5513832" y="8979408"/>
            <a:ext cx="1024128" cy="365760"/>
          </a:xfrm>
          <a:prstGeom prst="rect">
            <a:avLst/>
          </a:prstGeom>
          <a:noFill/>
          <a:ln/>
        </p:spPr>
        <p:txBody>
          <a:bodyPr wrap="square" lIns="0" tIns="0" rIns="0" bIns="0" rtlCol="0" anchor="ctr"/>
          <a:lstStyle/>
          <a:p>
            <a:pPr algn="ctr" indent="0" marL="0">
              <a:buNone/>
            </a:pPr>
            <a:r>
              <a:rPr lang="en-US" sz="1050" b="1" dirty="0">
                <a:solidFill>
                  <a:srgbClr val="FFC857"/>
                </a:solidFill>
                <a:latin typeface="Arial" pitchFamily="34" charset="0"/>
                <a:ea typeface="Arial" pitchFamily="34" charset="-122"/>
                <a:cs typeface="Arial" pitchFamily="34" charset="-120"/>
              </a:rPr>
              <a:t>Generate</a:t>
            </a:r>
            <a:endParaRPr lang="en-US" sz="1050" dirty="0"/>
          </a:p>
        </p:txBody>
      </p:sp>
      <p:sp>
        <p:nvSpPr>
          <p:cNvPr id="24" name="Shape 21"/>
          <p:cNvSpPr/>
          <p:nvPr/>
        </p:nvSpPr>
        <p:spPr>
          <a:xfrm>
            <a:off x="548640" y="10195560"/>
            <a:ext cx="5760720" cy="594360"/>
          </a:xfrm>
          <a:prstGeom prst="rect">
            <a:avLst/>
          </a:prstGeom>
          <a:solidFill>
            <a:srgbClr val="273571"/>
          </a:solidFill>
          <a:ln/>
        </p:spPr>
      </p:sp>
      <p:sp>
        <p:nvSpPr>
          <p:cNvPr id="25" name="Text 22"/>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26" name="Text 23"/>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56 / 58</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57</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AI Bias in Real-World Decisions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When historical data reflects inequality, AI can reinforce it.</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Bias shows up wherever models learn from historical data — hiring, lending, healthcare, facial recognition, content moderation — quietly reinforcing old patterns of inequality. Bias doesn't come from AI itself; it comes from the data, design, and decisions behind it.</a:t>
            </a:r>
            <a:endParaRPr lang="en-US" sz="1900" dirty="0"/>
          </a:p>
        </p:txBody>
      </p:sp>
      <p:sp>
        <p:nvSpPr>
          <p:cNvPr id="9" name="Shape 6"/>
          <p:cNvSpPr/>
          <p:nvPr/>
        </p:nvSpPr>
        <p:spPr>
          <a:xfrm>
            <a:off x="548640" y="7772400"/>
            <a:ext cx="1737360" cy="822960"/>
          </a:xfrm>
          <a:prstGeom prst="roundRect">
            <a:avLst>
              <a:gd name="adj" fmla="val 7778"/>
            </a:avLst>
          </a:prstGeom>
          <a:solidFill>
            <a:srgbClr val="273571"/>
          </a:solidFill>
          <a:ln w="16510">
            <a:solidFill>
              <a:srgbClr val="CADCFC"/>
            </a:solidFill>
            <a:prstDash val="solid"/>
          </a:ln>
        </p:spPr>
      </p:sp>
      <p:sp>
        <p:nvSpPr>
          <p:cNvPr id="10" name="Text 7"/>
          <p:cNvSpPr txBox="1"/>
          <p:nvPr/>
        </p:nvSpPr>
        <p:spPr>
          <a:xfrm>
            <a:off x="594360" y="7772400"/>
            <a:ext cx="1645920" cy="822960"/>
          </a:xfrm>
          <a:prstGeom prst="rect">
            <a:avLst/>
          </a:prstGeom>
          <a:noFill/>
          <a:ln/>
        </p:spPr>
        <p:txBody>
          <a:bodyPr wrap="square" lIns="0" tIns="0" rIns="0" bIns="0" rtlCol="0" anchor="ctr"/>
          <a:lstStyle/>
          <a:p>
            <a:pPr algn="ctr" indent="0" marL="0">
              <a:buNone/>
            </a:pPr>
            <a:r>
              <a:rPr lang="en-US" sz="1250" b="1" dirty="0">
                <a:solidFill>
                  <a:srgbClr val="FFC857"/>
                </a:solidFill>
                <a:latin typeface="Arial" pitchFamily="34" charset="0"/>
                <a:ea typeface="Arial" pitchFamily="34" charset="-122"/>
                <a:cs typeface="Arial" pitchFamily="34" charset="-120"/>
              </a:rPr>
              <a:t>Hiring</a:t>
            </a:r>
            <a:endParaRPr lang="en-US" sz="1250" dirty="0"/>
          </a:p>
        </p:txBody>
      </p:sp>
      <p:sp>
        <p:nvSpPr>
          <p:cNvPr id="11" name="Text 8"/>
          <p:cNvSpPr txBox="1"/>
          <p:nvPr/>
        </p:nvSpPr>
        <p:spPr>
          <a:xfrm>
            <a:off x="457200" y="8705088"/>
            <a:ext cx="1920240" cy="45720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Past resumes skew results</a:t>
            </a:r>
            <a:endParaRPr lang="en-US" sz="950" dirty="0"/>
          </a:p>
        </p:txBody>
      </p:sp>
      <p:sp>
        <p:nvSpPr>
          <p:cNvPr id="12" name="Shape 9"/>
          <p:cNvSpPr/>
          <p:nvPr/>
        </p:nvSpPr>
        <p:spPr>
          <a:xfrm>
            <a:off x="2560320" y="7772400"/>
            <a:ext cx="1737360" cy="822960"/>
          </a:xfrm>
          <a:prstGeom prst="roundRect">
            <a:avLst>
              <a:gd name="adj" fmla="val 7778"/>
            </a:avLst>
          </a:prstGeom>
          <a:solidFill>
            <a:srgbClr val="273571"/>
          </a:solidFill>
          <a:ln w="16510">
            <a:solidFill>
              <a:srgbClr val="CADCFC"/>
            </a:solidFill>
            <a:prstDash val="solid"/>
          </a:ln>
        </p:spPr>
      </p:sp>
      <p:sp>
        <p:nvSpPr>
          <p:cNvPr id="13" name="Text 10"/>
          <p:cNvSpPr txBox="1"/>
          <p:nvPr/>
        </p:nvSpPr>
        <p:spPr>
          <a:xfrm>
            <a:off x="2606040" y="7772400"/>
            <a:ext cx="1645920" cy="822960"/>
          </a:xfrm>
          <a:prstGeom prst="rect">
            <a:avLst/>
          </a:prstGeom>
          <a:noFill/>
          <a:ln/>
        </p:spPr>
        <p:txBody>
          <a:bodyPr wrap="square" lIns="0" tIns="0" rIns="0" bIns="0" rtlCol="0" anchor="ctr"/>
          <a:lstStyle/>
          <a:p>
            <a:pPr algn="ctr" indent="0" marL="0">
              <a:buNone/>
            </a:pPr>
            <a:r>
              <a:rPr lang="en-US" sz="1250" b="1" dirty="0">
                <a:solidFill>
                  <a:srgbClr val="FFC857"/>
                </a:solidFill>
                <a:latin typeface="Arial" pitchFamily="34" charset="0"/>
                <a:ea typeface="Arial" pitchFamily="34" charset="-122"/>
                <a:cs typeface="Arial" pitchFamily="34" charset="-120"/>
              </a:rPr>
              <a:t>Lending</a:t>
            </a:r>
            <a:endParaRPr lang="en-US" sz="1250" dirty="0"/>
          </a:p>
        </p:txBody>
      </p:sp>
      <p:sp>
        <p:nvSpPr>
          <p:cNvPr id="14" name="Text 11"/>
          <p:cNvSpPr txBox="1"/>
          <p:nvPr/>
        </p:nvSpPr>
        <p:spPr>
          <a:xfrm>
            <a:off x="2468880" y="8705088"/>
            <a:ext cx="1920240" cy="45720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Historical approvals repeat</a:t>
            </a:r>
            <a:endParaRPr lang="en-US" sz="950" dirty="0"/>
          </a:p>
        </p:txBody>
      </p:sp>
      <p:sp>
        <p:nvSpPr>
          <p:cNvPr id="15" name="Shape 12"/>
          <p:cNvSpPr/>
          <p:nvPr/>
        </p:nvSpPr>
        <p:spPr>
          <a:xfrm>
            <a:off x="4572000" y="7772400"/>
            <a:ext cx="1737360" cy="822960"/>
          </a:xfrm>
          <a:prstGeom prst="roundRect">
            <a:avLst>
              <a:gd name="adj" fmla="val 7778"/>
            </a:avLst>
          </a:prstGeom>
          <a:solidFill>
            <a:srgbClr val="273571"/>
          </a:solidFill>
          <a:ln w="16510">
            <a:solidFill>
              <a:srgbClr val="CADCFC"/>
            </a:solidFill>
            <a:prstDash val="solid"/>
          </a:ln>
        </p:spPr>
      </p:sp>
      <p:sp>
        <p:nvSpPr>
          <p:cNvPr id="16" name="Text 13"/>
          <p:cNvSpPr txBox="1"/>
          <p:nvPr/>
        </p:nvSpPr>
        <p:spPr>
          <a:xfrm>
            <a:off x="4617720" y="7772400"/>
            <a:ext cx="1645920" cy="822960"/>
          </a:xfrm>
          <a:prstGeom prst="rect">
            <a:avLst/>
          </a:prstGeom>
          <a:noFill/>
          <a:ln/>
        </p:spPr>
        <p:txBody>
          <a:bodyPr wrap="square" lIns="0" tIns="0" rIns="0" bIns="0" rtlCol="0" anchor="ctr"/>
          <a:lstStyle/>
          <a:p>
            <a:pPr algn="ctr" indent="0" marL="0">
              <a:buNone/>
            </a:pPr>
            <a:r>
              <a:rPr lang="en-US" sz="1250" b="1" dirty="0">
                <a:solidFill>
                  <a:srgbClr val="FFC857"/>
                </a:solidFill>
                <a:latin typeface="Arial" pitchFamily="34" charset="0"/>
                <a:ea typeface="Arial" pitchFamily="34" charset="-122"/>
                <a:cs typeface="Arial" pitchFamily="34" charset="-120"/>
              </a:rPr>
              <a:t>Facial ID</a:t>
            </a:r>
            <a:endParaRPr lang="en-US" sz="1250" dirty="0"/>
          </a:p>
        </p:txBody>
      </p:sp>
      <p:sp>
        <p:nvSpPr>
          <p:cNvPr id="17" name="Text 14"/>
          <p:cNvSpPr txBox="1"/>
          <p:nvPr/>
        </p:nvSpPr>
        <p:spPr>
          <a:xfrm>
            <a:off x="4480560" y="8705088"/>
            <a:ext cx="1920240" cy="457200"/>
          </a:xfrm>
          <a:prstGeom prst="rect">
            <a:avLst/>
          </a:prstGeom>
          <a:noFill/>
          <a:ln/>
        </p:spPr>
        <p:txBody>
          <a:bodyPr wrap="square" lIns="0" tIns="0" rIns="0" bIns="0" rtlCol="0" anchor="ctr"/>
          <a:lstStyle/>
          <a:p>
            <a:pPr algn="ctr" indent="0" marL="0">
              <a:lnSpc>
                <a:spcPct val="110000"/>
              </a:lnSpc>
              <a:buNone/>
            </a:pPr>
            <a:r>
              <a:rPr lang="en-US" sz="950" i="1" dirty="0">
                <a:solidFill>
                  <a:srgbClr val="8C9BD6"/>
                </a:solidFill>
                <a:latin typeface="Arial" pitchFamily="34" charset="0"/>
                <a:ea typeface="Arial" pitchFamily="34" charset="-122"/>
                <a:cs typeface="Arial" pitchFamily="34" charset="-120"/>
              </a:rPr>
              <a:t>Higher error across groups</a:t>
            </a:r>
            <a:endParaRPr lang="en-US" sz="950" dirty="0"/>
          </a:p>
        </p:txBody>
      </p:sp>
      <p:sp>
        <p:nvSpPr>
          <p:cNvPr id="18" name="Text 15"/>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57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273571"/>
          </a:solidFill>
          <a:ln w="19050">
            <a:solidFill>
              <a:srgbClr val="CADCFC"/>
            </a:solidFill>
            <a:prstDash val="solid"/>
          </a:ln>
        </p:spPr>
      </p:sp>
      <p:sp>
        <p:nvSpPr>
          <p:cNvPr id="3" name="Text 1"/>
          <p:cNvSpPr txBox="1"/>
          <p:nvPr/>
        </p:nvSpPr>
        <p:spPr>
          <a:xfrm>
            <a:off x="548640" y="640080"/>
            <a:ext cx="914400" cy="914400"/>
          </a:xfrm>
          <a:prstGeom prst="rect">
            <a:avLst/>
          </a:prstGeom>
          <a:noFill/>
          <a:ln/>
        </p:spPr>
        <p:txBody>
          <a:bodyPr wrap="square" lIns="0" tIns="0" rIns="0" bIns="0" rtlCol="0" anchor="ctr"/>
          <a:lstStyle/>
          <a:p>
            <a:pPr algn="ctr" indent="0" marL="0">
              <a:buNone/>
            </a:pPr>
            <a:r>
              <a:rPr lang="en-US" sz="2400" b="1" dirty="0">
                <a:solidFill>
                  <a:srgbClr val="FFC857"/>
                </a:solidFill>
                <a:latin typeface="Arial" pitchFamily="34" charset="0"/>
                <a:ea typeface="Arial" pitchFamily="34" charset="-122"/>
                <a:cs typeface="Arial" pitchFamily="34" charset="-120"/>
              </a:rPr>
              <a:t>58</a:t>
            </a:r>
            <a:endParaRPr lang="en-US" sz="2400" dirty="0"/>
          </a:p>
        </p:txBody>
      </p:sp>
      <p:sp>
        <p:nvSpPr>
          <p:cNvPr id="4" name="Text 2"/>
          <p:cNvSpPr txBox="1"/>
          <p:nvPr/>
        </p:nvSpPr>
        <p:spPr>
          <a:xfrm>
            <a:off x="1645920" y="841248"/>
            <a:ext cx="4663440" cy="457200"/>
          </a:xfrm>
          <a:prstGeom prst="rect">
            <a:avLst/>
          </a:prstGeom>
          <a:noFill/>
          <a:ln/>
        </p:spPr>
        <p:txBody>
          <a:bodyPr wrap="square" lIns="0" tIns="0" rIns="0" bIns="0" rtlCol="0" anchor="ctr"/>
          <a:lstStyle/>
          <a:p>
            <a:pPr indent="0" marL="0">
              <a:buNone/>
            </a:pPr>
            <a:r>
              <a:rPr lang="en-US" sz="1300" b="1" spc="300" kern="0" dirty="0">
                <a:solidFill>
                  <a:srgbClr val="8C9BD6"/>
                </a:solidFill>
                <a:latin typeface="Arial" pitchFamily="34" charset="0"/>
                <a:ea typeface="Arial" pitchFamily="34" charset="-122"/>
                <a:cs typeface="Arial" pitchFamily="34" charset="-120"/>
              </a:rPr>
              <a:t>AI CONCEPT</a:t>
            </a:r>
            <a:endParaRPr lang="en-US" sz="1300" dirty="0"/>
          </a:p>
        </p:txBody>
      </p:sp>
      <p:pic>
        <p:nvPicPr>
          <p:cNvPr id="5" name="Image 0" descr="preencoded.png">    </p:cNvPr>
          <p:cNvPicPr>
            <a:picLocks noChangeAspect="1"/>
          </p:cNvPicPr>
          <p:nvPr/>
        </p:nvPicPr>
        <p:blipFill>
          <a:blip r:embed="rId1"/>
          <a:stretch>
            <a:fillRect/>
          </a:stretch>
        </p:blipFill>
        <p:spPr>
          <a:xfrm>
            <a:off x="5806440" y="864108"/>
            <a:ext cx="502920" cy="502920"/>
          </a:xfrm>
          <a:prstGeom prst="rect">
            <a:avLst/>
          </a:prstGeom>
        </p:spPr>
      </p:pic>
      <p:sp>
        <p:nvSpPr>
          <p:cNvPr id="6" name="Text 3"/>
          <p:cNvSpPr txBox="1"/>
          <p:nvPr/>
        </p:nvSpPr>
        <p:spPr>
          <a:xfrm>
            <a:off x="548640" y="1920240"/>
            <a:ext cx="576072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Arial" pitchFamily="34" charset="0"/>
                <a:ea typeface="Arial" pitchFamily="34" charset="-122"/>
                <a:cs typeface="Arial" pitchFamily="34" charset="-120"/>
              </a:rPr>
              <a:t>End-to-End: How It All Connects</a:t>
            </a:r>
            <a:endParaRPr lang="en-US" sz="3400" dirty="0"/>
          </a:p>
        </p:txBody>
      </p:sp>
      <p:sp>
        <p:nvSpPr>
          <p:cNvPr id="7" name="Text 4"/>
          <p:cNvSpPr txBox="1"/>
          <p:nvPr/>
        </p:nvSpPr>
        <p:spPr>
          <a:xfrm>
            <a:off x="548640" y="3977640"/>
            <a:ext cx="5760720" cy="1005840"/>
          </a:xfrm>
          <a:prstGeom prst="rect">
            <a:avLst/>
          </a:prstGeom>
          <a:noFill/>
          <a:ln/>
        </p:spPr>
        <p:txBody>
          <a:bodyPr wrap="square" lIns="0" tIns="0" rIns="0" bIns="0" rtlCol="0" anchor="t"/>
          <a:lstStyle/>
          <a:p>
            <a:pPr algn="l" indent="0" marL="0">
              <a:lnSpc>
                <a:spcPct val="120000"/>
              </a:lnSpc>
              <a:buNone/>
            </a:pPr>
            <a:r>
              <a:rPr lang="en-US" sz="1900" i="1" dirty="0">
                <a:solidFill>
                  <a:srgbClr val="FFC857"/>
                </a:solidFill>
                <a:latin typeface="Cambria" pitchFamily="34" charset="0"/>
                <a:ea typeface="Cambria" pitchFamily="34" charset="-122"/>
                <a:cs typeface="Cambria" pitchFamily="34" charset="-120"/>
              </a:rPr>
              <a:t>One system, many concepts, working together.</a:t>
            </a:r>
            <a:endParaRPr lang="en-US" sz="1900" dirty="0"/>
          </a:p>
        </p:txBody>
      </p:sp>
      <p:sp>
        <p:nvSpPr>
          <p:cNvPr id="8" name="Text 5"/>
          <p:cNvSpPr txBox="1"/>
          <p:nvPr/>
        </p:nvSpPr>
        <p:spPr>
          <a:xfrm>
            <a:off x="548640" y="5257800"/>
            <a:ext cx="5760720" cy="2194560"/>
          </a:xfrm>
          <a:prstGeom prst="rect">
            <a:avLst/>
          </a:prstGeom>
          <a:noFill/>
          <a:ln/>
        </p:spPr>
        <p:txBody>
          <a:bodyPr wrap="square" lIns="0" tIns="0" rIns="0" bIns="0" rtlCol="0" anchor="t"/>
          <a:lstStyle/>
          <a:p>
            <a:pPr algn="l" indent="0" marL="0">
              <a:lnSpc>
                <a:spcPct val="135000"/>
              </a:lnSpc>
              <a:buNone/>
            </a:pPr>
            <a:r>
              <a:rPr lang="en-US" sz="1900" dirty="0">
                <a:solidFill>
                  <a:srgbClr val="CADCFC"/>
                </a:solidFill>
                <a:latin typeface="Arial" pitchFamily="34" charset="0"/>
                <a:ea typeface="Arial" pitchFamily="34" charset="-122"/>
                <a:cs typeface="Arial" pitchFamily="34" charset="-120"/>
              </a:rPr>
              <a:t>Documents get chunked, embedded, and stored in a vector database. A query retrieves the right pieces, the LLM reasons over them, and an agent acts on the result — the architecture behind PayerIQ and the SDLC platform.</a:t>
            </a:r>
            <a:endParaRPr lang="en-US" sz="1900" dirty="0"/>
          </a:p>
        </p:txBody>
      </p:sp>
      <p:sp>
        <p:nvSpPr>
          <p:cNvPr id="9" name="Shape 6"/>
          <p:cNvSpPr/>
          <p:nvPr/>
        </p:nvSpPr>
        <p:spPr>
          <a:xfrm>
            <a:off x="1355141" y="7223760"/>
            <a:ext cx="4147718" cy="301752"/>
          </a:xfrm>
          <a:prstGeom prst="roundRect">
            <a:avLst>
              <a:gd name="adj" fmla="val 18182"/>
            </a:avLst>
          </a:prstGeom>
          <a:solidFill>
            <a:srgbClr val="273571"/>
          </a:solidFill>
          <a:ln w="15240">
            <a:solidFill>
              <a:srgbClr val="CADCFC"/>
            </a:solidFill>
            <a:prstDash val="solid"/>
          </a:ln>
        </p:spPr>
      </p:sp>
      <p:sp>
        <p:nvSpPr>
          <p:cNvPr id="10" name="Text 7"/>
          <p:cNvSpPr txBox="1"/>
          <p:nvPr/>
        </p:nvSpPr>
        <p:spPr>
          <a:xfrm>
            <a:off x="1355141" y="7223760"/>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Documents</a:t>
            </a:r>
            <a:endParaRPr lang="en-US" sz="1150" dirty="0"/>
          </a:p>
        </p:txBody>
      </p:sp>
      <p:sp>
        <p:nvSpPr>
          <p:cNvPr id="11" name="Shape 8"/>
          <p:cNvSpPr/>
          <p:nvPr/>
        </p:nvSpPr>
        <p:spPr>
          <a:xfrm>
            <a:off x="3429000" y="7525512"/>
            <a:ext cx="0" cy="73152"/>
          </a:xfrm>
          <a:prstGeom prst="line">
            <a:avLst/>
          </a:prstGeom>
          <a:noFill/>
          <a:ln w="15240">
            <a:solidFill>
              <a:srgbClr val="CADCFC"/>
            </a:solidFill>
            <a:prstDash val="solid"/>
            <a:tailEnd type="triangle"/>
          </a:ln>
        </p:spPr>
      </p:sp>
      <p:sp>
        <p:nvSpPr>
          <p:cNvPr id="12" name="Shape 9"/>
          <p:cNvSpPr/>
          <p:nvPr/>
        </p:nvSpPr>
        <p:spPr>
          <a:xfrm>
            <a:off x="1355141" y="7598664"/>
            <a:ext cx="4147718" cy="301752"/>
          </a:xfrm>
          <a:prstGeom prst="roundRect">
            <a:avLst>
              <a:gd name="adj" fmla="val 18182"/>
            </a:avLst>
          </a:prstGeom>
          <a:solidFill>
            <a:srgbClr val="273571"/>
          </a:solidFill>
          <a:ln w="15240">
            <a:solidFill>
              <a:srgbClr val="CADCFC"/>
            </a:solidFill>
            <a:prstDash val="solid"/>
          </a:ln>
        </p:spPr>
      </p:sp>
      <p:sp>
        <p:nvSpPr>
          <p:cNvPr id="13" name="Text 10"/>
          <p:cNvSpPr txBox="1"/>
          <p:nvPr/>
        </p:nvSpPr>
        <p:spPr>
          <a:xfrm>
            <a:off x="1355141" y="7598664"/>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Chunk</a:t>
            </a:r>
            <a:endParaRPr lang="en-US" sz="1150" dirty="0"/>
          </a:p>
        </p:txBody>
      </p:sp>
      <p:sp>
        <p:nvSpPr>
          <p:cNvPr id="14" name="Shape 11"/>
          <p:cNvSpPr/>
          <p:nvPr/>
        </p:nvSpPr>
        <p:spPr>
          <a:xfrm>
            <a:off x="3429000" y="7900416"/>
            <a:ext cx="0" cy="73152"/>
          </a:xfrm>
          <a:prstGeom prst="line">
            <a:avLst/>
          </a:prstGeom>
          <a:noFill/>
          <a:ln w="15240">
            <a:solidFill>
              <a:srgbClr val="CADCFC"/>
            </a:solidFill>
            <a:prstDash val="solid"/>
            <a:tailEnd type="triangle"/>
          </a:ln>
        </p:spPr>
      </p:sp>
      <p:sp>
        <p:nvSpPr>
          <p:cNvPr id="15" name="Shape 12"/>
          <p:cNvSpPr/>
          <p:nvPr/>
        </p:nvSpPr>
        <p:spPr>
          <a:xfrm>
            <a:off x="1355141" y="7973568"/>
            <a:ext cx="4147718" cy="301752"/>
          </a:xfrm>
          <a:prstGeom prst="roundRect">
            <a:avLst>
              <a:gd name="adj" fmla="val 18182"/>
            </a:avLst>
          </a:prstGeom>
          <a:solidFill>
            <a:srgbClr val="273571"/>
          </a:solidFill>
          <a:ln w="15240">
            <a:solidFill>
              <a:srgbClr val="CADCFC"/>
            </a:solidFill>
            <a:prstDash val="solid"/>
          </a:ln>
        </p:spPr>
      </p:sp>
      <p:sp>
        <p:nvSpPr>
          <p:cNvPr id="16" name="Text 13"/>
          <p:cNvSpPr txBox="1"/>
          <p:nvPr/>
        </p:nvSpPr>
        <p:spPr>
          <a:xfrm>
            <a:off x="1355141" y="7973568"/>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Embed</a:t>
            </a:r>
            <a:endParaRPr lang="en-US" sz="1150" dirty="0"/>
          </a:p>
        </p:txBody>
      </p:sp>
      <p:sp>
        <p:nvSpPr>
          <p:cNvPr id="17" name="Shape 14"/>
          <p:cNvSpPr/>
          <p:nvPr/>
        </p:nvSpPr>
        <p:spPr>
          <a:xfrm>
            <a:off x="3429000" y="8275320"/>
            <a:ext cx="0" cy="73152"/>
          </a:xfrm>
          <a:prstGeom prst="line">
            <a:avLst/>
          </a:prstGeom>
          <a:noFill/>
          <a:ln w="15240">
            <a:solidFill>
              <a:srgbClr val="CADCFC"/>
            </a:solidFill>
            <a:prstDash val="solid"/>
            <a:tailEnd type="triangle"/>
          </a:ln>
        </p:spPr>
      </p:sp>
      <p:sp>
        <p:nvSpPr>
          <p:cNvPr id="18" name="Shape 15"/>
          <p:cNvSpPr/>
          <p:nvPr/>
        </p:nvSpPr>
        <p:spPr>
          <a:xfrm>
            <a:off x="1355141" y="8348472"/>
            <a:ext cx="4147718" cy="301752"/>
          </a:xfrm>
          <a:prstGeom prst="roundRect">
            <a:avLst>
              <a:gd name="adj" fmla="val 18182"/>
            </a:avLst>
          </a:prstGeom>
          <a:solidFill>
            <a:srgbClr val="273571"/>
          </a:solidFill>
          <a:ln w="15240">
            <a:solidFill>
              <a:srgbClr val="CADCFC"/>
            </a:solidFill>
            <a:prstDash val="solid"/>
          </a:ln>
        </p:spPr>
      </p:sp>
      <p:sp>
        <p:nvSpPr>
          <p:cNvPr id="19" name="Text 16"/>
          <p:cNvSpPr txBox="1"/>
          <p:nvPr/>
        </p:nvSpPr>
        <p:spPr>
          <a:xfrm>
            <a:off x="1355141" y="8348472"/>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Vector Store</a:t>
            </a:r>
            <a:endParaRPr lang="en-US" sz="1150" dirty="0"/>
          </a:p>
        </p:txBody>
      </p:sp>
      <p:sp>
        <p:nvSpPr>
          <p:cNvPr id="20" name="Shape 17"/>
          <p:cNvSpPr/>
          <p:nvPr/>
        </p:nvSpPr>
        <p:spPr>
          <a:xfrm>
            <a:off x="3429000" y="8650224"/>
            <a:ext cx="0" cy="73152"/>
          </a:xfrm>
          <a:prstGeom prst="line">
            <a:avLst/>
          </a:prstGeom>
          <a:noFill/>
          <a:ln w="15240">
            <a:solidFill>
              <a:srgbClr val="CADCFC"/>
            </a:solidFill>
            <a:prstDash val="solid"/>
            <a:tailEnd type="triangle"/>
          </a:ln>
        </p:spPr>
      </p:sp>
      <p:sp>
        <p:nvSpPr>
          <p:cNvPr id="21" name="Shape 18"/>
          <p:cNvSpPr/>
          <p:nvPr/>
        </p:nvSpPr>
        <p:spPr>
          <a:xfrm>
            <a:off x="1355141" y="8723376"/>
            <a:ext cx="4147718" cy="301752"/>
          </a:xfrm>
          <a:prstGeom prst="roundRect">
            <a:avLst>
              <a:gd name="adj" fmla="val 18182"/>
            </a:avLst>
          </a:prstGeom>
          <a:solidFill>
            <a:srgbClr val="273571"/>
          </a:solidFill>
          <a:ln w="15240">
            <a:solidFill>
              <a:srgbClr val="CADCFC"/>
            </a:solidFill>
            <a:prstDash val="solid"/>
          </a:ln>
        </p:spPr>
      </p:sp>
      <p:sp>
        <p:nvSpPr>
          <p:cNvPr id="22" name="Text 19"/>
          <p:cNvSpPr txBox="1"/>
          <p:nvPr/>
        </p:nvSpPr>
        <p:spPr>
          <a:xfrm>
            <a:off x="1355141" y="8723376"/>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Retrieve (RAG)</a:t>
            </a:r>
            <a:endParaRPr lang="en-US" sz="1150" dirty="0"/>
          </a:p>
        </p:txBody>
      </p:sp>
      <p:sp>
        <p:nvSpPr>
          <p:cNvPr id="23" name="Shape 20"/>
          <p:cNvSpPr/>
          <p:nvPr/>
        </p:nvSpPr>
        <p:spPr>
          <a:xfrm>
            <a:off x="3429000" y="9025128"/>
            <a:ext cx="0" cy="73152"/>
          </a:xfrm>
          <a:prstGeom prst="line">
            <a:avLst/>
          </a:prstGeom>
          <a:noFill/>
          <a:ln w="15240">
            <a:solidFill>
              <a:srgbClr val="CADCFC"/>
            </a:solidFill>
            <a:prstDash val="solid"/>
            <a:tailEnd type="triangle"/>
          </a:ln>
        </p:spPr>
      </p:sp>
      <p:sp>
        <p:nvSpPr>
          <p:cNvPr id="24" name="Shape 21"/>
          <p:cNvSpPr/>
          <p:nvPr/>
        </p:nvSpPr>
        <p:spPr>
          <a:xfrm>
            <a:off x="1355141" y="9098280"/>
            <a:ext cx="4147718" cy="301752"/>
          </a:xfrm>
          <a:prstGeom prst="roundRect">
            <a:avLst>
              <a:gd name="adj" fmla="val 18182"/>
            </a:avLst>
          </a:prstGeom>
          <a:solidFill>
            <a:srgbClr val="273571"/>
          </a:solidFill>
          <a:ln w="15240">
            <a:solidFill>
              <a:srgbClr val="CADCFC"/>
            </a:solidFill>
            <a:prstDash val="solid"/>
          </a:ln>
        </p:spPr>
      </p:sp>
      <p:sp>
        <p:nvSpPr>
          <p:cNvPr id="25" name="Text 22"/>
          <p:cNvSpPr txBox="1"/>
          <p:nvPr/>
        </p:nvSpPr>
        <p:spPr>
          <a:xfrm>
            <a:off x="1355141" y="9098280"/>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LLM Reasons</a:t>
            </a:r>
            <a:endParaRPr lang="en-US" sz="1150" dirty="0"/>
          </a:p>
        </p:txBody>
      </p:sp>
      <p:sp>
        <p:nvSpPr>
          <p:cNvPr id="26" name="Shape 23"/>
          <p:cNvSpPr/>
          <p:nvPr/>
        </p:nvSpPr>
        <p:spPr>
          <a:xfrm>
            <a:off x="3429000" y="9400032"/>
            <a:ext cx="0" cy="73152"/>
          </a:xfrm>
          <a:prstGeom prst="line">
            <a:avLst/>
          </a:prstGeom>
          <a:noFill/>
          <a:ln w="15240">
            <a:solidFill>
              <a:srgbClr val="CADCFC"/>
            </a:solidFill>
            <a:prstDash val="solid"/>
            <a:tailEnd type="triangle"/>
          </a:ln>
        </p:spPr>
      </p:sp>
      <p:sp>
        <p:nvSpPr>
          <p:cNvPr id="27" name="Shape 24"/>
          <p:cNvSpPr/>
          <p:nvPr/>
        </p:nvSpPr>
        <p:spPr>
          <a:xfrm>
            <a:off x="1355141" y="9473184"/>
            <a:ext cx="4147718" cy="301752"/>
          </a:xfrm>
          <a:prstGeom prst="roundRect">
            <a:avLst>
              <a:gd name="adj" fmla="val 18182"/>
            </a:avLst>
          </a:prstGeom>
          <a:solidFill>
            <a:srgbClr val="273571"/>
          </a:solidFill>
          <a:ln w="15240">
            <a:solidFill>
              <a:srgbClr val="CADCFC"/>
            </a:solidFill>
            <a:prstDash val="solid"/>
          </a:ln>
        </p:spPr>
      </p:sp>
      <p:sp>
        <p:nvSpPr>
          <p:cNvPr id="28" name="Text 25"/>
          <p:cNvSpPr txBox="1"/>
          <p:nvPr/>
        </p:nvSpPr>
        <p:spPr>
          <a:xfrm>
            <a:off x="1355141" y="9473184"/>
            <a:ext cx="4147718" cy="301752"/>
          </a:xfrm>
          <a:prstGeom prst="rect">
            <a:avLst/>
          </a:prstGeom>
          <a:noFill/>
          <a:ln/>
        </p:spPr>
        <p:txBody>
          <a:bodyPr wrap="square" lIns="0" tIns="0" rIns="0" bIns="0" rtlCol="0" anchor="ctr"/>
          <a:lstStyle/>
          <a:p>
            <a:pPr algn="ctr" indent="0" marL="0">
              <a:buNone/>
            </a:pPr>
            <a:r>
              <a:rPr lang="en-US" sz="1150" b="1" dirty="0">
                <a:solidFill>
                  <a:srgbClr val="FFC857"/>
                </a:solidFill>
                <a:latin typeface="Arial" pitchFamily="34" charset="0"/>
                <a:ea typeface="Arial" pitchFamily="34" charset="-122"/>
                <a:cs typeface="Arial" pitchFamily="34" charset="-120"/>
              </a:rPr>
              <a:t>Agent Acts</a:t>
            </a:r>
            <a:endParaRPr lang="en-US" sz="1150" dirty="0"/>
          </a:p>
        </p:txBody>
      </p:sp>
      <p:sp>
        <p:nvSpPr>
          <p:cNvPr id="29" name="Shape 26"/>
          <p:cNvSpPr/>
          <p:nvPr/>
        </p:nvSpPr>
        <p:spPr>
          <a:xfrm>
            <a:off x="3429000" y="9774936"/>
            <a:ext cx="0" cy="73152"/>
          </a:xfrm>
          <a:prstGeom prst="line">
            <a:avLst/>
          </a:prstGeom>
          <a:noFill/>
          <a:ln w="15240">
            <a:solidFill>
              <a:srgbClr val="CADCFC"/>
            </a:solidFill>
            <a:prstDash val="solid"/>
            <a:tailEnd type="triangle"/>
          </a:ln>
        </p:spPr>
      </p:sp>
      <p:sp>
        <p:nvSpPr>
          <p:cNvPr id="30" name="Shape 27"/>
          <p:cNvSpPr/>
          <p:nvPr/>
        </p:nvSpPr>
        <p:spPr>
          <a:xfrm>
            <a:off x="1355141" y="9848088"/>
            <a:ext cx="4147718" cy="301752"/>
          </a:xfrm>
          <a:prstGeom prst="roundRect">
            <a:avLst>
              <a:gd name="adj" fmla="val 18182"/>
            </a:avLst>
          </a:prstGeom>
          <a:solidFill>
            <a:srgbClr val="FFC857"/>
          </a:solidFill>
          <a:ln w="15240">
            <a:solidFill>
              <a:srgbClr val="CADCFC"/>
            </a:solidFill>
            <a:prstDash val="solid"/>
          </a:ln>
        </p:spPr>
      </p:sp>
      <p:sp>
        <p:nvSpPr>
          <p:cNvPr id="31" name="Text 28"/>
          <p:cNvSpPr txBox="1"/>
          <p:nvPr/>
        </p:nvSpPr>
        <p:spPr>
          <a:xfrm>
            <a:off x="1355141" y="9848088"/>
            <a:ext cx="4147718" cy="301752"/>
          </a:xfrm>
          <a:prstGeom prst="rect">
            <a:avLst/>
          </a:prstGeom>
          <a:noFill/>
          <a:ln/>
        </p:spPr>
        <p:txBody>
          <a:bodyPr wrap="square" lIns="0" tIns="0" rIns="0" bIns="0" rtlCol="0" anchor="ctr"/>
          <a:lstStyle/>
          <a:p>
            <a:pPr algn="ctr" indent="0" marL="0">
              <a:buNone/>
            </a:pPr>
            <a:r>
              <a:rPr lang="en-US" sz="1150" b="1" dirty="0">
                <a:solidFill>
                  <a:srgbClr val="1E2761"/>
                </a:solidFill>
                <a:latin typeface="Arial" pitchFamily="34" charset="0"/>
                <a:ea typeface="Arial" pitchFamily="34" charset="-122"/>
                <a:cs typeface="Arial" pitchFamily="34" charset="-120"/>
              </a:rPr>
              <a:t>Final Answer</a:t>
            </a:r>
            <a:endParaRPr lang="en-US" sz="1150" dirty="0"/>
          </a:p>
        </p:txBody>
      </p:sp>
      <p:sp>
        <p:nvSpPr>
          <p:cNvPr id="32" name="Shape 29"/>
          <p:cNvSpPr/>
          <p:nvPr/>
        </p:nvSpPr>
        <p:spPr>
          <a:xfrm>
            <a:off x="548640" y="10195560"/>
            <a:ext cx="5760720" cy="594360"/>
          </a:xfrm>
          <a:prstGeom prst="rect">
            <a:avLst/>
          </a:prstGeom>
          <a:solidFill>
            <a:srgbClr val="273571"/>
          </a:solidFill>
          <a:ln/>
        </p:spPr>
      </p:sp>
      <p:sp>
        <p:nvSpPr>
          <p:cNvPr id="33" name="Text 30"/>
          <p:cNvSpPr txBox="1"/>
          <p:nvPr/>
        </p:nvSpPr>
        <p:spPr>
          <a:xfrm>
            <a:off x="777240" y="10195560"/>
            <a:ext cx="5303520" cy="594360"/>
          </a:xfrm>
          <a:prstGeom prst="rect">
            <a:avLst/>
          </a:prstGeom>
          <a:noFill/>
          <a:ln/>
        </p:spPr>
        <p:txBody>
          <a:bodyPr wrap="square" lIns="0" tIns="0" rIns="0" bIns="0" rtlCol="0" anchor="ctr"/>
          <a:lstStyle/>
          <a:p>
            <a:pPr algn="l" indent="0" marL="0">
              <a:buNone/>
            </a:pPr>
            <a:r>
              <a:rPr lang="en-US" sz="1200" i="1" dirty="0">
                <a:solidFill>
                  <a:srgbClr val="FFC857"/>
                </a:solidFill>
                <a:latin typeface="Arial" pitchFamily="34" charset="0"/>
                <a:ea typeface="Arial" pitchFamily="34" charset="-122"/>
                <a:cs typeface="Arial" pitchFamily="34" charset="-120"/>
              </a:rPr>
              <a:t>✓  Built hands-on in Rajneesh's PayerIQ / SDLC automation projects</a:t>
            </a:r>
            <a:endParaRPr lang="en-US" sz="1200" dirty="0"/>
          </a:p>
        </p:txBody>
      </p:sp>
      <p:sp>
        <p:nvSpPr>
          <p:cNvPr id="34" name="Text 31"/>
          <p:cNvSpPr txBox="1"/>
          <p:nvPr/>
        </p:nvSpPr>
        <p:spPr>
          <a:xfrm>
            <a:off x="548640" y="11475720"/>
            <a:ext cx="5760720" cy="365760"/>
          </a:xfrm>
          <a:prstGeom prst="rect">
            <a:avLst/>
          </a:prstGeom>
          <a:noFill/>
          <a:ln/>
        </p:spPr>
        <p:txBody>
          <a:bodyPr wrap="square" lIns="0" tIns="0" rIns="0" bIns="0" rtlCol="0" anchor="ctr"/>
          <a:lstStyle/>
          <a:p>
            <a:pPr algn="ctr" indent="0" marL="0">
              <a:buNone/>
            </a:pPr>
            <a:r>
              <a:rPr lang="en-US" sz="1100" dirty="0">
                <a:solidFill>
                  <a:srgbClr val="8C9BD6"/>
                </a:solidFill>
                <a:latin typeface="Arial" pitchFamily="34" charset="0"/>
                <a:ea typeface="Arial" pitchFamily="34" charset="-122"/>
                <a:cs typeface="Arial" pitchFamily="34" charset="-120"/>
              </a:rPr>
              <a:t>58 / 58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2026-09-26T16:02:52Z</dcterms:created>
  <dcterms:modified xsi:type="dcterms:W3CDTF">2026-09-26T16:02:52Z</dcterms:modified>
</cp:coreProperties>
</file>